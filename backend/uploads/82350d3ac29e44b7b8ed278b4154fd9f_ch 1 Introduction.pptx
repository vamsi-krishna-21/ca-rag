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3" r:id="rId8"/>
    <p:sldId id="264" r:id="rId9"/>
    <p:sldId id="269" r:id="rId10"/>
    <p:sldId id="270" r:id="rId11"/>
    <p:sldId id="271" r:id="rId12"/>
    <p:sldId id="273" r:id="rId13"/>
    <p:sldId id="274" r:id="rId14"/>
    <p:sldId id="275" r:id="rId15"/>
    <p:sldId id="276" r:id="rId16"/>
    <p:sldId id="277" r:id="rId17"/>
    <p:sldId id="278" r:id="rId18"/>
    <p:sldId id="279"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74" autoAdjust="0"/>
    <p:restoredTop sz="94364" autoAdjust="0"/>
  </p:normalViewPr>
  <p:slideViewPr>
    <p:cSldViewPr snapToGrid="0">
      <p:cViewPr varScale="1">
        <p:scale>
          <a:sx n="69" d="100"/>
          <a:sy n="69" d="100"/>
        </p:scale>
        <p:origin x="97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33B6A4-8EDE-4CC9-BBBD-E36E4A3A76F0}" type="datetimeFigureOut">
              <a:rPr lang="en-US" smtClean="0"/>
              <a:pPr/>
              <a:t>4/19/2023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782833-9F8A-4EAA-9509-7AB5A776241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4/19/2023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4/19/2023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4/19/2023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4/19/2023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4/19/2023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4/19/2023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5" name="Text Box 4"/>
          <p:cNvSpPr txBox="1"/>
          <p:nvPr/>
        </p:nvSpPr>
        <p:spPr>
          <a:xfrm>
            <a:off x="3790950" y="2974975"/>
            <a:ext cx="5202555" cy="645160"/>
          </a:xfrm>
          <a:prstGeom prst="rect">
            <a:avLst/>
          </a:prstGeom>
          <a:noFill/>
        </p:spPr>
        <p:txBody>
          <a:bodyPr wrap="square" rtlCol="0">
            <a:spAutoFit/>
          </a:bodyPr>
          <a:lstStyle/>
          <a:p>
            <a:pPr algn="l"/>
            <a:r>
              <a:rPr lang="en-US" sz="3600" dirty="0">
                <a:solidFill>
                  <a:srgbClr val="FF0000"/>
                </a:solidFill>
                <a:latin typeface="Microsoft Sans Serif" panose="020B0604020202020204" charset="0"/>
                <a:cs typeface="Microsoft Sans Serif" panose="020B0604020202020204" charset="0"/>
                <a:sym typeface="+mn-ea"/>
              </a:rPr>
              <a:t>    Artificial intelligence</a:t>
            </a:r>
            <a:endParaRPr 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0"/>
            <a:ext cx="12192000" cy="6857999"/>
          </a:xfrm>
          <a:prstGeom prst="rect">
            <a:avLst/>
          </a:prstGeom>
        </p:spPr>
      </p:pic>
      <p:sp>
        <p:nvSpPr>
          <p:cNvPr id="5" name="Text Box 4"/>
          <p:cNvSpPr txBox="1"/>
          <p:nvPr/>
        </p:nvSpPr>
        <p:spPr>
          <a:xfrm>
            <a:off x="4427220" y="2520950"/>
            <a:ext cx="4706620" cy="2585323"/>
          </a:xfrm>
          <a:prstGeom prst="rect">
            <a:avLst/>
          </a:prstGeom>
          <a:noFill/>
        </p:spPr>
        <p:txBody>
          <a:bodyPr wrap="square" rtlCol="0">
            <a:spAutoFit/>
          </a:bodyPr>
          <a:lstStyle/>
          <a:p>
            <a:pPr algn="ctr">
              <a:lnSpc>
                <a:spcPct val="150000"/>
              </a:lnSpc>
            </a:pPr>
            <a:r>
              <a:rPr lang="en-US" sz="4200" b="1" i="1" dirty="0" smtClean="0">
                <a:solidFill>
                  <a:srgbClr val="FF0000"/>
                </a:solidFill>
                <a:latin typeface="Times New Roman" pitchFamily="18" charset="0"/>
                <a:cs typeface="Times New Roman" pitchFamily="18" charset="0"/>
                <a:sym typeface="+mn-ea"/>
              </a:rPr>
              <a:t>Chapter  </a:t>
            </a:r>
            <a:r>
              <a:rPr lang="en-US" sz="4200" b="1" i="1" dirty="0">
                <a:solidFill>
                  <a:srgbClr val="FF0000"/>
                </a:solidFill>
                <a:latin typeface="Times New Roman" pitchFamily="18" charset="0"/>
                <a:cs typeface="Times New Roman" pitchFamily="18" charset="0"/>
                <a:sym typeface="+mn-ea"/>
              </a:rPr>
              <a:t>I</a:t>
            </a:r>
          </a:p>
          <a:p>
            <a:pPr algn="ctr">
              <a:lnSpc>
                <a:spcPct val="150000"/>
              </a:lnSpc>
            </a:pPr>
            <a:r>
              <a:rPr lang="en-US" sz="4200" b="1" i="1" dirty="0">
                <a:solidFill>
                  <a:srgbClr val="FF0000"/>
                </a:solidFill>
                <a:latin typeface="Times New Roman" pitchFamily="18" charset="0"/>
                <a:cs typeface="Times New Roman" pitchFamily="18" charset="0"/>
                <a:sym typeface="+mn-ea"/>
              </a:rPr>
              <a:t>Introduction</a:t>
            </a:r>
            <a:endParaRPr lang="en-US" sz="4200" b="1" i="1" dirty="0">
              <a:solidFill>
                <a:srgbClr val="FF0000"/>
              </a:solidFill>
              <a:latin typeface="Times New Roman" pitchFamily="18" charset="0"/>
              <a:cs typeface="Times New Roman" pitchFamily="18" charset="0"/>
            </a:endParaRPr>
          </a:p>
          <a:p>
            <a:pPr algn="ctr"/>
            <a:endParaRPr lang="en-US" sz="36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193" y="287383"/>
            <a:ext cx="11573693" cy="6463937"/>
          </a:xfrm>
        </p:spPr>
        <p:txBody>
          <a:bodyPr>
            <a:normAutofit fontScale="92500" lnSpcReduction="10000"/>
          </a:bodyPr>
          <a:lstStyle/>
          <a:p>
            <a:pPr marL="0" indent="0" algn="just">
              <a:lnSpc>
                <a:spcPct val="100000"/>
              </a:lnSpc>
              <a:buNone/>
            </a:pPr>
            <a:r>
              <a:rPr lang="en-US" sz="2400" b="1" dirty="0" smtClean="0">
                <a:solidFill>
                  <a:srgbClr val="FF0000"/>
                </a:solidFill>
                <a:latin typeface="Times New Roman" pitchFamily="18" charset="0"/>
                <a:cs typeface="Times New Roman" pitchFamily="18" charset="0"/>
                <a:sym typeface="+mn-ea"/>
              </a:rPr>
              <a:t>1.1 What </a:t>
            </a:r>
            <a:r>
              <a:rPr lang="en-US" sz="2400" b="1" dirty="0">
                <a:solidFill>
                  <a:srgbClr val="FF0000"/>
                </a:solidFill>
                <a:latin typeface="Times New Roman" pitchFamily="18" charset="0"/>
                <a:cs typeface="Times New Roman" pitchFamily="18" charset="0"/>
                <a:sym typeface="+mn-ea"/>
              </a:rPr>
              <a:t>is </a:t>
            </a:r>
            <a:r>
              <a:rPr lang="en-US" sz="2400" b="1" dirty="0" smtClean="0">
                <a:solidFill>
                  <a:srgbClr val="FF0000"/>
                </a:solidFill>
                <a:latin typeface="Times New Roman" pitchFamily="18" charset="0"/>
                <a:cs typeface="Times New Roman" pitchFamily="18" charset="0"/>
                <a:sym typeface="+mn-ea"/>
              </a:rPr>
              <a:t>Artificial </a:t>
            </a:r>
            <a:r>
              <a:rPr lang="en-US" sz="2400" b="1" dirty="0">
                <a:solidFill>
                  <a:srgbClr val="FF0000"/>
                </a:solidFill>
                <a:latin typeface="Times New Roman" pitchFamily="18" charset="0"/>
                <a:cs typeface="Times New Roman" pitchFamily="18" charset="0"/>
                <a:sym typeface="+mn-ea"/>
              </a:rPr>
              <a:t>I</a:t>
            </a:r>
            <a:r>
              <a:rPr lang="en-US" sz="2400" b="1" dirty="0" smtClean="0">
                <a:solidFill>
                  <a:srgbClr val="FF0000"/>
                </a:solidFill>
                <a:latin typeface="Times New Roman" pitchFamily="18" charset="0"/>
                <a:cs typeface="Times New Roman" pitchFamily="18" charset="0"/>
                <a:sym typeface="+mn-ea"/>
              </a:rPr>
              <a:t>ntelligence</a:t>
            </a:r>
            <a:r>
              <a:rPr lang="en-US" sz="2400" b="1" dirty="0">
                <a:solidFill>
                  <a:srgbClr val="FF0000"/>
                </a:solidFill>
                <a:latin typeface="Times New Roman" pitchFamily="18" charset="0"/>
                <a:cs typeface="Times New Roman" pitchFamily="18" charset="0"/>
                <a:sym typeface="+mn-ea"/>
              </a:rPr>
              <a:t>?</a:t>
            </a:r>
            <a:endParaRPr lang="en-US" sz="2400" b="1" dirty="0">
              <a:solidFill>
                <a:srgbClr val="FF0000"/>
              </a:solidFill>
              <a:latin typeface="Times New Roman" pitchFamily="18" charset="0"/>
              <a:cs typeface="Times New Roman" pitchFamily="18" charset="0"/>
            </a:endParaRPr>
          </a:p>
          <a:p>
            <a:pPr marL="0" indent="0" algn="just">
              <a:lnSpc>
                <a:spcPct val="100000"/>
              </a:lnSpc>
              <a:buNone/>
            </a:pPr>
            <a:r>
              <a:rPr lang="en-US" sz="2200" dirty="0" smtClean="0">
                <a:latin typeface="Times New Roman" pitchFamily="18" charset="0"/>
                <a:cs typeface="Times New Roman" pitchFamily="18" charset="0"/>
                <a:sym typeface="+mn-ea"/>
              </a:rPr>
              <a:t>	“Artificial </a:t>
            </a:r>
            <a:r>
              <a:rPr lang="en-US" sz="2200" dirty="0">
                <a:latin typeface="Times New Roman" pitchFamily="18" charset="0"/>
                <a:cs typeface="Times New Roman" pitchFamily="18" charset="0"/>
                <a:sym typeface="+mn-ea"/>
              </a:rPr>
              <a:t>intelligence is the simulation of human intelligence processes by machines, especially computer </a:t>
            </a:r>
            <a:r>
              <a:rPr lang="en-US" sz="2200" dirty="0" smtClean="0">
                <a:latin typeface="Times New Roman" pitchFamily="18" charset="0"/>
                <a:cs typeface="Times New Roman" pitchFamily="18" charset="0"/>
                <a:sym typeface="+mn-ea"/>
              </a:rPr>
              <a:t>systems”.</a:t>
            </a:r>
          </a:p>
          <a:p>
            <a:pPr marL="0" indent="0" algn="just">
              <a:lnSpc>
                <a:spcPct val="100000"/>
              </a:lnSpc>
              <a:buFont typeface="Wingdings" pitchFamily="2" charset="2"/>
              <a:buChar char="v"/>
            </a:pPr>
            <a:r>
              <a:rPr lang="en-US" sz="2200" dirty="0" smtClean="0">
                <a:latin typeface="Times New Roman" pitchFamily="18" charset="0"/>
                <a:cs typeface="Times New Roman" pitchFamily="18" charset="0"/>
                <a:sym typeface="+mn-ea"/>
              </a:rPr>
              <a:t>Specific </a:t>
            </a:r>
            <a:r>
              <a:rPr lang="en-US" sz="2200" dirty="0">
                <a:latin typeface="Times New Roman" pitchFamily="18" charset="0"/>
                <a:cs typeface="Times New Roman" pitchFamily="18" charset="0"/>
                <a:sym typeface="+mn-ea"/>
              </a:rPr>
              <a:t>applications of AI include expert systems, natural language processing, speech recognition and machine vision</a:t>
            </a:r>
            <a:r>
              <a:rPr lang="en-US" sz="2200" dirty="0" smtClean="0">
                <a:latin typeface="Times New Roman" pitchFamily="18" charset="0"/>
                <a:cs typeface="Times New Roman" pitchFamily="18" charset="0"/>
                <a:sym typeface="+mn-ea"/>
              </a:rPr>
              <a:t>.</a:t>
            </a:r>
          </a:p>
          <a:p>
            <a:pPr marL="0" indent="0" algn="just">
              <a:lnSpc>
                <a:spcPct val="100000"/>
              </a:lnSpc>
              <a:buNone/>
            </a:pPr>
            <a:endParaRPr lang="en-US" sz="2200" dirty="0">
              <a:latin typeface="Times New Roman" pitchFamily="18" charset="0"/>
              <a:cs typeface="Times New Roman" pitchFamily="18" charset="0"/>
            </a:endParaRPr>
          </a:p>
          <a:p>
            <a:pPr marL="0" indent="0" algn="just">
              <a:lnSpc>
                <a:spcPct val="100000"/>
              </a:lnSpc>
              <a:buFont typeface="Wingdings" pitchFamily="2" charset="2"/>
              <a:buChar char="q"/>
            </a:pPr>
            <a:r>
              <a:rPr lang="en-US" sz="2200" dirty="0">
                <a:solidFill>
                  <a:srgbClr val="00B050"/>
                </a:solidFill>
                <a:latin typeface="Times New Roman" pitchFamily="18" charset="0"/>
                <a:cs typeface="Times New Roman" pitchFamily="18" charset="0"/>
                <a:sym typeface="+mn-ea"/>
              </a:rPr>
              <a:t>Systems that think like humans </a:t>
            </a:r>
            <a:endParaRPr lang="en-US" sz="2200" dirty="0">
              <a:solidFill>
                <a:srgbClr val="00B050"/>
              </a:solidFill>
              <a:latin typeface="Times New Roman" pitchFamily="18" charset="0"/>
              <a:cs typeface="Times New Roman" pitchFamily="18" charset="0"/>
            </a:endParaRPr>
          </a:p>
          <a:p>
            <a:pPr marL="0" indent="0" algn="just">
              <a:lnSpc>
                <a:spcPct val="100000"/>
              </a:lnSpc>
              <a:buFont typeface="Wingdings" pitchFamily="2" charset="2"/>
              <a:buChar char="Ø"/>
            </a:pPr>
            <a:r>
              <a:rPr lang="en-US" sz="2200" dirty="0">
                <a:latin typeface="Times New Roman" pitchFamily="18" charset="0"/>
                <a:cs typeface="Times New Roman" pitchFamily="18" charset="0"/>
                <a:sym typeface="+mn-ea"/>
              </a:rPr>
              <a:t>"The exciting new </a:t>
            </a:r>
            <a:r>
              <a:rPr lang="en-US" sz="2200" dirty="0" smtClean="0">
                <a:latin typeface="Times New Roman" pitchFamily="18" charset="0"/>
                <a:cs typeface="Times New Roman" pitchFamily="18" charset="0"/>
                <a:sym typeface="+mn-ea"/>
              </a:rPr>
              <a:t>effort </a:t>
            </a:r>
            <a:r>
              <a:rPr lang="en-US" sz="2200" dirty="0">
                <a:latin typeface="Times New Roman" pitchFamily="18" charset="0"/>
                <a:cs typeface="Times New Roman" pitchFamily="18" charset="0"/>
                <a:sym typeface="+mn-ea"/>
              </a:rPr>
              <a:t>to make computers think . . . machines with minds, in the full and literal sense." (</a:t>
            </a:r>
            <a:r>
              <a:rPr lang="en-US" sz="2200" dirty="0" err="1">
                <a:latin typeface="Times New Roman" pitchFamily="18" charset="0"/>
                <a:cs typeface="Times New Roman" pitchFamily="18" charset="0"/>
                <a:sym typeface="+mn-ea"/>
              </a:rPr>
              <a:t>Haugeland</a:t>
            </a:r>
            <a:r>
              <a:rPr lang="en-US" sz="2200" dirty="0">
                <a:latin typeface="Times New Roman" pitchFamily="18" charset="0"/>
                <a:cs typeface="Times New Roman" pitchFamily="18" charset="0"/>
                <a:sym typeface="+mn-ea"/>
              </a:rPr>
              <a:t>, 1985) </a:t>
            </a:r>
            <a:r>
              <a:rPr lang="en-US" sz="2200" dirty="0" smtClean="0">
                <a:latin typeface="Times New Roman" pitchFamily="18" charset="0"/>
                <a:cs typeface="Times New Roman" pitchFamily="18" charset="0"/>
                <a:sym typeface="+mn-ea"/>
              </a:rPr>
              <a:t>.</a:t>
            </a:r>
            <a:endParaRPr lang="en-US" sz="2200" dirty="0">
              <a:latin typeface="Times New Roman" pitchFamily="18" charset="0"/>
              <a:cs typeface="Times New Roman" pitchFamily="18" charset="0"/>
            </a:endParaRPr>
          </a:p>
          <a:p>
            <a:pPr marL="0" indent="0" algn="just">
              <a:lnSpc>
                <a:spcPct val="100000"/>
              </a:lnSpc>
              <a:buFont typeface="Wingdings" pitchFamily="2" charset="2"/>
              <a:buChar char="Ø"/>
            </a:pPr>
            <a:r>
              <a:rPr lang="en-US" sz="2200" dirty="0" smtClean="0">
                <a:latin typeface="Times New Roman" pitchFamily="18" charset="0"/>
                <a:cs typeface="Times New Roman" pitchFamily="18" charset="0"/>
                <a:sym typeface="+mn-ea"/>
              </a:rPr>
              <a:t>"The </a:t>
            </a:r>
            <a:r>
              <a:rPr lang="en-US" sz="2200" dirty="0">
                <a:latin typeface="Times New Roman" pitchFamily="18" charset="0"/>
                <a:cs typeface="Times New Roman" pitchFamily="18" charset="0"/>
                <a:sym typeface="+mn-ea"/>
              </a:rPr>
              <a:t>automation </a:t>
            </a:r>
            <a:r>
              <a:rPr lang="en-US" sz="2200" dirty="0" smtClean="0">
                <a:latin typeface="Times New Roman" pitchFamily="18" charset="0"/>
                <a:cs typeface="Times New Roman" pitchFamily="18" charset="0"/>
                <a:sym typeface="+mn-ea"/>
              </a:rPr>
              <a:t>of </a:t>
            </a:r>
            <a:r>
              <a:rPr lang="en-US" sz="2200" dirty="0">
                <a:latin typeface="Times New Roman" pitchFamily="18" charset="0"/>
                <a:cs typeface="Times New Roman" pitchFamily="18" charset="0"/>
                <a:sym typeface="+mn-ea"/>
              </a:rPr>
              <a:t>activities that we associate with human thinking, activities such as decision-making, problem solving, learning . . ." (Bellman, 1978</a:t>
            </a:r>
            <a:r>
              <a:rPr lang="en-US" sz="2200" dirty="0" smtClean="0">
                <a:latin typeface="Times New Roman" pitchFamily="18" charset="0"/>
                <a:cs typeface="Times New Roman" pitchFamily="18" charset="0"/>
                <a:sym typeface="+mn-ea"/>
              </a:rPr>
              <a:t>).</a:t>
            </a:r>
          </a:p>
          <a:p>
            <a:pPr marL="0" indent="0" algn="just">
              <a:lnSpc>
                <a:spcPct val="100000"/>
              </a:lnSpc>
              <a:buNone/>
            </a:pPr>
            <a:endParaRPr lang="en-US" sz="2200" dirty="0">
              <a:latin typeface="Times New Roman" pitchFamily="18" charset="0"/>
              <a:cs typeface="Times New Roman" pitchFamily="18" charset="0"/>
            </a:endParaRPr>
          </a:p>
          <a:p>
            <a:pPr marL="0" indent="0" algn="just">
              <a:lnSpc>
                <a:spcPct val="100000"/>
              </a:lnSpc>
              <a:buFont typeface="Wingdings" pitchFamily="2" charset="2"/>
              <a:buChar char="q"/>
            </a:pPr>
            <a:r>
              <a:rPr lang="en-US" sz="2200" dirty="0">
                <a:solidFill>
                  <a:srgbClr val="00B050"/>
                </a:solidFill>
                <a:latin typeface="Times New Roman" pitchFamily="18" charset="0"/>
                <a:cs typeface="Times New Roman" pitchFamily="18" charset="0"/>
                <a:sym typeface="+mn-ea"/>
              </a:rPr>
              <a:t>Systems that act like humans </a:t>
            </a:r>
            <a:endParaRPr lang="en-US" sz="2200" dirty="0">
              <a:solidFill>
                <a:srgbClr val="00B050"/>
              </a:solidFill>
              <a:latin typeface="Times New Roman" pitchFamily="18" charset="0"/>
              <a:cs typeface="Times New Roman" pitchFamily="18" charset="0"/>
            </a:endParaRPr>
          </a:p>
          <a:p>
            <a:pPr marL="0" indent="0" algn="just">
              <a:lnSpc>
                <a:spcPct val="100000"/>
              </a:lnSpc>
              <a:buFont typeface="Wingdings" pitchFamily="2" charset="2"/>
              <a:buChar char="Ø"/>
            </a:pPr>
            <a:r>
              <a:rPr lang="en-US" sz="2200" dirty="0">
                <a:latin typeface="Times New Roman" pitchFamily="18" charset="0"/>
                <a:cs typeface="Times New Roman" pitchFamily="18" charset="0"/>
                <a:sym typeface="+mn-ea"/>
              </a:rPr>
              <a:t>"The art of creating machines that </a:t>
            </a:r>
            <a:r>
              <a:rPr lang="en-US" sz="2200" dirty="0" smtClean="0">
                <a:latin typeface="Times New Roman" pitchFamily="18" charset="0"/>
                <a:cs typeface="Times New Roman" pitchFamily="18" charset="0"/>
                <a:sym typeface="+mn-ea"/>
              </a:rPr>
              <a:t>perform </a:t>
            </a:r>
            <a:r>
              <a:rPr lang="en-US" sz="2200" dirty="0">
                <a:latin typeface="Times New Roman" pitchFamily="18" charset="0"/>
                <a:cs typeface="Times New Roman" pitchFamily="18" charset="0"/>
                <a:sym typeface="+mn-ea"/>
              </a:rPr>
              <a:t>functions that require intelligence when performed by people." (Kurzweil, 1990</a:t>
            </a:r>
            <a:r>
              <a:rPr lang="en-US" sz="2200" dirty="0" smtClean="0">
                <a:latin typeface="Times New Roman" pitchFamily="18" charset="0"/>
                <a:cs typeface="Times New Roman" pitchFamily="18" charset="0"/>
                <a:sym typeface="+mn-ea"/>
              </a:rPr>
              <a:t>). </a:t>
            </a:r>
            <a:endParaRPr lang="en-US" sz="2200" dirty="0">
              <a:latin typeface="Times New Roman" pitchFamily="18" charset="0"/>
              <a:cs typeface="Times New Roman" pitchFamily="18" charset="0"/>
            </a:endParaRPr>
          </a:p>
          <a:p>
            <a:pPr marL="0" indent="0" algn="just">
              <a:lnSpc>
                <a:spcPct val="100000"/>
              </a:lnSpc>
              <a:buFont typeface="Wingdings" pitchFamily="2" charset="2"/>
              <a:buChar char="Ø"/>
            </a:pPr>
            <a:r>
              <a:rPr lang="en-US" sz="2200" dirty="0">
                <a:latin typeface="Times New Roman" pitchFamily="18" charset="0"/>
                <a:cs typeface="Times New Roman" pitchFamily="18" charset="0"/>
                <a:sym typeface="+mn-ea"/>
              </a:rPr>
              <a:t>"The study of how to make computers do things at which, at the moment, people are better." (Rich and Knight, 1991</a:t>
            </a:r>
            <a:r>
              <a:rPr lang="en-US" sz="2200" dirty="0" smtClean="0">
                <a:latin typeface="Times New Roman" pitchFamily="18" charset="0"/>
                <a:cs typeface="Times New Roman" pitchFamily="18" charset="0"/>
                <a:sym typeface="+mn-ea"/>
              </a:rPr>
              <a:t>).</a:t>
            </a:r>
            <a:endParaRPr lang="en-US" sz="2200" dirty="0">
              <a:latin typeface="Times New Roman" pitchFamily="18" charset="0"/>
              <a:cs typeface="Times New Roman" pitchFamily="18" charset="0"/>
            </a:endParaRPr>
          </a:p>
          <a:p>
            <a:pPr marL="0" indent="0" algn="just">
              <a:lnSpc>
                <a:spcPct val="100000"/>
              </a:lnSpc>
              <a:buNone/>
            </a:pPr>
            <a:endParaRPr lang="en-US"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949" y="261256"/>
            <a:ext cx="11364686" cy="6349093"/>
          </a:xfrm>
        </p:spPr>
        <p:txBody>
          <a:bodyPr>
            <a:normAutofit/>
          </a:bodyPr>
          <a:lstStyle/>
          <a:p>
            <a:pPr marL="0" indent="0" algn="just">
              <a:lnSpc>
                <a:spcPct val="110000"/>
              </a:lnSpc>
              <a:buFont typeface="Wingdings" pitchFamily="2" charset="2"/>
              <a:buChar char="q"/>
            </a:pPr>
            <a:r>
              <a:rPr lang="en-US" sz="2400" dirty="0">
                <a:solidFill>
                  <a:srgbClr val="00B050"/>
                </a:solidFill>
                <a:latin typeface="Times New Roman" pitchFamily="18" charset="0"/>
                <a:cs typeface="Times New Roman" pitchFamily="18" charset="0"/>
                <a:sym typeface="+mn-ea"/>
              </a:rPr>
              <a:t>Systems that think rationally </a:t>
            </a:r>
            <a:r>
              <a:rPr lang="en-US" sz="2400" dirty="0" smtClean="0">
                <a:solidFill>
                  <a:srgbClr val="00B050"/>
                </a:solidFill>
                <a:latin typeface="Times New Roman" pitchFamily="18" charset="0"/>
                <a:cs typeface="Times New Roman" pitchFamily="18" charset="0"/>
                <a:sym typeface="+mn-ea"/>
              </a:rPr>
              <a:t>(</a:t>
            </a:r>
            <a:r>
              <a:rPr lang="en-US" sz="1600" dirty="0" smtClean="0">
                <a:latin typeface="Comic Sans MS" pitchFamily="66" charset="0"/>
              </a:rPr>
              <a:t>based on reason or logic)</a:t>
            </a:r>
            <a:endParaRPr lang="en-US" sz="1600" dirty="0">
              <a:solidFill>
                <a:srgbClr val="00B050"/>
              </a:solidFill>
              <a:latin typeface="Comic Sans MS" pitchFamily="66" charset="0"/>
              <a:cs typeface="Times New Roman" pitchFamily="18" charset="0"/>
            </a:endParaRPr>
          </a:p>
          <a:p>
            <a:pPr marL="0" indent="0" algn="just">
              <a:lnSpc>
                <a:spcPct val="110000"/>
              </a:lnSpc>
              <a:buFont typeface="Wingdings" pitchFamily="2" charset="2"/>
              <a:buChar char="Ø"/>
            </a:pPr>
            <a:r>
              <a:rPr lang="en-US" sz="2400" dirty="0">
                <a:latin typeface="Times New Roman" pitchFamily="18" charset="0"/>
                <a:cs typeface="Times New Roman" pitchFamily="18" charset="0"/>
                <a:sym typeface="+mn-ea"/>
              </a:rPr>
              <a:t>"The study of mental faculties through the use of computational models." (</a:t>
            </a:r>
            <a:r>
              <a:rPr lang="en-US" sz="2400" dirty="0" err="1">
                <a:latin typeface="Times New Roman" pitchFamily="18" charset="0"/>
                <a:cs typeface="Times New Roman" pitchFamily="18" charset="0"/>
                <a:sym typeface="+mn-ea"/>
              </a:rPr>
              <a:t>Chamiak</a:t>
            </a:r>
            <a:r>
              <a:rPr lang="en-US" sz="2400" dirty="0">
                <a:latin typeface="Times New Roman" pitchFamily="18" charset="0"/>
                <a:cs typeface="Times New Roman" pitchFamily="18" charset="0"/>
                <a:sym typeface="+mn-ea"/>
              </a:rPr>
              <a:t> and McDermott, 1985) </a:t>
            </a:r>
            <a:endParaRPr lang="en-US" sz="2400" dirty="0">
              <a:latin typeface="Times New Roman" pitchFamily="18" charset="0"/>
              <a:cs typeface="Times New Roman" pitchFamily="18" charset="0"/>
            </a:endParaRPr>
          </a:p>
          <a:p>
            <a:pPr marL="0" indent="0" algn="just">
              <a:lnSpc>
                <a:spcPct val="110000"/>
              </a:lnSpc>
              <a:buFont typeface="Wingdings" pitchFamily="2" charset="2"/>
              <a:buChar char="Ø"/>
            </a:pPr>
            <a:r>
              <a:rPr lang="en-US" sz="2400" dirty="0">
                <a:latin typeface="Times New Roman" pitchFamily="18" charset="0"/>
                <a:cs typeface="Times New Roman" pitchFamily="18" charset="0"/>
                <a:sym typeface="+mn-ea"/>
              </a:rPr>
              <a:t>"The study of the computations that make it possible to perceive, reason, and act." (Winston, 1992</a:t>
            </a:r>
            <a:r>
              <a:rPr lang="en-US" sz="2400" dirty="0" smtClean="0">
                <a:latin typeface="Times New Roman" pitchFamily="18" charset="0"/>
                <a:cs typeface="Times New Roman" pitchFamily="18" charset="0"/>
                <a:sym typeface="+mn-ea"/>
              </a:rPr>
              <a:t>).</a:t>
            </a:r>
          </a:p>
          <a:p>
            <a:pPr marL="0" indent="0" algn="just">
              <a:lnSpc>
                <a:spcPct val="110000"/>
              </a:lnSpc>
              <a:buNone/>
            </a:pPr>
            <a:endParaRPr lang="en-US" sz="2400" dirty="0">
              <a:latin typeface="Times New Roman" pitchFamily="18" charset="0"/>
              <a:cs typeface="Times New Roman" pitchFamily="18" charset="0"/>
            </a:endParaRPr>
          </a:p>
          <a:p>
            <a:pPr marL="0" indent="0" algn="just">
              <a:lnSpc>
                <a:spcPct val="110000"/>
              </a:lnSpc>
              <a:buFont typeface="Wingdings" pitchFamily="2" charset="2"/>
              <a:buChar char="q"/>
            </a:pPr>
            <a:r>
              <a:rPr lang="en-US" sz="2400" dirty="0">
                <a:solidFill>
                  <a:srgbClr val="00B050"/>
                </a:solidFill>
                <a:latin typeface="Times New Roman" pitchFamily="18" charset="0"/>
                <a:cs typeface="Times New Roman" pitchFamily="18" charset="0"/>
                <a:sym typeface="+mn-ea"/>
              </a:rPr>
              <a:t>Systems that act rationally </a:t>
            </a:r>
            <a:endParaRPr lang="en-US" sz="2400" dirty="0">
              <a:solidFill>
                <a:srgbClr val="00B050"/>
              </a:solidFill>
              <a:latin typeface="Times New Roman" pitchFamily="18" charset="0"/>
              <a:cs typeface="Times New Roman" pitchFamily="18" charset="0"/>
            </a:endParaRPr>
          </a:p>
          <a:p>
            <a:pPr marL="0" indent="0" algn="just">
              <a:lnSpc>
                <a:spcPct val="110000"/>
              </a:lnSpc>
              <a:buFont typeface="Wingdings" pitchFamily="2" charset="2"/>
              <a:buChar char="Ø"/>
            </a:pPr>
            <a:r>
              <a:rPr lang="en-US" sz="2400" dirty="0">
                <a:latin typeface="Times New Roman" pitchFamily="18" charset="0"/>
                <a:cs typeface="Times New Roman" pitchFamily="18" charset="0"/>
                <a:sym typeface="+mn-ea"/>
              </a:rPr>
              <a:t>"Computational Intelligence is the study of the design of intelligent agents." (</a:t>
            </a:r>
            <a:r>
              <a:rPr lang="en-US" sz="2400" dirty="0" err="1">
                <a:latin typeface="Times New Roman" pitchFamily="18" charset="0"/>
                <a:cs typeface="Times New Roman" pitchFamily="18" charset="0"/>
                <a:sym typeface="+mn-ea"/>
              </a:rPr>
              <a:t>Pooleet</a:t>
            </a:r>
            <a:r>
              <a:rPr lang="en-US" sz="2400" dirty="0">
                <a:latin typeface="Times New Roman" pitchFamily="18" charset="0"/>
                <a:cs typeface="Times New Roman" pitchFamily="18" charset="0"/>
                <a:sym typeface="+mn-ea"/>
              </a:rPr>
              <a:t> al., 1998) </a:t>
            </a:r>
            <a:r>
              <a:rPr lang="en-US" sz="2400" dirty="0" smtClean="0">
                <a:latin typeface="Times New Roman" pitchFamily="18" charset="0"/>
                <a:cs typeface="Times New Roman" pitchFamily="18" charset="0"/>
                <a:sym typeface="+mn-ea"/>
              </a:rPr>
              <a:t>.</a:t>
            </a:r>
            <a:endParaRPr lang="en-US" sz="2400" dirty="0">
              <a:latin typeface="Times New Roman" pitchFamily="18" charset="0"/>
              <a:cs typeface="Times New Roman" pitchFamily="18" charset="0"/>
            </a:endParaRPr>
          </a:p>
          <a:p>
            <a:pPr marL="0" indent="0" algn="just">
              <a:lnSpc>
                <a:spcPct val="110000"/>
              </a:lnSpc>
              <a:buFont typeface="Wingdings" pitchFamily="2" charset="2"/>
              <a:buChar char="Ø"/>
            </a:pPr>
            <a:r>
              <a:rPr lang="en-US" sz="2400" dirty="0">
                <a:latin typeface="Times New Roman" pitchFamily="18" charset="0"/>
                <a:cs typeface="Times New Roman" pitchFamily="18" charset="0"/>
                <a:sym typeface="+mn-ea"/>
              </a:rPr>
              <a:t>"AI . . .is concerned with intelligent behavior in artifacts." (Nilsson, 1998</a:t>
            </a:r>
            <a:r>
              <a:rPr lang="en-US" sz="2400" dirty="0" smtClean="0">
                <a:latin typeface="Times New Roman" pitchFamily="18" charset="0"/>
                <a:cs typeface="Times New Roman" pitchFamily="18" charset="0"/>
                <a:sym typeface="+mn-ea"/>
              </a:rPr>
              <a:t>).</a:t>
            </a:r>
            <a:endParaRPr lang="en-US" sz="2400" dirty="0">
              <a:latin typeface="Times New Roman" pitchFamily="18" charset="0"/>
              <a:cs typeface="Times New Roman" pitchFamily="18" charset="0"/>
              <a:sym typeface="+mn-ea"/>
            </a:endParaRPr>
          </a:p>
          <a:p>
            <a:pPr marL="0" indent="0" algn="just">
              <a:lnSpc>
                <a:spcPct val="110000"/>
              </a:lnSpc>
              <a:buNone/>
            </a:pPr>
            <a:endParaRPr lang="en-US" sz="2400" dirty="0">
              <a:latin typeface="Microsoft Sans Serif" panose="020B0604020202020204" charset="0"/>
              <a:cs typeface="Microsoft Sans Serif" panose="020B0604020202020204" charset="0"/>
            </a:endParaRPr>
          </a:p>
          <a:p>
            <a:pPr marL="0" indent="0" algn="just">
              <a:lnSpc>
                <a:spcPct val="110000"/>
              </a:lnSpc>
              <a:buNone/>
            </a:pP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6" y="248194"/>
            <a:ext cx="11691257" cy="6519000"/>
          </a:xfrm>
        </p:spPr>
        <p:txBody>
          <a:bodyPr>
            <a:normAutofit fontScale="85000" lnSpcReduction="20000"/>
          </a:bodyPr>
          <a:lstStyle/>
          <a:p>
            <a:pPr marL="0" indent="0" algn="just">
              <a:buNone/>
            </a:pPr>
            <a:r>
              <a:rPr lang="en-US" sz="2200" dirty="0">
                <a:solidFill>
                  <a:srgbClr val="00B050"/>
                </a:solidFill>
                <a:latin typeface="Times New Roman" pitchFamily="18" charset="0"/>
                <a:cs typeface="Times New Roman" pitchFamily="18" charset="0"/>
              </a:rPr>
              <a:t>Acting humanly: The Turing Test approach</a:t>
            </a:r>
          </a:p>
          <a:p>
            <a:pPr marL="0" indent="0" algn="just">
              <a:lnSpc>
                <a:spcPct val="150000"/>
              </a:lnSpc>
              <a:buFont typeface="Wingdings" pitchFamily="2" charset="2"/>
              <a:buChar char="v"/>
            </a:pPr>
            <a:r>
              <a:rPr lang="en-US" sz="2100" dirty="0">
                <a:latin typeface="Times New Roman" pitchFamily="18" charset="0"/>
                <a:cs typeface="Times New Roman" pitchFamily="18" charset="0"/>
              </a:rPr>
              <a:t>The Turing Test, proposed by Alan Turing (1950), was designed to provide a satisfactory TURING </a:t>
            </a:r>
            <a:r>
              <a:rPr lang="en-US" sz="2100" dirty="0" smtClean="0">
                <a:latin typeface="Times New Roman" pitchFamily="18" charset="0"/>
                <a:cs typeface="Times New Roman" pitchFamily="18" charset="0"/>
              </a:rPr>
              <a:t>TEST operational </a:t>
            </a:r>
            <a:r>
              <a:rPr lang="en-US" sz="2100" dirty="0">
                <a:latin typeface="Times New Roman" pitchFamily="18" charset="0"/>
                <a:cs typeface="Times New Roman" pitchFamily="18" charset="0"/>
              </a:rPr>
              <a:t>definition of intelligence. </a:t>
            </a:r>
            <a:endParaRPr lang="en-US" sz="21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A </a:t>
            </a:r>
            <a:r>
              <a:rPr lang="en-US" sz="2100" dirty="0">
                <a:latin typeface="Times New Roman" pitchFamily="18" charset="0"/>
                <a:cs typeface="Times New Roman" pitchFamily="18" charset="0"/>
              </a:rPr>
              <a:t>computer passes the test if a human interrogator, </a:t>
            </a:r>
            <a:r>
              <a:rPr lang="en-US" sz="2100" dirty="0" smtClean="0">
                <a:latin typeface="Times New Roman" pitchFamily="18" charset="0"/>
                <a:cs typeface="Times New Roman" pitchFamily="18" charset="0"/>
              </a:rPr>
              <a:t>after posing </a:t>
            </a:r>
            <a:r>
              <a:rPr lang="en-US" sz="2100" dirty="0">
                <a:latin typeface="Times New Roman" pitchFamily="18" charset="0"/>
                <a:cs typeface="Times New Roman" pitchFamily="18" charset="0"/>
              </a:rPr>
              <a:t>some written questions, cannot tell whether the written responses come from a </a:t>
            </a:r>
            <a:r>
              <a:rPr lang="en-US" sz="2100" dirty="0" smtClean="0">
                <a:latin typeface="Times New Roman" pitchFamily="18" charset="0"/>
                <a:cs typeface="Times New Roman" pitchFamily="18" charset="0"/>
              </a:rPr>
              <a:t>person or </a:t>
            </a:r>
            <a:r>
              <a:rPr lang="en-US" sz="2100" dirty="0">
                <a:latin typeface="Times New Roman" pitchFamily="18" charset="0"/>
                <a:cs typeface="Times New Roman" pitchFamily="18" charset="0"/>
              </a:rPr>
              <a:t>from a </a:t>
            </a:r>
            <a:r>
              <a:rPr lang="en-US" sz="2100" dirty="0" smtClean="0">
                <a:latin typeface="Times New Roman" pitchFamily="18" charset="0"/>
                <a:cs typeface="Times New Roman" pitchFamily="18" charset="0"/>
              </a:rPr>
              <a:t>computer.</a:t>
            </a:r>
            <a:endParaRPr lang="en-US" sz="2100" dirty="0">
              <a:latin typeface="Times New Roman" pitchFamily="18" charset="0"/>
              <a:cs typeface="Times New Roman" pitchFamily="18" charset="0"/>
            </a:endParaRPr>
          </a:p>
          <a:p>
            <a:pPr marL="0" indent="0" algn="just">
              <a:lnSpc>
                <a:spcPct val="150000"/>
              </a:lnSpc>
              <a:buFont typeface="Wingdings" pitchFamily="2" charset="2"/>
              <a:buChar char="v"/>
            </a:pPr>
            <a:r>
              <a:rPr lang="en-US" sz="2100" dirty="0">
                <a:latin typeface="Times New Roman" pitchFamily="18" charset="0"/>
                <a:cs typeface="Times New Roman" pitchFamily="18" charset="0"/>
              </a:rPr>
              <a:t>The computer would need to possess </a:t>
            </a:r>
            <a:r>
              <a:rPr lang="en-US" sz="2100" dirty="0" smtClean="0">
                <a:latin typeface="Times New Roman" pitchFamily="18" charset="0"/>
                <a:cs typeface="Times New Roman" pitchFamily="18" charset="0"/>
              </a:rPr>
              <a:t>the following </a:t>
            </a:r>
            <a:r>
              <a:rPr lang="en-US" sz="2100" dirty="0">
                <a:latin typeface="Times New Roman" pitchFamily="18" charset="0"/>
                <a:cs typeface="Times New Roman" pitchFamily="18" charset="0"/>
              </a:rPr>
              <a:t>capabilities:</a:t>
            </a:r>
          </a:p>
          <a:p>
            <a:pPr lvl="1" algn="just">
              <a:lnSpc>
                <a:spcPct val="150000"/>
              </a:lnSpc>
              <a:buFont typeface="Wingdings" pitchFamily="2" charset="2"/>
              <a:buChar char="ü"/>
            </a:pPr>
            <a:r>
              <a:rPr lang="en-US" sz="2100" dirty="0">
                <a:latin typeface="Times New Roman" pitchFamily="18" charset="0"/>
                <a:cs typeface="Times New Roman" pitchFamily="18" charset="0"/>
              </a:rPr>
              <a:t> </a:t>
            </a:r>
            <a:r>
              <a:rPr lang="en-US" sz="2100" b="1" dirty="0" smtClean="0">
                <a:latin typeface="Times New Roman" pitchFamily="18" charset="0"/>
                <a:cs typeface="Times New Roman" pitchFamily="18" charset="0"/>
              </a:rPr>
              <a:t>Natural </a:t>
            </a:r>
            <a:r>
              <a:rPr lang="en-US" sz="2100" b="1" dirty="0">
                <a:latin typeface="Times New Roman" pitchFamily="18" charset="0"/>
                <a:cs typeface="Times New Roman" pitchFamily="18" charset="0"/>
              </a:rPr>
              <a:t>L</a:t>
            </a:r>
            <a:r>
              <a:rPr lang="en-US" sz="2100" b="1" dirty="0" smtClean="0">
                <a:latin typeface="Times New Roman" pitchFamily="18" charset="0"/>
                <a:cs typeface="Times New Roman" pitchFamily="18" charset="0"/>
              </a:rPr>
              <a:t>anguage </a:t>
            </a:r>
            <a:r>
              <a:rPr lang="en-US" sz="2100" b="1" dirty="0">
                <a:latin typeface="Times New Roman" pitchFamily="18" charset="0"/>
                <a:cs typeface="Times New Roman" pitchFamily="18" charset="0"/>
              </a:rPr>
              <a:t>P</a:t>
            </a:r>
            <a:r>
              <a:rPr lang="en-US" sz="2100" b="1" dirty="0" smtClean="0">
                <a:latin typeface="Times New Roman" pitchFamily="18" charset="0"/>
                <a:cs typeface="Times New Roman" pitchFamily="18" charset="0"/>
              </a:rPr>
              <a:t>rocessing </a:t>
            </a:r>
            <a:r>
              <a:rPr lang="en-US" sz="2100" dirty="0">
                <a:latin typeface="Times New Roman" pitchFamily="18" charset="0"/>
                <a:cs typeface="Times New Roman" pitchFamily="18" charset="0"/>
              </a:rPr>
              <a:t>to enable it to communicate successfully in English;</a:t>
            </a:r>
          </a:p>
          <a:p>
            <a:pPr marL="457200" lvl="1" indent="0" algn="just">
              <a:lnSpc>
                <a:spcPct val="150000"/>
              </a:lnSpc>
              <a:buFont typeface="Wingdings" pitchFamily="2" charset="2"/>
              <a:buChar char="ü"/>
            </a:pPr>
            <a:r>
              <a:rPr lang="en-US" sz="2100" b="1" smtClean="0">
                <a:latin typeface="Times New Roman" pitchFamily="18" charset="0"/>
                <a:cs typeface="Times New Roman" pitchFamily="18" charset="0"/>
              </a:rPr>
              <a:t> Knowledge </a:t>
            </a:r>
            <a:r>
              <a:rPr lang="en-US" sz="2100" b="1" dirty="0">
                <a:latin typeface="Times New Roman" pitchFamily="18" charset="0"/>
                <a:cs typeface="Times New Roman" pitchFamily="18" charset="0"/>
              </a:rPr>
              <a:t>R</a:t>
            </a:r>
            <a:r>
              <a:rPr lang="en-US" sz="2100" b="1" dirty="0" smtClean="0">
                <a:latin typeface="Times New Roman" pitchFamily="18" charset="0"/>
                <a:cs typeface="Times New Roman" pitchFamily="18" charset="0"/>
              </a:rPr>
              <a:t>epresentation </a:t>
            </a:r>
            <a:r>
              <a:rPr lang="en-US" sz="2100" dirty="0">
                <a:latin typeface="Times New Roman" pitchFamily="18" charset="0"/>
                <a:cs typeface="Times New Roman" pitchFamily="18" charset="0"/>
              </a:rPr>
              <a:t>to store what it knows or hears;</a:t>
            </a:r>
          </a:p>
          <a:p>
            <a:pPr marL="457200" lvl="1" indent="0" algn="just">
              <a:lnSpc>
                <a:spcPct val="150000"/>
              </a:lnSpc>
              <a:buFont typeface="Wingdings" pitchFamily="2" charset="2"/>
              <a:buChar char="ü"/>
            </a:pPr>
            <a:r>
              <a:rPr lang="en-US" sz="2100" dirty="0" smtClean="0">
                <a:latin typeface="Times New Roman" pitchFamily="18" charset="0"/>
                <a:cs typeface="Times New Roman" pitchFamily="18" charset="0"/>
              </a:rPr>
              <a:t> </a:t>
            </a:r>
            <a:r>
              <a:rPr lang="en-US" sz="2100" b="1" dirty="0">
                <a:latin typeface="Times New Roman" pitchFamily="18" charset="0"/>
                <a:cs typeface="Times New Roman" pitchFamily="18" charset="0"/>
              </a:rPr>
              <a:t>A</a:t>
            </a:r>
            <a:r>
              <a:rPr lang="en-US" sz="2100" b="1" dirty="0" smtClean="0">
                <a:latin typeface="Times New Roman" pitchFamily="18" charset="0"/>
                <a:cs typeface="Times New Roman" pitchFamily="18" charset="0"/>
              </a:rPr>
              <a:t>utomated </a:t>
            </a:r>
            <a:r>
              <a:rPr lang="en-US" sz="2100" b="1" dirty="0">
                <a:latin typeface="Times New Roman" pitchFamily="18" charset="0"/>
                <a:cs typeface="Times New Roman" pitchFamily="18" charset="0"/>
              </a:rPr>
              <a:t>R</a:t>
            </a:r>
            <a:r>
              <a:rPr lang="en-US" sz="2100" b="1" dirty="0" smtClean="0">
                <a:latin typeface="Times New Roman" pitchFamily="18" charset="0"/>
                <a:cs typeface="Times New Roman" pitchFamily="18" charset="0"/>
              </a:rPr>
              <a:t>easoning </a:t>
            </a:r>
            <a:r>
              <a:rPr lang="en-US" sz="2100" dirty="0">
                <a:latin typeface="Times New Roman" pitchFamily="18" charset="0"/>
                <a:cs typeface="Times New Roman" pitchFamily="18" charset="0"/>
              </a:rPr>
              <a:t>to use the stored information to answer questions and to </a:t>
            </a:r>
            <a:r>
              <a:rPr lang="en-US" sz="2100" dirty="0" smtClean="0">
                <a:latin typeface="Times New Roman" pitchFamily="18" charset="0"/>
                <a:cs typeface="Times New Roman" pitchFamily="18" charset="0"/>
              </a:rPr>
              <a:t>draw new </a:t>
            </a:r>
            <a:r>
              <a:rPr lang="en-US" sz="2100" dirty="0">
                <a:latin typeface="Times New Roman" pitchFamily="18" charset="0"/>
                <a:cs typeface="Times New Roman" pitchFamily="18" charset="0"/>
              </a:rPr>
              <a:t>conclusions;</a:t>
            </a:r>
          </a:p>
          <a:p>
            <a:pPr marL="457200" lvl="1" indent="0" algn="just">
              <a:lnSpc>
                <a:spcPct val="150000"/>
              </a:lnSpc>
              <a:buFont typeface="Wingdings" pitchFamily="2" charset="2"/>
              <a:buChar char="ü"/>
            </a:pPr>
            <a:r>
              <a:rPr lang="en-US" sz="2100" dirty="0" smtClean="0">
                <a:latin typeface="Times New Roman" pitchFamily="18" charset="0"/>
                <a:cs typeface="Times New Roman" pitchFamily="18" charset="0"/>
              </a:rPr>
              <a:t> </a:t>
            </a:r>
            <a:r>
              <a:rPr lang="en-US" sz="2100" b="1" dirty="0">
                <a:latin typeface="Times New Roman" pitchFamily="18" charset="0"/>
                <a:cs typeface="Times New Roman" pitchFamily="18" charset="0"/>
              </a:rPr>
              <a:t>M</a:t>
            </a:r>
            <a:r>
              <a:rPr lang="en-US" sz="2100" b="1" dirty="0" smtClean="0">
                <a:latin typeface="Times New Roman" pitchFamily="18" charset="0"/>
                <a:cs typeface="Times New Roman" pitchFamily="18" charset="0"/>
              </a:rPr>
              <a:t>achine </a:t>
            </a:r>
            <a:r>
              <a:rPr lang="en-US" sz="2100" b="1" dirty="0">
                <a:latin typeface="Times New Roman" pitchFamily="18" charset="0"/>
                <a:cs typeface="Times New Roman" pitchFamily="18" charset="0"/>
              </a:rPr>
              <a:t>L</a:t>
            </a:r>
            <a:r>
              <a:rPr lang="en-US" sz="2100" b="1" dirty="0" smtClean="0">
                <a:latin typeface="Times New Roman" pitchFamily="18" charset="0"/>
                <a:cs typeface="Times New Roman" pitchFamily="18" charset="0"/>
              </a:rPr>
              <a:t>earning </a:t>
            </a:r>
            <a:r>
              <a:rPr lang="en-US" sz="2100" dirty="0">
                <a:latin typeface="Times New Roman" pitchFamily="18" charset="0"/>
                <a:cs typeface="Times New Roman" pitchFamily="18" charset="0"/>
              </a:rPr>
              <a:t>to adapt to new circumstances and to detect and extrapolate </a:t>
            </a:r>
            <a:r>
              <a:rPr lang="en-US" sz="2100" dirty="0" smtClean="0">
                <a:latin typeface="Times New Roman" pitchFamily="18" charset="0"/>
                <a:cs typeface="Times New Roman" pitchFamily="18" charset="0"/>
              </a:rPr>
              <a:t>patterns.</a:t>
            </a: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The Total Turing Test includes a video signal so that the interrogator can test the subject’s perceptual abilities, as well as the opportunity for the interrogator to pass physical objects “through the hatch.” </a:t>
            </a: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To pass the total Turing Test, the computer will need</a:t>
            </a:r>
          </a:p>
          <a:p>
            <a:pPr marL="457200" lvl="1" indent="0" algn="just">
              <a:lnSpc>
                <a:spcPct val="150000"/>
              </a:lnSpc>
              <a:buFont typeface="Wingdings" pitchFamily="2" charset="2"/>
              <a:buChar char="ü"/>
            </a:pPr>
            <a:r>
              <a:rPr lang="en-US" sz="2100" b="1" dirty="0" smtClean="0">
                <a:latin typeface="Times New Roman" pitchFamily="18" charset="0"/>
                <a:cs typeface="Times New Roman" pitchFamily="18" charset="0"/>
                <a:sym typeface="+mn-ea"/>
              </a:rPr>
              <a:t>Computer vision </a:t>
            </a:r>
            <a:r>
              <a:rPr lang="en-US" sz="2100" dirty="0" smtClean="0">
                <a:latin typeface="Times New Roman" pitchFamily="18" charset="0"/>
                <a:cs typeface="Times New Roman" pitchFamily="18" charset="0"/>
                <a:sym typeface="+mn-ea"/>
              </a:rPr>
              <a:t>to perceive objects, and</a:t>
            </a:r>
          </a:p>
          <a:p>
            <a:pPr marL="457200" lvl="1" indent="0" algn="just">
              <a:lnSpc>
                <a:spcPct val="150000"/>
              </a:lnSpc>
              <a:buFont typeface="Wingdings" pitchFamily="2" charset="2"/>
              <a:buChar char="ü"/>
            </a:pPr>
            <a:r>
              <a:rPr lang="en-US" sz="2100" b="1" dirty="0" smtClean="0">
                <a:latin typeface="Times New Roman" pitchFamily="18" charset="0"/>
                <a:cs typeface="Times New Roman" pitchFamily="18" charset="0"/>
                <a:sym typeface="+mn-ea"/>
              </a:rPr>
              <a:t>Robotics</a:t>
            </a:r>
            <a:r>
              <a:rPr lang="en-US" sz="2100" dirty="0" smtClean="0">
                <a:latin typeface="Times New Roman" pitchFamily="18" charset="0"/>
                <a:cs typeface="Times New Roman" pitchFamily="18" charset="0"/>
                <a:sym typeface="+mn-ea"/>
              </a:rPr>
              <a:t> to manipulate objects and move about.</a:t>
            </a:r>
          </a:p>
          <a:p>
            <a:pPr marL="0" indent="0" algn="just">
              <a:buNone/>
            </a:pPr>
            <a:endParaRPr lang="en-US" sz="2400" dirty="0">
              <a:latin typeface="Microsoft Sans Serif" panose="020B0604020202020204" charset="0"/>
              <a:cs typeface="Microsoft Sans Serif" panose="020B060402020202020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6205" y="431073"/>
            <a:ext cx="11025051" cy="5969727"/>
          </a:xfrm>
        </p:spPr>
        <p:txBody>
          <a:bodyPr>
            <a:noAutofit/>
          </a:bodyPr>
          <a:lstStyle/>
          <a:p>
            <a:pPr marL="0" indent="0" algn="just">
              <a:buNone/>
            </a:pPr>
            <a:r>
              <a:rPr lang="en-US" sz="2200" dirty="0" smtClean="0">
                <a:solidFill>
                  <a:srgbClr val="00B050"/>
                </a:solidFill>
                <a:latin typeface="Times New Roman" pitchFamily="18" charset="0"/>
                <a:cs typeface="Times New Roman" pitchFamily="18" charset="0"/>
                <a:sym typeface="+mn-ea"/>
              </a:rPr>
              <a:t>Thinking humanly: The cognitive modeling approach</a:t>
            </a:r>
            <a:endParaRPr lang="en-US" sz="2200" dirty="0" smtClean="0">
              <a:solidFill>
                <a:srgbClr val="00B050"/>
              </a:solidFill>
              <a:latin typeface="Times New Roman" pitchFamily="18"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sym typeface="+mn-ea"/>
              </a:rPr>
              <a:t>If we are going to say that a given program thinks like a human, we must have some way of determining how humans think. We need to get inside the actual workings of human minds.</a:t>
            </a:r>
            <a:endParaRPr lang="en-US" sz="22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rPr>
              <a:t>There </a:t>
            </a:r>
            <a:r>
              <a:rPr lang="en-US" sz="2200" dirty="0">
                <a:latin typeface="Times New Roman" pitchFamily="18" charset="0"/>
                <a:cs typeface="Times New Roman" pitchFamily="18" charset="0"/>
              </a:rPr>
              <a:t>are three ways to do this: </a:t>
            </a:r>
            <a:endParaRPr lang="en-US" sz="2200" dirty="0" smtClean="0">
              <a:latin typeface="Times New Roman" pitchFamily="18" charset="0"/>
              <a:cs typeface="Times New Roman" pitchFamily="18" charset="0"/>
            </a:endParaRPr>
          </a:p>
          <a:p>
            <a:pPr marL="457200" lvl="1" indent="0" algn="just">
              <a:lnSpc>
                <a:spcPct val="150000"/>
              </a:lnSpc>
              <a:buFont typeface="Wingdings" pitchFamily="2" charset="2"/>
              <a:buChar char="ü"/>
            </a:pPr>
            <a:r>
              <a:rPr lang="en-US" sz="2200" b="1" i="1" dirty="0" smtClean="0">
                <a:latin typeface="Times New Roman" pitchFamily="18" charset="0"/>
                <a:cs typeface="Times New Roman" pitchFamily="18" charset="0"/>
              </a:rPr>
              <a:t>through introspection </a:t>
            </a:r>
            <a:r>
              <a:rPr lang="en-US" sz="2200" dirty="0" smtClean="0">
                <a:latin typeface="Times New Roman" pitchFamily="18" charset="0"/>
                <a:cs typeface="Times New Roman" pitchFamily="18" charset="0"/>
              </a:rPr>
              <a:t>— trying </a:t>
            </a:r>
            <a:r>
              <a:rPr lang="en-US" sz="2200" dirty="0">
                <a:latin typeface="Times New Roman" pitchFamily="18" charset="0"/>
                <a:cs typeface="Times New Roman" pitchFamily="18" charset="0"/>
              </a:rPr>
              <a:t>to catch our own thoughts </a:t>
            </a:r>
            <a:r>
              <a:rPr lang="en-US" sz="2200" dirty="0" smtClean="0">
                <a:latin typeface="Times New Roman" pitchFamily="18" charset="0"/>
                <a:cs typeface="Times New Roman" pitchFamily="18" charset="0"/>
              </a:rPr>
              <a:t>as they </a:t>
            </a:r>
            <a:r>
              <a:rPr lang="en-US" sz="2200" dirty="0">
                <a:latin typeface="Times New Roman" pitchFamily="18" charset="0"/>
                <a:cs typeface="Times New Roman" pitchFamily="18" charset="0"/>
              </a:rPr>
              <a:t>go by; </a:t>
            </a:r>
            <a:endParaRPr lang="en-US" sz="2200" dirty="0" smtClean="0">
              <a:latin typeface="Times New Roman" pitchFamily="18" charset="0"/>
              <a:cs typeface="Times New Roman" pitchFamily="18" charset="0"/>
            </a:endParaRPr>
          </a:p>
          <a:p>
            <a:pPr marL="457200" lvl="1" indent="0" algn="just">
              <a:lnSpc>
                <a:spcPct val="150000"/>
              </a:lnSpc>
              <a:buFont typeface="Wingdings" pitchFamily="2" charset="2"/>
              <a:buChar char="ü"/>
            </a:pPr>
            <a:r>
              <a:rPr lang="en-US" sz="2200" b="1" i="1" dirty="0" smtClean="0">
                <a:latin typeface="Times New Roman" pitchFamily="18" charset="0"/>
                <a:cs typeface="Times New Roman" pitchFamily="18" charset="0"/>
              </a:rPr>
              <a:t>through </a:t>
            </a:r>
            <a:r>
              <a:rPr lang="en-US" sz="2200" b="1" i="1" dirty="0">
                <a:latin typeface="Times New Roman" pitchFamily="18" charset="0"/>
                <a:cs typeface="Times New Roman" pitchFamily="18" charset="0"/>
              </a:rPr>
              <a:t>psychological </a:t>
            </a:r>
            <a:r>
              <a:rPr lang="en-US" sz="2200" b="1" i="1" dirty="0" smtClean="0">
                <a:latin typeface="Times New Roman" pitchFamily="18" charset="0"/>
                <a:cs typeface="Times New Roman" pitchFamily="18" charset="0"/>
              </a:rPr>
              <a:t>experiments </a:t>
            </a:r>
            <a:r>
              <a:rPr lang="en-US" sz="2200" dirty="0" smtClean="0">
                <a:latin typeface="Times New Roman" pitchFamily="18" charset="0"/>
                <a:cs typeface="Times New Roman" pitchFamily="18" charset="0"/>
              </a:rPr>
              <a:t>— observing </a:t>
            </a:r>
            <a:r>
              <a:rPr lang="en-US" sz="2200" dirty="0">
                <a:latin typeface="Times New Roman" pitchFamily="18" charset="0"/>
                <a:cs typeface="Times New Roman" pitchFamily="18" charset="0"/>
              </a:rPr>
              <a:t>a person in action; </a:t>
            </a:r>
            <a:r>
              <a:rPr lang="en-US" sz="2200" dirty="0" smtClean="0">
                <a:latin typeface="Times New Roman" pitchFamily="18" charset="0"/>
                <a:cs typeface="Times New Roman" pitchFamily="18" charset="0"/>
              </a:rPr>
              <a:t>and</a:t>
            </a:r>
          </a:p>
          <a:p>
            <a:pPr marL="457200" lvl="1" indent="0" algn="just">
              <a:lnSpc>
                <a:spcPct val="150000"/>
              </a:lnSpc>
              <a:buFont typeface="Wingdings" pitchFamily="2" charset="2"/>
              <a:buChar char="ü"/>
            </a:pPr>
            <a:r>
              <a:rPr lang="en-US" sz="2200" b="1" i="1" dirty="0" smtClean="0">
                <a:latin typeface="Times New Roman" pitchFamily="18" charset="0"/>
                <a:cs typeface="Times New Roman" pitchFamily="18" charset="0"/>
              </a:rPr>
              <a:t>through </a:t>
            </a:r>
            <a:r>
              <a:rPr lang="en-US" sz="2200" b="1" i="1" dirty="0">
                <a:latin typeface="Times New Roman" pitchFamily="18" charset="0"/>
                <a:cs typeface="Times New Roman" pitchFamily="18" charset="0"/>
              </a:rPr>
              <a:t>brain </a:t>
            </a:r>
            <a:r>
              <a:rPr lang="en-US" sz="2200" b="1" i="1" dirty="0" smtClean="0">
                <a:latin typeface="Times New Roman" pitchFamily="18" charset="0"/>
                <a:cs typeface="Times New Roman" pitchFamily="18" charset="0"/>
              </a:rPr>
              <a:t>imaging </a:t>
            </a:r>
            <a:r>
              <a:rPr lang="en-US" sz="2200" dirty="0" smtClean="0">
                <a:latin typeface="Times New Roman" pitchFamily="18" charset="0"/>
                <a:cs typeface="Times New Roman" pitchFamily="18" charset="0"/>
              </a:rPr>
              <a:t>— observing </a:t>
            </a:r>
            <a:r>
              <a:rPr lang="en-US" sz="2200" dirty="0">
                <a:latin typeface="Times New Roman" pitchFamily="18" charset="0"/>
                <a:cs typeface="Times New Roman" pitchFamily="18" charset="0"/>
              </a:rPr>
              <a:t>the brain in action. </a:t>
            </a:r>
          </a:p>
          <a:p>
            <a:pPr marL="0" indent="0" algn="just">
              <a:lnSpc>
                <a:spcPct val="150000"/>
              </a:lnSpc>
              <a:buFont typeface="Wingdings" pitchFamily="2" charset="2"/>
              <a:buChar char="v"/>
            </a:pPr>
            <a:r>
              <a:rPr lang="en-US" sz="2200" dirty="0">
                <a:latin typeface="Times New Roman" pitchFamily="18" charset="0"/>
                <a:cs typeface="Times New Roman" pitchFamily="18" charset="0"/>
              </a:rPr>
              <a:t>Once we have a sufficiently precise theory of the mind, it becomes possible to express the theory as a computer program. </a:t>
            </a:r>
          </a:p>
          <a:p>
            <a:pPr marL="0" indent="0" algn="just">
              <a:lnSpc>
                <a:spcPct val="150000"/>
              </a:lnSpc>
              <a:buFont typeface="Wingdings" pitchFamily="2" charset="2"/>
              <a:buChar char="v"/>
            </a:pPr>
            <a:r>
              <a:rPr lang="en-US" sz="2200" dirty="0">
                <a:latin typeface="Times New Roman" pitchFamily="18" charset="0"/>
                <a:cs typeface="Times New Roman" pitchFamily="18" charset="0"/>
              </a:rPr>
              <a:t>If the program’s input–output behavior matches corresponding human behavior, that is evidence that some </a:t>
            </a:r>
            <a:r>
              <a:rPr lang="en-US" sz="2200" dirty="0" smtClean="0">
                <a:latin typeface="Times New Roman" pitchFamily="18" charset="0"/>
                <a:cs typeface="Times New Roman" pitchFamily="18" charset="0"/>
              </a:rPr>
              <a:t>of the </a:t>
            </a:r>
            <a:r>
              <a:rPr lang="en-US" sz="2200" dirty="0">
                <a:latin typeface="Times New Roman" pitchFamily="18" charset="0"/>
                <a:cs typeface="Times New Roman" pitchFamily="18" charset="0"/>
              </a:rPr>
              <a:t>program’s mechanisms could also be operating in humans. </a:t>
            </a:r>
          </a:p>
          <a:p>
            <a:pPr marL="0" indent="0" algn="just">
              <a:lnSpc>
                <a:spcPct val="100000"/>
              </a:lnSpc>
              <a:buNone/>
            </a:pP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182881"/>
            <a:ext cx="11260183" cy="5982788"/>
          </a:xfrm>
        </p:spPr>
        <p:txBody>
          <a:bodyPr>
            <a:normAutofit/>
          </a:bodyPr>
          <a:lstStyle/>
          <a:p>
            <a:pPr marL="0" indent="0" algn="just">
              <a:lnSpc>
                <a:spcPct val="100000"/>
              </a:lnSpc>
              <a:buNone/>
            </a:pPr>
            <a:r>
              <a:rPr lang="en-US" sz="2400" dirty="0">
                <a:solidFill>
                  <a:srgbClr val="00B050"/>
                </a:solidFill>
                <a:latin typeface="Times New Roman" pitchFamily="18" charset="0"/>
                <a:cs typeface="Times New Roman" pitchFamily="18" charset="0"/>
              </a:rPr>
              <a:t>Thinking rationally: The “laws of thought” approach</a:t>
            </a:r>
          </a:p>
          <a:p>
            <a:pPr marL="0" indent="0" algn="just">
              <a:lnSpc>
                <a:spcPct val="150000"/>
              </a:lnSpc>
              <a:buFont typeface="Wingdings" pitchFamily="2" charset="2"/>
              <a:buChar char="v"/>
            </a:pPr>
            <a:r>
              <a:rPr lang="en-US" sz="2200" dirty="0">
                <a:latin typeface="Times New Roman" pitchFamily="18" charset="0"/>
                <a:cs typeface="Times New Roman" pitchFamily="18" charset="0"/>
              </a:rPr>
              <a:t>There are two main obstacles to this approach. </a:t>
            </a:r>
            <a:endParaRPr lang="en-US" sz="22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rPr>
              <a:t>First</a:t>
            </a:r>
            <a:r>
              <a:rPr lang="en-US" sz="2200" dirty="0">
                <a:latin typeface="Times New Roman" pitchFamily="18" charset="0"/>
                <a:cs typeface="Times New Roman" pitchFamily="18" charset="0"/>
              </a:rPr>
              <a:t>, it is not easy to take informal knowledge and state it in the formal terms required by logical notation, particularly when the knowledge is less than 100% certain. </a:t>
            </a:r>
          </a:p>
          <a:p>
            <a:pPr marL="0" indent="0" algn="just">
              <a:lnSpc>
                <a:spcPct val="150000"/>
              </a:lnSpc>
              <a:buFont typeface="Wingdings" pitchFamily="2" charset="2"/>
              <a:buChar char="v"/>
            </a:pPr>
            <a:r>
              <a:rPr lang="en-US" sz="2200" dirty="0">
                <a:latin typeface="Times New Roman" pitchFamily="18" charset="0"/>
                <a:cs typeface="Times New Roman" pitchFamily="18" charset="0"/>
              </a:rPr>
              <a:t>Second, there is a big difference between solving a problem “in principle” and solving it in practice. </a:t>
            </a:r>
            <a:endParaRPr lang="en-US" sz="22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rPr>
              <a:t>Even </a:t>
            </a:r>
            <a:r>
              <a:rPr lang="en-US" sz="2200" dirty="0">
                <a:latin typeface="Times New Roman" pitchFamily="18" charset="0"/>
                <a:cs typeface="Times New Roman" pitchFamily="18" charset="0"/>
              </a:rPr>
              <a:t>problems with just a few hundred facts can exhaust the computational resources of any computer unless it has some guidance as to which reasoning steps to try first. </a:t>
            </a:r>
          </a:p>
          <a:p>
            <a:pPr marL="0" indent="0" algn="just">
              <a:lnSpc>
                <a:spcPct val="150000"/>
              </a:lnSpc>
              <a:buFont typeface="Wingdings" pitchFamily="2" charset="2"/>
              <a:buChar char="v"/>
            </a:pPr>
            <a:r>
              <a:rPr lang="en-US" sz="2200" dirty="0">
                <a:latin typeface="Times New Roman" pitchFamily="18" charset="0"/>
                <a:cs typeface="Times New Roman" pitchFamily="18" charset="0"/>
              </a:rPr>
              <a:t>Although both of these obstacles apply to any attempt to build computational reasoning systems, they appeared first in the </a:t>
            </a:r>
            <a:r>
              <a:rPr lang="en-US" sz="2200" dirty="0" err="1" smtClean="0">
                <a:latin typeface="Times New Roman" pitchFamily="18" charset="0"/>
                <a:cs typeface="Times New Roman" pitchFamily="18" charset="0"/>
              </a:rPr>
              <a:t>logicist</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tradition.</a:t>
            </a:r>
          </a:p>
          <a:p>
            <a:pPr marL="0" indent="0" algn="just">
              <a:lnSpc>
                <a:spcPct val="100000"/>
              </a:lnSpc>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42" y="378823"/>
            <a:ext cx="10868297" cy="5839097"/>
          </a:xfrm>
        </p:spPr>
        <p:txBody>
          <a:bodyPr>
            <a:normAutofit/>
          </a:bodyPr>
          <a:lstStyle/>
          <a:p>
            <a:pPr marL="0" indent="0" algn="just">
              <a:lnSpc>
                <a:spcPct val="100000"/>
              </a:lnSpc>
              <a:buNone/>
            </a:pPr>
            <a:r>
              <a:rPr lang="en-US" sz="2400" dirty="0" smtClean="0">
                <a:solidFill>
                  <a:srgbClr val="00B050"/>
                </a:solidFill>
                <a:latin typeface="Times New Roman" pitchFamily="18" charset="0"/>
                <a:cs typeface="Times New Roman" pitchFamily="18" charset="0"/>
              </a:rPr>
              <a:t>Acting rationally: The rational agent approach</a:t>
            </a: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rPr>
              <a:t>An agent is just something that acts (agent comes from the Latin </a:t>
            </a:r>
            <a:r>
              <a:rPr lang="en-US" sz="2200" dirty="0" err="1" smtClean="0">
                <a:latin typeface="Times New Roman" pitchFamily="18" charset="0"/>
                <a:cs typeface="Times New Roman" pitchFamily="18" charset="0"/>
              </a:rPr>
              <a:t>agere</a:t>
            </a:r>
            <a:r>
              <a:rPr lang="en-US" sz="2200" dirty="0" smtClean="0">
                <a:latin typeface="Times New Roman" pitchFamily="18" charset="0"/>
                <a:cs typeface="Times New Roman" pitchFamily="18" charset="0"/>
              </a:rPr>
              <a:t>, to do). </a:t>
            </a: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rPr>
              <a:t>Of course, all computer programs do something, but computer agents are expected to do more: operate autonomously, perceive their environment, persist over a prolonged time period, adapt to change, and create and pursue goals. </a:t>
            </a: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sym typeface="+mn-ea"/>
              </a:rPr>
              <a:t>A rational agent is one that acts so as to achieve the best outcome or, when there is uncertainty, the best expected outcome.</a:t>
            </a:r>
          </a:p>
          <a:p>
            <a:pPr marL="0" indent="0" algn="just">
              <a:lnSpc>
                <a:spcPct val="150000"/>
              </a:lnSpc>
              <a:buFont typeface="Wingdings" pitchFamily="2" charset="2"/>
              <a:buChar char="v"/>
            </a:pPr>
            <a:r>
              <a:rPr lang="en-US" sz="2200" dirty="0" smtClean="0">
                <a:latin typeface="Times New Roman" pitchFamily="18" charset="0"/>
                <a:cs typeface="Times New Roman" pitchFamily="18" charset="0"/>
              </a:rPr>
              <a:t>Knowledge  representation and reasoning enable agents to reach good decisions. </a:t>
            </a: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575" y="160338"/>
            <a:ext cx="11912780" cy="6585519"/>
          </a:xfrm>
        </p:spPr>
        <p:txBody>
          <a:bodyPr>
            <a:normAutofit/>
          </a:bodyPr>
          <a:lstStyle/>
          <a:p>
            <a:pPr marL="0" indent="0">
              <a:buNone/>
            </a:pPr>
            <a:r>
              <a:rPr lang="en-US" sz="2400" b="1" dirty="0" smtClean="0">
                <a:solidFill>
                  <a:srgbClr val="FF0000"/>
                </a:solidFill>
                <a:latin typeface="Times New Roman" pitchFamily="18" charset="0"/>
                <a:ea typeface="Microsoft Sans Serif" panose="020B0604020202020204" pitchFamily="34" charset="0"/>
                <a:cs typeface="Times New Roman" pitchFamily="18" charset="0"/>
              </a:rPr>
              <a:t>1.2 The </a:t>
            </a:r>
            <a:r>
              <a:rPr lang="en-US" sz="2400" b="1" dirty="0">
                <a:solidFill>
                  <a:srgbClr val="FF0000"/>
                </a:solidFill>
                <a:latin typeface="Times New Roman" pitchFamily="18" charset="0"/>
                <a:ea typeface="Microsoft Sans Serif" panose="020B0604020202020204" pitchFamily="34" charset="0"/>
                <a:cs typeface="Times New Roman" pitchFamily="18" charset="0"/>
              </a:rPr>
              <a:t>Foundations of Artificial </a:t>
            </a:r>
            <a:r>
              <a:rPr lang="en-US" sz="2400" b="1" dirty="0" smtClean="0">
                <a:solidFill>
                  <a:srgbClr val="FF0000"/>
                </a:solidFill>
                <a:latin typeface="Times New Roman" pitchFamily="18" charset="0"/>
                <a:ea typeface="Microsoft Sans Serif" panose="020B0604020202020204" pitchFamily="34" charset="0"/>
                <a:cs typeface="Times New Roman" pitchFamily="18" charset="0"/>
              </a:rPr>
              <a:t>Intelligence</a:t>
            </a:r>
          </a:p>
          <a:p>
            <a:pPr marL="0" indent="0" algn="just">
              <a:lnSpc>
                <a:spcPct val="100000"/>
              </a:lnSpc>
              <a:buNone/>
            </a:pPr>
            <a:endParaRPr lang="en-US" sz="2400" dirty="0" smtClean="0">
              <a:latin typeface="Microsoft Sans Serif" panose="020B0604020202020204" charset="0"/>
              <a:cs typeface="Microsoft Sans Serif" panose="020B0604020202020204" charset="0"/>
            </a:endParaRPr>
          </a:p>
          <a:p>
            <a:pPr marL="0" indent="0">
              <a:buNone/>
            </a:pPr>
            <a:endParaRPr lang="en-US" sz="2400" dirty="0"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US" sz="2400" dirty="0"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US" sz="2400" dirty="0" smtClean="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US" dirty="0" smtClean="0"/>
          </a:p>
          <a:p>
            <a:pPr marL="0" indent="0">
              <a:buNone/>
            </a:pPr>
            <a:endParaRPr lang="en-US" dirty="0" smtClean="0"/>
          </a:p>
          <a:p>
            <a:pPr marL="0" indent="0">
              <a:buNone/>
            </a:pPr>
            <a:endParaRPr lang="en-IN" dirty="0"/>
          </a:p>
        </p:txBody>
      </p:sp>
      <p:sp>
        <p:nvSpPr>
          <p:cNvPr id="2" name="AutoShape 2" descr="Introduction to A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a:stretch>
            <a:fillRect/>
          </a:stretch>
        </p:blipFill>
        <p:spPr>
          <a:xfrm>
            <a:off x="6492240" y="600891"/>
            <a:ext cx="5451565" cy="5452663"/>
          </a:xfrm>
          <a:prstGeom prst="rect">
            <a:avLst/>
          </a:prstGeom>
        </p:spPr>
      </p:pic>
      <p:sp>
        <p:nvSpPr>
          <p:cNvPr id="7" name="TextBox 6"/>
          <p:cNvSpPr txBox="1"/>
          <p:nvPr/>
        </p:nvSpPr>
        <p:spPr>
          <a:xfrm>
            <a:off x="535576" y="653143"/>
            <a:ext cx="5747657" cy="6466514"/>
          </a:xfrm>
          <a:prstGeom prst="rect">
            <a:avLst/>
          </a:prstGeom>
          <a:noFill/>
        </p:spPr>
        <p:txBody>
          <a:bodyPr wrap="square" rtlCol="0">
            <a:spAutoFit/>
          </a:bodyPr>
          <a:lstStyle/>
          <a:p>
            <a:pPr algn="just">
              <a:lnSpc>
                <a:spcPct val="150000"/>
              </a:lnSpc>
              <a:buFont typeface="Wingdings" pitchFamily="2" charset="2"/>
              <a:buChar char="v"/>
            </a:pPr>
            <a:r>
              <a:rPr lang="en-US" sz="2000" dirty="0" smtClean="0">
                <a:latin typeface="Times New Roman" pitchFamily="18" charset="0"/>
                <a:cs typeface="Times New Roman" pitchFamily="18" charset="0"/>
              </a:rPr>
              <a:t>Commonly used AI techniques and theories are rule-based, fuzzy logic, neural networks, decision theory, statistics, probability theory, genetic algorithms, etc. </a:t>
            </a:r>
          </a:p>
          <a:p>
            <a:pPr algn="just">
              <a:lnSpc>
                <a:spcPct val="150000"/>
              </a:lnSpc>
              <a:buFont typeface="Wingdings" pitchFamily="2" charset="2"/>
              <a:buChar char="v"/>
            </a:pPr>
            <a:r>
              <a:rPr lang="en-US" sz="2000" dirty="0" smtClean="0">
                <a:latin typeface="Times New Roman" pitchFamily="18" charset="0"/>
                <a:cs typeface="Times New Roman" pitchFamily="18" charset="0"/>
              </a:rPr>
              <a:t>Since AI is interdisciplinary in nature, foundations of AI are in various fields such as</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Mathematics   </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Neuroscience  </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Control theory    </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Linguistics </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Sociology          </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Computer science</a:t>
            </a:r>
          </a:p>
          <a:p>
            <a:pPr lvl="1" algn="just">
              <a:lnSpc>
                <a:spcPct val="150000"/>
              </a:lnSpc>
              <a:buFont typeface="Wingdings" pitchFamily="2" charset="2"/>
              <a:buChar char="v"/>
            </a:pPr>
            <a:r>
              <a:rPr lang="en-US" sz="2000" dirty="0" smtClean="0">
                <a:latin typeface="Times New Roman" pitchFamily="18" charset="0"/>
                <a:cs typeface="Times New Roman" pitchFamily="18" charset="0"/>
              </a:rPr>
              <a:t> Psychology</a:t>
            </a:r>
          </a:p>
          <a:p>
            <a:pPr>
              <a:lnSpc>
                <a:spcPct val="150000"/>
              </a:lnSpc>
              <a:buFont typeface="Wingdings" pitchFamily="2" charset="2"/>
              <a:buChar char="v"/>
            </a:pPr>
            <a:endParaRPr lang="en-US" dirty="0"/>
          </a:p>
        </p:txBody>
      </p:sp>
    </p:spTree>
    <p:extLst>
      <p:ext uri="{BB962C8B-B14F-4D97-AF65-F5344CB8AC3E}">
        <p14:creationId xmlns:p14="http://schemas.microsoft.com/office/powerpoint/2010/main" val="27420503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131" y="326571"/>
            <a:ext cx="11495315" cy="6410658"/>
          </a:xfrm>
        </p:spPr>
        <p:txBody>
          <a:bodyPr>
            <a:normAutofit fontScale="92500" lnSpcReduction="10000"/>
          </a:bodyPr>
          <a:lstStyle/>
          <a:p>
            <a:pPr marL="0" indent="0" algn="just">
              <a:lnSpc>
                <a:spcPct val="150000"/>
              </a:lnSpc>
              <a:buNone/>
            </a:pPr>
            <a:r>
              <a:rPr lang="en-US" sz="2100" b="1" dirty="0">
                <a:solidFill>
                  <a:srgbClr val="00B050"/>
                </a:solidFill>
                <a:latin typeface="Times New Roman" pitchFamily="18" charset="0"/>
                <a:cs typeface="Times New Roman" pitchFamily="18" charset="0"/>
              </a:rPr>
              <a:t>Mathematics</a:t>
            </a:r>
            <a:r>
              <a:rPr lang="en-US" sz="2100" dirty="0">
                <a:latin typeface="Times New Roman" pitchFamily="18" charset="0"/>
                <a:cs typeface="Times New Roman" pitchFamily="18" charset="0"/>
              </a:rPr>
              <a:t>: </a:t>
            </a:r>
            <a:endParaRPr lang="en-US" sz="21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AI </a:t>
            </a:r>
            <a:r>
              <a:rPr lang="en-US" sz="2100" dirty="0">
                <a:latin typeface="Times New Roman" pitchFamily="18" charset="0"/>
                <a:cs typeface="Times New Roman" pitchFamily="18" charset="0"/>
              </a:rPr>
              <a:t>systems use </a:t>
            </a:r>
            <a:r>
              <a:rPr lang="en-US" sz="2100" dirty="0" smtClean="0">
                <a:latin typeface="Times New Roman" pitchFamily="18" charset="0"/>
                <a:cs typeface="Times New Roman" pitchFamily="18" charset="0"/>
              </a:rPr>
              <a:t>formal </a:t>
            </a:r>
            <a:r>
              <a:rPr lang="en-US" sz="2100" dirty="0">
                <a:latin typeface="Times New Roman" pitchFamily="18" charset="0"/>
                <a:cs typeface="Times New Roman" pitchFamily="18" charset="0"/>
              </a:rPr>
              <a:t>logical methods and Boolean logic (Boole, 1847), analysis of limits to what can be computed, probability theory, uncertainty that </a:t>
            </a:r>
            <a:r>
              <a:rPr lang="en-US" sz="2100" dirty="0" smtClean="0">
                <a:latin typeface="Times New Roman" pitchFamily="18" charset="0"/>
                <a:cs typeface="Times New Roman" pitchFamily="18" charset="0"/>
              </a:rPr>
              <a:t>forms </a:t>
            </a:r>
            <a:r>
              <a:rPr lang="en-US" sz="2100" dirty="0">
                <a:latin typeface="Times New Roman" pitchFamily="18" charset="0"/>
                <a:cs typeface="Times New Roman" pitchFamily="18" charset="0"/>
              </a:rPr>
              <a:t>the basis for most modern approaches to AI, fuzzy logic, etc. </a:t>
            </a:r>
          </a:p>
          <a:p>
            <a:pPr marL="0" indent="0" algn="just">
              <a:lnSpc>
                <a:spcPct val="150000"/>
              </a:lnSpc>
              <a:buNone/>
            </a:pPr>
            <a:r>
              <a:rPr lang="en-US" sz="2100" b="1" dirty="0">
                <a:solidFill>
                  <a:srgbClr val="00B050"/>
                </a:solidFill>
                <a:latin typeface="Times New Roman" pitchFamily="18" charset="0"/>
                <a:cs typeface="Times New Roman" pitchFamily="18" charset="0"/>
              </a:rPr>
              <a:t>Neuroscience</a:t>
            </a:r>
            <a:r>
              <a:rPr lang="en-US" sz="2100" dirty="0">
                <a:latin typeface="Times New Roman" pitchFamily="18" charset="0"/>
                <a:cs typeface="Times New Roman" pitchFamily="18" charset="0"/>
              </a:rPr>
              <a:t>: </a:t>
            </a:r>
            <a:endParaRPr lang="en-US" sz="21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This </a:t>
            </a:r>
            <a:r>
              <a:rPr lang="en-US" sz="2100" dirty="0">
                <a:latin typeface="Times New Roman" pitchFamily="18" charset="0"/>
                <a:cs typeface="Times New Roman" pitchFamily="18" charset="0"/>
              </a:rPr>
              <a:t>science of medicine helps in studying the functioning of brains</a:t>
            </a:r>
            <a:r>
              <a:rPr lang="en-US" sz="2100" dirty="0" smtClean="0">
                <a:latin typeface="Times New Roman" pitchFamily="18" charset="0"/>
                <a:cs typeface="Times New Roman" pitchFamily="18" charset="0"/>
              </a:rPr>
              <a:t>.</a:t>
            </a: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In </a:t>
            </a:r>
            <a:r>
              <a:rPr lang="en-US" sz="2100" dirty="0">
                <a:latin typeface="Times New Roman" pitchFamily="18" charset="0"/>
                <a:cs typeface="Times New Roman" pitchFamily="18" charset="0"/>
              </a:rPr>
              <a:t>early studies, injured and </a:t>
            </a:r>
            <a:r>
              <a:rPr lang="en-US" sz="2100" dirty="0" smtClean="0">
                <a:latin typeface="Times New Roman" pitchFamily="18" charset="0"/>
                <a:cs typeface="Times New Roman" pitchFamily="18" charset="0"/>
              </a:rPr>
              <a:t>abnormal </a:t>
            </a:r>
            <a:r>
              <a:rPr lang="en-US" sz="2100" dirty="0">
                <a:latin typeface="Times New Roman" pitchFamily="18" charset="0"/>
                <a:cs typeface="Times New Roman" pitchFamily="18" charset="0"/>
              </a:rPr>
              <a:t>people were used to understand what parts of brain work. Now recent studies use </a:t>
            </a:r>
            <a:r>
              <a:rPr lang="en-US" sz="2100" dirty="0" smtClean="0">
                <a:latin typeface="Times New Roman" pitchFamily="18" charset="0"/>
                <a:cs typeface="Times New Roman" pitchFamily="18" charset="0"/>
              </a:rPr>
              <a:t>accurate </a:t>
            </a:r>
            <a:r>
              <a:rPr lang="en-US" sz="2100" dirty="0">
                <a:latin typeface="Times New Roman" pitchFamily="18" charset="0"/>
                <a:cs typeface="Times New Roman" pitchFamily="18" charset="0"/>
              </a:rPr>
              <a:t>sensors to correlate brain activity to human thought.</a:t>
            </a:r>
          </a:p>
          <a:p>
            <a:pPr marL="0" indent="0" algn="just">
              <a:lnSpc>
                <a:spcPct val="150000"/>
              </a:lnSpc>
              <a:buFont typeface="Wingdings" pitchFamily="2" charset="2"/>
              <a:buChar char="v"/>
            </a:pPr>
            <a:r>
              <a:rPr lang="en-US" sz="2100" dirty="0">
                <a:latin typeface="Times New Roman" pitchFamily="18" charset="0"/>
                <a:cs typeface="Times New Roman" pitchFamily="18" charset="0"/>
              </a:rPr>
              <a:t>By monitoring individual neurons, monkeys </a:t>
            </a:r>
            <a:r>
              <a:rPr lang="en-US" sz="2100" dirty="0" smtClean="0">
                <a:latin typeface="Times New Roman" pitchFamily="18" charset="0"/>
                <a:cs typeface="Times New Roman" pitchFamily="18" charset="0"/>
              </a:rPr>
              <a:t>can now </a:t>
            </a:r>
            <a:r>
              <a:rPr lang="en-US" sz="2100" dirty="0">
                <a:latin typeface="Times New Roman" pitchFamily="18" charset="0"/>
                <a:cs typeface="Times New Roman" pitchFamily="18" charset="0"/>
              </a:rPr>
              <a:t>control a computer mouse using thought alone. </a:t>
            </a:r>
            <a:endParaRPr lang="en-US" sz="2100" dirty="0" smtClean="0">
              <a:latin typeface="Times New Roman" pitchFamily="18" charset="0"/>
              <a:cs typeface="Times New Roman" pitchFamily="18" charset="0"/>
            </a:endParaRPr>
          </a:p>
          <a:p>
            <a:pPr marL="0" indent="0" algn="just">
              <a:lnSpc>
                <a:spcPct val="150000"/>
              </a:lnSpc>
              <a:buFont typeface="Wingdings" pitchFamily="2" charset="2"/>
              <a:buChar char="v"/>
            </a:pPr>
            <a:r>
              <a:rPr lang="en-US" sz="2100" dirty="0" smtClean="0">
                <a:latin typeface="Times New Roman" pitchFamily="18" charset="0"/>
                <a:cs typeface="Times New Roman" pitchFamily="18" charset="0"/>
              </a:rPr>
              <a:t>Moore's </a:t>
            </a:r>
            <a:r>
              <a:rPr lang="en-US" sz="2100" dirty="0">
                <a:latin typeface="Times New Roman" pitchFamily="18" charset="0"/>
                <a:cs typeface="Times New Roman" pitchFamily="18" charset="0"/>
              </a:rPr>
              <a:t>law states that the computers will have as many gates as humans have neurons in the year 2020. </a:t>
            </a:r>
            <a:endParaRPr lang="en-US" sz="2100" dirty="0" smtClean="0">
              <a:latin typeface="Times New Roman" pitchFamily="18" charset="0"/>
              <a:cs typeface="Times New Roman" pitchFamily="18" charset="0"/>
            </a:endParaRPr>
          </a:p>
          <a:p>
            <a:pPr marL="0" indent="0" algn="just">
              <a:lnSpc>
                <a:spcPct val="110000"/>
              </a:lnSpc>
              <a:buNone/>
            </a:pPr>
            <a:r>
              <a:rPr lang="en-US" sz="2100" b="1" dirty="0" smtClean="0">
                <a:solidFill>
                  <a:srgbClr val="00B050"/>
                </a:solidFill>
                <a:latin typeface="Times New Roman" pitchFamily="18" charset="0"/>
                <a:ea typeface="Microsoft Sans Serif" panose="020B0604020202020204" pitchFamily="34" charset="0"/>
                <a:cs typeface="Times New Roman" pitchFamily="18" charset="0"/>
              </a:rPr>
              <a:t>Control theory</a:t>
            </a:r>
            <a:r>
              <a:rPr lang="en-US" sz="2100" dirty="0" smtClean="0">
                <a:latin typeface="Times New Roman" pitchFamily="18" charset="0"/>
                <a:ea typeface="Microsoft Sans Serif" panose="020B0604020202020204" pitchFamily="34" charset="0"/>
                <a:cs typeface="Times New Roman" pitchFamily="18" charset="0"/>
              </a:rPr>
              <a:t>: </a:t>
            </a:r>
          </a:p>
          <a:p>
            <a:pPr marL="0" indent="0" algn="just">
              <a:lnSpc>
                <a:spcPct val="110000"/>
              </a:lnSpc>
              <a:buFont typeface="Wingdings" pitchFamily="2" charset="2"/>
              <a:buChar char="v"/>
            </a:pPr>
            <a:r>
              <a:rPr lang="en-US" sz="2100" dirty="0" smtClean="0">
                <a:latin typeface="Times New Roman" pitchFamily="18" charset="0"/>
                <a:ea typeface="Microsoft Sans Serif" panose="020B0604020202020204" pitchFamily="34" charset="0"/>
                <a:cs typeface="Times New Roman" pitchFamily="18" charset="0"/>
              </a:rPr>
              <a:t>Machines can modify their behavior in response to the environment (sense/ action loop). </a:t>
            </a:r>
          </a:p>
          <a:p>
            <a:pPr marL="0" indent="0" algn="just">
              <a:lnSpc>
                <a:spcPct val="110000"/>
              </a:lnSpc>
              <a:buFont typeface="Wingdings" pitchFamily="2" charset="2"/>
              <a:buChar char="v"/>
            </a:pPr>
            <a:r>
              <a:rPr lang="en-US" sz="2100" dirty="0" err="1" smtClean="0">
                <a:latin typeface="Times New Roman" pitchFamily="18" charset="0"/>
                <a:ea typeface="Microsoft Sans Serif" panose="020B0604020202020204" pitchFamily="34" charset="0"/>
                <a:cs typeface="Times New Roman" pitchFamily="18" charset="0"/>
              </a:rPr>
              <a:t>Eg</a:t>
            </a:r>
            <a:r>
              <a:rPr lang="en-US" sz="2100" dirty="0" smtClean="0">
                <a:latin typeface="Times New Roman" pitchFamily="18" charset="0"/>
                <a:ea typeface="Microsoft Sans Serif" panose="020B0604020202020204" pitchFamily="34" charset="0"/>
                <a:cs typeface="Times New Roman" pitchFamily="18" charset="0"/>
              </a:rPr>
              <a:t>: Steam engine governor, thermostat and-water-flow regulator</a:t>
            </a:r>
          </a:p>
          <a:p>
            <a:pPr marL="0" indent="0" algn="just">
              <a:lnSpc>
                <a:spcPct val="110000"/>
              </a:lnSpc>
              <a:buFont typeface="Wingdings" pitchFamily="2" charset="2"/>
              <a:buChar char="v"/>
            </a:pPr>
            <a:r>
              <a:rPr lang="en-US" sz="2100" dirty="0" smtClean="0">
                <a:latin typeface="Times New Roman" pitchFamily="18" charset="0"/>
                <a:ea typeface="Microsoft Sans Serif" panose="020B0604020202020204" pitchFamily="34" charset="0"/>
                <a:cs typeface="Times New Roman" pitchFamily="18" charset="0"/>
              </a:rPr>
              <a:t>In 1950, control theory could only describe linear systems. AI largely rose as a response to this shortcoming. </a:t>
            </a:r>
          </a:p>
          <a:p>
            <a:pPr marL="0" indent="0" algn="just">
              <a:lnSpc>
                <a:spcPct val="150000"/>
              </a:lnSpc>
              <a:buFont typeface="Wingdings" pitchFamily="2" charset="2"/>
              <a:buChar char="v"/>
            </a:pPr>
            <a:endParaRPr lang="en-US" sz="2200" dirty="0">
              <a:latin typeface="Times New Roman" pitchFamily="18" charset="0"/>
              <a:cs typeface="Times New Roman" pitchFamily="18" charset="0"/>
            </a:endParaRPr>
          </a:p>
          <a:p>
            <a:pPr marL="0" indent="0">
              <a:buNone/>
            </a:pPr>
            <a:endParaRPr lang="en-IN" dirty="0"/>
          </a:p>
        </p:txBody>
      </p:sp>
    </p:spTree>
    <p:extLst>
      <p:ext uri="{BB962C8B-B14F-4D97-AF65-F5344CB8AC3E}">
        <p14:creationId xmlns:p14="http://schemas.microsoft.com/office/powerpoint/2010/main" val="8912285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1" y="287383"/>
            <a:ext cx="11430000" cy="6322424"/>
          </a:xfrm>
        </p:spPr>
        <p:txBody>
          <a:bodyPr>
            <a:normAutofit fontScale="92500" lnSpcReduction="10000"/>
          </a:bodyPr>
          <a:lstStyle/>
          <a:p>
            <a:pPr marL="0" indent="0" algn="just">
              <a:lnSpc>
                <a:spcPct val="110000"/>
              </a:lnSpc>
              <a:buNone/>
            </a:pPr>
            <a:r>
              <a:rPr lang="en-US" sz="2200" b="1" dirty="0" smtClean="0">
                <a:solidFill>
                  <a:srgbClr val="00B050"/>
                </a:solidFill>
                <a:latin typeface="Times New Roman" pitchFamily="18" charset="0"/>
                <a:ea typeface="Microsoft Sans Serif" panose="020B0604020202020204" pitchFamily="34" charset="0"/>
                <a:cs typeface="Times New Roman" pitchFamily="18" charset="0"/>
              </a:rPr>
              <a:t>Linguistics</a:t>
            </a: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1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Speech </a:t>
            </a:r>
            <a:r>
              <a:rPr lang="en-US" sz="2200" dirty="0">
                <a:latin typeface="Times New Roman" pitchFamily="18" charset="0"/>
                <a:ea typeface="Microsoft Sans Serif" panose="020B0604020202020204" pitchFamily="34" charset="0"/>
                <a:cs typeface="Times New Roman" pitchFamily="18" charset="0"/>
              </a:rPr>
              <a:t>demonstrates so much of human intelligence.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1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Analysis </a:t>
            </a:r>
            <a:r>
              <a:rPr lang="en-US" sz="2200" dirty="0">
                <a:latin typeface="Times New Roman" pitchFamily="18" charset="0"/>
                <a:ea typeface="Microsoft Sans Serif" panose="020B0604020202020204" pitchFamily="34" charset="0"/>
                <a:cs typeface="Times New Roman" pitchFamily="18" charset="0"/>
              </a:rPr>
              <a:t>of human language reveals thought taking place in ways not understood in other settings. Children can create sentences they have never heard before</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1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Languages and thoughts are believed to be tightly intertwined.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10000"/>
              </a:lnSpc>
              <a:buNone/>
            </a:pPr>
            <a:r>
              <a:rPr lang="en-US" altLang="zh-TW" sz="2200" b="1" dirty="0">
                <a:solidFill>
                  <a:srgbClr val="00B050"/>
                </a:solidFill>
                <a:latin typeface="Times New Roman" pitchFamily="18" charset="0"/>
                <a:ea typeface="Microsoft Sans Serif" panose="020B0604020202020204" pitchFamily="34" charset="0"/>
                <a:cs typeface="Times New Roman" pitchFamily="18" charset="0"/>
              </a:rPr>
              <a:t>Computer Engineering</a:t>
            </a:r>
          </a:p>
          <a:p>
            <a:pPr algn="just">
              <a:lnSpc>
                <a:spcPct val="110000"/>
              </a:lnSpc>
              <a:buFont typeface="Wingdings" pitchFamily="2" charset="2"/>
              <a:buChar char="v"/>
            </a:pPr>
            <a:r>
              <a:rPr lang="en-US" altLang="zh-TW" sz="2200" dirty="0">
                <a:latin typeface="Times New Roman" pitchFamily="18" charset="0"/>
                <a:ea typeface="Microsoft Sans Serif" panose="020B0604020202020204" pitchFamily="34" charset="0"/>
                <a:cs typeface="Times New Roman" pitchFamily="18" charset="0"/>
              </a:rPr>
              <a:t>How to build an efficient computer? </a:t>
            </a:r>
          </a:p>
          <a:p>
            <a:pPr algn="just">
              <a:lnSpc>
                <a:spcPct val="110000"/>
              </a:lnSpc>
              <a:buFont typeface="Wingdings" pitchFamily="2" charset="2"/>
              <a:buChar char="v"/>
            </a:pPr>
            <a:r>
              <a:rPr lang="en-US" altLang="zh-TW" sz="2200" dirty="0">
                <a:latin typeface="Times New Roman" pitchFamily="18" charset="0"/>
                <a:ea typeface="Microsoft Sans Serif" panose="020B0604020202020204" pitchFamily="34" charset="0"/>
                <a:cs typeface="Times New Roman" pitchFamily="18" charset="0"/>
              </a:rPr>
              <a:t>Provides the artifact that makes AI application </a:t>
            </a:r>
            <a:r>
              <a:rPr lang="en-US" altLang="zh-TW" sz="2200" dirty="0" smtClean="0">
                <a:latin typeface="Times New Roman" pitchFamily="18" charset="0"/>
                <a:ea typeface="Microsoft Sans Serif" panose="020B0604020202020204" pitchFamily="34" charset="0"/>
                <a:cs typeface="Times New Roman" pitchFamily="18" charset="0"/>
              </a:rPr>
              <a:t>possible</a:t>
            </a:r>
          </a:p>
          <a:p>
            <a:pPr>
              <a:lnSpc>
                <a:spcPct val="110000"/>
              </a:lnSpc>
              <a:buFont typeface="Wingdings" pitchFamily="2" charset="2"/>
              <a:buChar char="v"/>
            </a:pPr>
            <a:r>
              <a:rPr lang="en-US" altLang="zh-TW" sz="2200" dirty="0">
                <a:latin typeface="Times New Roman" pitchFamily="18" charset="0"/>
                <a:ea typeface="Microsoft Sans Serif" panose="020B0604020202020204" pitchFamily="34" charset="0"/>
                <a:cs typeface="Times New Roman" pitchFamily="18" charset="0"/>
              </a:rPr>
              <a:t>The power of computer makes computation of large and difficult problems more easily</a:t>
            </a:r>
          </a:p>
          <a:p>
            <a:pPr>
              <a:lnSpc>
                <a:spcPct val="110000"/>
              </a:lnSpc>
              <a:buFont typeface="Wingdings" pitchFamily="2" charset="2"/>
              <a:buChar char="v"/>
            </a:pPr>
            <a:r>
              <a:rPr lang="en-US" altLang="zh-TW" sz="2200" dirty="0">
                <a:latin typeface="Times New Roman" pitchFamily="18" charset="0"/>
                <a:ea typeface="Microsoft Sans Serif" panose="020B0604020202020204" pitchFamily="34" charset="0"/>
                <a:cs typeface="Times New Roman" pitchFamily="18" charset="0"/>
              </a:rPr>
              <a:t>AI has also contributed its own work to computer science, including: time-sharing, the linked list data type, etc. </a:t>
            </a:r>
            <a:endParaRPr lang="en-US" altLang="zh-TW" sz="2200" dirty="0" smtClean="0">
              <a:latin typeface="Times New Roman" pitchFamily="18" charset="0"/>
              <a:ea typeface="Microsoft Sans Serif" panose="020B0604020202020204" pitchFamily="34" charset="0"/>
              <a:cs typeface="Times New Roman" pitchFamily="18" charset="0"/>
            </a:endParaRPr>
          </a:p>
          <a:p>
            <a:pPr marL="0" indent="0" algn="just">
              <a:buNone/>
            </a:pPr>
            <a:r>
              <a:rPr lang="en-US" altLang="zh-TW" sz="2200" b="1" dirty="0" smtClean="0">
                <a:solidFill>
                  <a:srgbClr val="00B050"/>
                </a:solidFill>
                <a:latin typeface="Times New Roman" pitchFamily="18" charset="0"/>
                <a:ea typeface="Microsoft Sans Serif" panose="020B0604020202020204" pitchFamily="34" charset="0"/>
                <a:cs typeface="Times New Roman" pitchFamily="18" charset="0"/>
              </a:rPr>
              <a:t>Psychology</a:t>
            </a:r>
            <a:r>
              <a:rPr lang="en-US" altLang="zh-TW" sz="2200" dirty="0" smtClean="0">
                <a:solidFill>
                  <a:schemeClr val="accent4"/>
                </a:solidFill>
                <a:latin typeface="Times New Roman" pitchFamily="18" charset="0"/>
                <a:ea typeface="Microsoft Sans Serif" panose="020B0604020202020204" pitchFamily="34" charset="0"/>
                <a:cs typeface="Times New Roman" pitchFamily="18" charset="0"/>
              </a:rPr>
              <a:t> </a:t>
            </a:r>
          </a:p>
          <a:p>
            <a:pPr algn="just">
              <a:buFont typeface="Wingdings" pitchFamily="2" charset="2"/>
              <a:buChar char="v"/>
            </a:pPr>
            <a:r>
              <a:rPr lang="en-US" altLang="zh-TW" sz="2200" dirty="0" smtClean="0">
                <a:latin typeface="Times New Roman" pitchFamily="18" charset="0"/>
                <a:ea typeface="Microsoft Sans Serif" panose="020B0604020202020204" pitchFamily="34" charset="0"/>
                <a:cs typeface="Times New Roman" pitchFamily="18" charset="0"/>
              </a:rPr>
              <a:t>How do humans think and act?</a:t>
            </a:r>
          </a:p>
          <a:p>
            <a:pPr algn="just">
              <a:buFont typeface="Wingdings" pitchFamily="2" charset="2"/>
              <a:buChar char="v"/>
            </a:pPr>
            <a:r>
              <a:rPr lang="en-US" altLang="zh-TW" sz="2200" dirty="0" smtClean="0">
                <a:latin typeface="Times New Roman" pitchFamily="18" charset="0"/>
                <a:ea typeface="Microsoft Sans Serif" panose="020B0604020202020204" pitchFamily="34" charset="0"/>
                <a:cs typeface="Times New Roman" pitchFamily="18" charset="0"/>
              </a:rPr>
              <a:t>The study of human reasoning and acting, provides reasoning models for AI.</a:t>
            </a:r>
          </a:p>
          <a:p>
            <a:pPr algn="just">
              <a:buFont typeface="Wingdings" pitchFamily="2" charset="2"/>
              <a:buChar char="v"/>
            </a:pPr>
            <a:r>
              <a:rPr lang="en-US" altLang="zh-TW" sz="2200" dirty="0" smtClean="0">
                <a:latin typeface="Times New Roman" pitchFamily="18" charset="0"/>
                <a:ea typeface="Microsoft Sans Serif" panose="020B0604020202020204" pitchFamily="34" charset="0"/>
                <a:cs typeface="Times New Roman" pitchFamily="18" charset="0"/>
              </a:rPr>
              <a:t>Strengthen the ideas humans and other animals can be considered as information processing machines .</a:t>
            </a:r>
            <a:endParaRPr lang="zh-TW" altLang="en-US" sz="2200" dirty="0" smtClean="0">
              <a:latin typeface="Times New Roman" pitchFamily="18" charset="0"/>
              <a:cs typeface="Times New Roman" pitchFamily="18" charset="0"/>
            </a:endParaRPr>
          </a:p>
          <a:p>
            <a:pPr>
              <a:lnSpc>
                <a:spcPct val="110000"/>
              </a:lnSpc>
              <a:buFont typeface="Wingdings" pitchFamily="2" charset="2"/>
              <a:buChar char="v"/>
            </a:pPr>
            <a:endParaRPr lang="en-US" altLang="zh-TW" sz="2500" dirty="0" smtClean="0">
              <a:latin typeface="Times New Roman" pitchFamily="18" charset="0"/>
              <a:ea typeface="Microsoft Sans Serif" panose="020B0604020202020204" pitchFamily="34" charset="0"/>
              <a:cs typeface="Times New Roman" pitchFamily="18" charset="0"/>
            </a:endParaRPr>
          </a:p>
          <a:p>
            <a:pPr>
              <a:lnSpc>
                <a:spcPct val="110000"/>
              </a:lnSpc>
              <a:buFont typeface="Wingdings" pitchFamily="2" charset="2"/>
              <a:buChar char="v"/>
            </a:pPr>
            <a:endParaRPr lang="zh-TW" altLang="en-US" sz="2500" dirty="0">
              <a:latin typeface="Times New Roman" pitchFamily="18" charset="0"/>
              <a:cs typeface="Times New Roman" pitchFamily="18" charset="0"/>
            </a:endParaRPr>
          </a:p>
          <a:p>
            <a:pPr lvl="1" algn="just">
              <a:lnSpc>
                <a:spcPct val="100000"/>
              </a:lnSpc>
            </a:pPr>
            <a:endParaRPr lang="en-US" altLang="zh-TW"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lnSpc>
                <a:spcPct val="120000"/>
              </a:lnSpc>
              <a:buNone/>
            </a:pPr>
            <a:endParaRPr lang="en-US" sz="2400" dirty="0" smtClean="0">
              <a:latin typeface="Microsoft Sans Serif" panose="020B0604020202020204" charset="0"/>
              <a:cs typeface="Microsoft Sans Serif" panose="020B0604020202020204" charset="0"/>
            </a:endParaRPr>
          </a:p>
          <a:p>
            <a:pPr marL="0" indent="0" algn="just">
              <a:lnSpc>
                <a:spcPct val="120000"/>
              </a:lnSpc>
              <a:buNone/>
            </a:pPr>
            <a:endParaRPr lang="en-US" sz="2400" dirty="0">
              <a:latin typeface="Microsoft Sans Serif" panose="020B0604020202020204" charset="0"/>
              <a:cs typeface="Microsoft Sans Serif" panose="020B0604020202020204" charset="0"/>
            </a:endParaRPr>
          </a:p>
          <a:p>
            <a:pPr marL="0" indent="0" algn="just">
              <a:buNone/>
            </a:pPr>
            <a:endParaRPr lang="en-IN" sz="2400" dirty="0"/>
          </a:p>
        </p:txBody>
      </p:sp>
    </p:spTree>
    <p:extLst>
      <p:ext uri="{BB962C8B-B14F-4D97-AF65-F5344CB8AC3E}">
        <p14:creationId xmlns:p14="http://schemas.microsoft.com/office/powerpoint/2010/main" val="2145959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546" y="123092"/>
            <a:ext cx="12130454" cy="6629400"/>
          </a:xfrm>
        </p:spPr>
        <p:txBody>
          <a:bodyPr/>
          <a:lstStyle/>
          <a:p>
            <a:pPr marL="0" indent="0" algn="just">
              <a:buNone/>
            </a:pPr>
            <a:r>
              <a:rPr lang="en-IN" sz="2400" b="1" dirty="0" smtClean="0">
                <a:solidFill>
                  <a:srgbClr val="FF0000"/>
                </a:solidFill>
                <a:latin typeface="Times New Roman" pitchFamily="18" charset="0"/>
                <a:ea typeface="Microsoft Sans Serif" panose="020B0604020202020204" pitchFamily="34" charset="0"/>
                <a:cs typeface="Times New Roman" pitchFamily="18" charset="0"/>
              </a:rPr>
              <a:t>1.3 History </a:t>
            </a:r>
            <a:r>
              <a:rPr lang="en-IN" sz="2400" b="1" dirty="0">
                <a:solidFill>
                  <a:srgbClr val="FF0000"/>
                </a:solidFill>
                <a:latin typeface="Times New Roman" pitchFamily="18" charset="0"/>
                <a:ea typeface="Microsoft Sans Serif" panose="020B0604020202020204" pitchFamily="34" charset="0"/>
                <a:cs typeface="Times New Roman" pitchFamily="18" charset="0"/>
              </a:rPr>
              <a:t>of Artificial Intelligence</a:t>
            </a:r>
          </a:p>
          <a:p>
            <a:pPr marL="0" indent="0" algn="just">
              <a:buNone/>
            </a:pPr>
            <a:r>
              <a:rPr lang="en-US" dirty="0"/>
              <a:t> </a:t>
            </a:r>
            <a:r>
              <a:rPr lang="en-US" sz="1900" dirty="0">
                <a:latin typeface="Times New Roman" pitchFamily="18" charset="0"/>
                <a:cs typeface="Times New Roman" pitchFamily="18" charset="0"/>
              </a:rPr>
              <a:t>Following are some milestones in the history of </a:t>
            </a:r>
            <a:r>
              <a:rPr lang="en-US" sz="1900" dirty="0" smtClean="0">
                <a:latin typeface="Times New Roman" pitchFamily="18" charset="0"/>
                <a:cs typeface="Times New Roman" pitchFamily="18" charset="0"/>
              </a:rPr>
              <a:t>AI.</a:t>
            </a:r>
            <a:endParaRPr lang="en-US" sz="1900" dirty="0">
              <a:latin typeface="Times New Roman" pitchFamily="18" charset="0"/>
              <a:cs typeface="Times New Roman" pitchFamily="18" charset="0"/>
            </a:endParaRPr>
          </a:p>
          <a:p>
            <a:pPr marL="0" indent="0" algn="just">
              <a:buNone/>
            </a:pPr>
            <a:endParaRPr lang="en-IN"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IN" dirty="0"/>
          </a:p>
        </p:txBody>
      </p:sp>
      <p:pic>
        <p:nvPicPr>
          <p:cNvPr id="4" name="Picture 3" descr="AI TIMELINE.jpeg"/>
          <p:cNvPicPr>
            <a:picLocks noChangeAspect="1"/>
          </p:cNvPicPr>
          <p:nvPr/>
        </p:nvPicPr>
        <p:blipFill>
          <a:blip r:embed="rId2"/>
          <a:stretch>
            <a:fillRect/>
          </a:stretch>
        </p:blipFill>
        <p:spPr>
          <a:xfrm>
            <a:off x="326572" y="1175657"/>
            <a:ext cx="11482252" cy="5329645"/>
          </a:xfrm>
          <a:prstGeom prst="rect">
            <a:avLst/>
          </a:prstGeom>
        </p:spPr>
      </p:pic>
    </p:spTree>
    <p:extLst>
      <p:ext uri="{BB962C8B-B14F-4D97-AF65-F5344CB8AC3E}">
        <p14:creationId xmlns:p14="http://schemas.microsoft.com/office/powerpoint/2010/main" val="38725769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0"/>
            <a:ext cx="11534504" cy="6701246"/>
          </a:xfrm>
        </p:spPr>
        <p:txBody>
          <a:bodyPr>
            <a:noAutofit/>
          </a:bodyPr>
          <a:lstStyle/>
          <a:p>
            <a:pPr marL="0" indent="0" algn="just">
              <a:lnSpc>
                <a:spcPct val="120000"/>
              </a:lnSpc>
              <a:buNone/>
            </a:pPr>
            <a:r>
              <a:rPr lang="en-US" sz="1900" dirty="0">
                <a:solidFill>
                  <a:srgbClr val="00B050"/>
                </a:solidFill>
                <a:latin typeface="Times New Roman" pitchFamily="18" charset="0"/>
                <a:ea typeface="Microsoft Sans Serif" panose="020B0604020202020204" pitchFamily="34" charset="0"/>
                <a:cs typeface="Times New Roman" pitchFamily="18" charset="0"/>
              </a:rPr>
              <a:t>Maturation of Artificial Intelligence (1943-1952)</a:t>
            </a:r>
          </a:p>
          <a:p>
            <a:pPr algn="just">
              <a:lnSpc>
                <a:spcPct val="120000"/>
              </a:lnSpc>
              <a:buFont typeface="Wingdings" pitchFamily="2" charset="2"/>
              <a:buChar char="v"/>
            </a:pPr>
            <a:r>
              <a:rPr lang="en-US" sz="1900" b="1" dirty="0">
                <a:latin typeface="Times New Roman" pitchFamily="18" charset="0"/>
                <a:ea typeface="Microsoft Sans Serif" panose="020B0604020202020204" pitchFamily="34" charset="0"/>
                <a:cs typeface="Times New Roman" pitchFamily="18" charset="0"/>
              </a:rPr>
              <a:t>Year 1943:</a:t>
            </a:r>
            <a:r>
              <a:rPr lang="en-US" sz="1900" dirty="0">
                <a:latin typeface="Times New Roman" pitchFamily="18" charset="0"/>
                <a:ea typeface="Microsoft Sans Serif" panose="020B0604020202020204" pitchFamily="34" charset="0"/>
                <a:cs typeface="Times New Roman" pitchFamily="18" charset="0"/>
              </a:rPr>
              <a:t> The first work which is now recognized as AI was done by Warren McCulloch and Walter pits in 1943. They proposed a model of </a:t>
            </a:r>
            <a:r>
              <a:rPr lang="en-US" sz="1900" b="1" dirty="0">
                <a:latin typeface="Times New Roman" pitchFamily="18" charset="0"/>
                <a:ea typeface="Microsoft Sans Serif" panose="020B0604020202020204" pitchFamily="34" charset="0"/>
                <a:cs typeface="Times New Roman" pitchFamily="18" charset="0"/>
              </a:rPr>
              <a:t>artificial neurons</a:t>
            </a:r>
            <a:r>
              <a:rPr lang="en-US" sz="1900" dirty="0">
                <a:latin typeface="Times New Roman" pitchFamily="18" charset="0"/>
                <a:ea typeface="Microsoft Sans Serif" panose="020B0604020202020204" pitchFamily="34" charset="0"/>
                <a:cs typeface="Times New Roman" pitchFamily="18" charset="0"/>
              </a:rPr>
              <a:t>.</a:t>
            </a:r>
          </a:p>
          <a:p>
            <a:pPr algn="just">
              <a:lnSpc>
                <a:spcPct val="120000"/>
              </a:lnSpc>
              <a:buFont typeface="Wingdings" pitchFamily="2" charset="2"/>
              <a:buChar char="v"/>
            </a:pPr>
            <a:r>
              <a:rPr lang="en-US" sz="1900" b="1" dirty="0">
                <a:latin typeface="Times New Roman" pitchFamily="18" charset="0"/>
                <a:ea typeface="Microsoft Sans Serif" panose="020B0604020202020204" pitchFamily="34" charset="0"/>
                <a:cs typeface="Times New Roman" pitchFamily="18" charset="0"/>
              </a:rPr>
              <a:t>Year 1949:</a:t>
            </a:r>
            <a:r>
              <a:rPr lang="en-US" sz="1900" dirty="0">
                <a:latin typeface="Times New Roman" pitchFamily="18" charset="0"/>
                <a:ea typeface="Microsoft Sans Serif" panose="020B0604020202020204" pitchFamily="34" charset="0"/>
                <a:cs typeface="Times New Roman" pitchFamily="18" charset="0"/>
              </a:rPr>
              <a:t> Donald Hebb demonstrated an updating rule for modifying the connection strength between neurons. His rule is now called </a:t>
            </a:r>
            <a:r>
              <a:rPr lang="en-US" sz="1900" b="1" dirty="0" err="1">
                <a:latin typeface="Times New Roman" pitchFamily="18" charset="0"/>
                <a:ea typeface="Microsoft Sans Serif" panose="020B0604020202020204" pitchFamily="34" charset="0"/>
                <a:cs typeface="Times New Roman" pitchFamily="18" charset="0"/>
              </a:rPr>
              <a:t>Hebbian</a:t>
            </a:r>
            <a:r>
              <a:rPr lang="en-US" sz="1900" b="1" dirty="0">
                <a:latin typeface="Times New Roman" pitchFamily="18" charset="0"/>
                <a:ea typeface="Microsoft Sans Serif" panose="020B0604020202020204" pitchFamily="34" charset="0"/>
                <a:cs typeface="Times New Roman" pitchFamily="18" charset="0"/>
              </a:rPr>
              <a:t> learning</a:t>
            </a:r>
            <a:r>
              <a:rPr lang="en-US" sz="1900" dirty="0">
                <a:latin typeface="Times New Roman" pitchFamily="18" charset="0"/>
                <a:ea typeface="Microsoft Sans Serif" panose="020B0604020202020204" pitchFamily="34" charset="0"/>
                <a:cs typeface="Times New Roman" pitchFamily="18" charset="0"/>
              </a:rPr>
              <a:t>.</a:t>
            </a:r>
          </a:p>
          <a:p>
            <a:pPr algn="just">
              <a:lnSpc>
                <a:spcPct val="120000"/>
              </a:lnSpc>
              <a:buFont typeface="Wingdings" pitchFamily="2" charset="2"/>
              <a:buChar char="v"/>
            </a:pPr>
            <a:r>
              <a:rPr lang="en-US" sz="1900" b="1" dirty="0">
                <a:latin typeface="Times New Roman" pitchFamily="18" charset="0"/>
                <a:ea typeface="Microsoft Sans Serif" panose="020B0604020202020204" pitchFamily="34" charset="0"/>
                <a:cs typeface="Times New Roman" pitchFamily="18" charset="0"/>
              </a:rPr>
              <a:t>Year 1950:</a:t>
            </a:r>
            <a:r>
              <a:rPr lang="en-US" sz="1900" dirty="0">
                <a:latin typeface="Times New Roman" pitchFamily="18" charset="0"/>
                <a:ea typeface="Microsoft Sans Serif" panose="020B0604020202020204" pitchFamily="34" charset="0"/>
                <a:cs typeface="Times New Roman" pitchFamily="18" charset="0"/>
              </a:rPr>
              <a:t> The Alan Turing who was an English mathematician and pioneered Machine learning in 1950. Alan Turing publishes </a:t>
            </a:r>
            <a:r>
              <a:rPr lang="en-US" sz="1900" b="1" dirty="0">
                <a:latin typeface="Times New Roman" pitchFamily="18" charset="0"/>
                <a:ea typeface="Microsoft Sans Serif" panose="020B0604020202020204" pitchFamily="34" charset="0"/>
                <a:cs typeface="Times New Roman" pitchFamily="18" charset="0"/>
              </a:rPr>
              <a:t>"Computing Machinery and Intelligence"</a:t>
            </a:r>
            <a:r>
              <a:rPr lang="en-US" sz="1900" dirty="0">
                <a:latin typeface="Times New Roman" pitchFamily="18" charset="0"/>
                <a:ea typeface="Microsoft Sans Serif" panose="020B0604020202020204" pitchFamily="34" charset="0"/>
                <a:cs typeface="Times New Roman" pitchFamily="18" charset="0"/>
              </a:rPr>
              <a:t> in which he proposed a test. The test can check the machine's ability to exhibit intelligent behavior equivalent to human intelligence, called a </a:t>
            </a:r>
            <a:r>
              <a:rPr lang="en-US" sz="1900" b="1" dirty="0">
                <a:latin typeface="Times New Roman" pitchFamily="18" charset="0"/>
                <a:ea typeface="Microsoft Sans Serif" panose="020B0604020202020204" pitchFamily="34" charset="0"/>
                <a:cs typeface="Times New Roman" pitchFamily="18" charset="0"/>
              </a:rPr>
              <a:t>Turing </a:t>
            </a:r>
            <a:r>
              <a:rPr lang="en-US" sz="1900" b="1" dirty="0" smtClean="0">
                <a:latin typeface="Times New Roman" pitchFamily="18" charset="0"/>
                <a:ea typeface="Microsoft Sans Serif" panose="020B0604020202020204" pitchFamily="34" charset="0"/>
                <a:cs typeface="Times New Roman" pitchFamily="18" charset="0"/>
              </a:rPr>
              <a:t>test</a:t>
            </a:r>
            <a:r>
              <a:rPr lang="en-US" sz="1900" dirty="0" smtClean="0">
                <a:latin typeface="Times New Roman" pitchFamily="18" charset="0"/>
                <a:ea typeface="Microsoft Sans Serif" panose="020B0604020202020204" pitchFamily="34" charset="0"/>
                <a:cs typeface="Times New Roman" pitchFamily="18" charset="0"/>
              </a:rPr>
              <a:t>.</a:t>
            </a:r>
          </a:p>
          <a:p>
            <a:pPr marL="0" indent="0" algn="just">
              <a:lnSpc>
                <a:spcPct val="120000"/>
              </a:lnSpc>
              <a:buNone/>
            </a:pPr>
            <a:r>
              <a:rPr lang="en-US" sz="1900" dirty="0" smtClean="0">
                <a:solidFill>
                  <a:srgbClr val="00B050"/>
                </a:solidFill>
                <a:latin typeface="Times New Roman" pitchFamily="18" charset="0"/>
                <a:ea typeface="Microsoft Sans Serif" panose="020B0604020202020204" pitchFamily="34" charset="0"/>
                <a:cs typeface="Times New Roman" pitchFamily="18" charset="0"/>
              </a:rPr>
              <a:t>The </a:t>
            </a:r>
            <a:r>
              <a:rPr lang="en-US" sz="1900" dirty="0">
                <a:solidFill>
                  <a:srgbClr val="00B050"/>
                </a:solidFill>
                <a:latin typeface="Times New Roman" pitchFamily="18" charset="0"/>
                <a:ea typeface="Microsoft Sans Serif" panose="020B0604020202020204" pitchFamily="34" charset="0"/>
                <a:cs typeface="Times New Roman" pitchFamily="18" charset="0"/>
              </a:rPr>
              <a:t>birth of Artificial Intelligence (1952-1956)</a:t>
            </a:r>
          </a:p>
          <a:p>
            <a:pPr algn="just">
              <a:lnSpc>
                <a:spcPct val="120000"/>
              </a:lnSpc>
              <a:buFont typeface="Wingdings" pitchFamily="2" charset="2"/>
              <a:buChar char="v"/>
            </a:pPr>
            <a:r>
              <a:rPr lang="en-US" sz="1900" b="1" dirty="0">
                <a:latin typeface="Times New Roman" pitchFamily="18" charset="0"/>
                <a:ea typeface="Microsoft Sans Serif" panose="020B0604020202020204" pitchFamily="34" charset="0"/>
                <a:cs typeface="Times New Roman" pitchFamily="18" charset="0"/>
              </a:rPr>
              <a:t>Year 1955:</a:t>
            </a:r>
            <a:r>
              <a:rPr lang="en-US" sz="1900" dirty="0">
                <a:latin typeface="Times New Roman" pitchFamily="18" charset="0"/>
                <a:ea typeface="Microsoft Sans Serif" panose="020B0604020202020204" pitchFamily="34" charset="0"/>
                <a:cs typeface="Times New Roman" pitchFamily="18" charset="0"/>
              </a:rPr>
              <a:t> </a:t>
            </a:r>
            <a:r>
              <a:rPr lang="en-US" sz="1900" dirty="0" smtClean="0">
                <a:latin typeface="Times New Roman" pitchFamily="18" charset="0"/>
                <a:ea typeface="Microsoft Sans Serif" panose="020B0604020202020204" pitchFamily="34" charset="0"/>
                <a:cs typeface="Times New Roman" pitchFamily="18" charset="0"/>
              </a:rPr>
              <a:t>Allen </a:t>
            </a:r>
            <a:r>
              <a:rPr lang="en-US" sz="1900" dirty="0">
                <a:latin typeface="Times New Roman" pitchFamily="18" charset="0"/>
                <a:ea typeface="Microsoft Sans Serif" panose="020B0604020202020204" pitchFamily="34" charset="0"/>
                <a:cs typeface="Times New Roman" pitchFamily="18" charset="0"/>
              </a:rPr>
              <a:t>Newell and Herbert A. Simon created the "</a:t>
            </a:r>
            <a:r>
              <a:rPr lang="en-US" sz="1900" b="1" dirty="0">
                <a:latin typeface="Times New Roman" pitchFamily="18" charset="0"/>
                <a:ea typeface="Microsoft Sans Serif" panose="020B0604020202020204" pitchFamily="34" charset="0"/>
                <a:cs typeface="Times New Roman" pitchFamily="18" charset="0"/>
              </a:rPr>
              <a:t>first artificial intelligence </a:t>
            </a:r>
            <a:r>
              <a:rPr lang="en-US" sz="1900" b="1" dirty="0" smtClean="0">
                <a:latin typeface="Times New Roman" pitchFamily="18" charset="0"/>
                <a:ea typeface="Microsoft Sans Serif" panose="020B0604020202020204" pitchFamily="34" charset="0"/>
                <a:cs typeface="Times New Roman" pitchFamily="18" charset="0"/>
              </a:rPr>
              <a:t>program </a:t>
            </a:r>
            <a:r>
              <a:rPr lang="en-US" sz="1900" dirty="0" smtClean="0">
                <a:latin typeface="Times New Roman" pitchFamily="18" charset="0"/>
                <a:ea typeface="Microsoft Sans Serif" panose="020B0604020202020204" pitchFamily="34" charset="0"/>
                <a:cs typeface="Times New Roman" pitchFamily="18" charset="0"/>
              </a:rPr>
              <a:t>“ Which </a:t>
            </a:r>
            <a:r>
              <a:rPr lang="en-US" sz="1900" dirty="0">
                <a:latin typeface="Times New Roman" pitchFamily="18" charset="0"/>
                <a:ea typeface="Microsoft Sans Serif" panose="020B0604020202020204" pitchFamily="34" charset="0"/>
                <a:cs typeface="Times New Roman" pitchFamily="18" charset="0"/>
              </a:rPr>
              <a:t>was named as </a:t>
            </a:r>
            <a:r>
              <a:rPr lang="en-US" sz="1900" b="1" dirty="0">
                <a:latin typeface="Times New Roman" pitchFamily="18" charset="0"/>
                <a:ea typeface="Microsoft Sans Serif" panose="020B0604020202020204" pitchFamily="34" charset="0"/>
                <a:cs typeface="Times New Roman" pitchFamily="18" charset="0"/>
              </a:rPr>
              <a:t>"Logic Theorist"</a:t>
            </a:r>
            <a:r>
              <a:rPr lang="en-US" sz="1900" dirty="0">
                <a:latin typeface="Times New Roman" pitchFamily="18" charset="0"/>
                <a:ea typeface="Microsoft Sans Serif" panose="020B0604020202020204" pitchFamily="34" charset="0"/>
                <a:cs typeface="Times New Roman" pitchFamily="18" charset="0"/>
              </a:rPr>
              <a:t>. This program had proved 38 of 52 Mathematics theorems, and find new and more elegant proofs for some theorems.</a:t>
            </a:r>
          </a:p>
          <a:p>
            <a:pPr algn="just">
              <a:lnSpc>
                <a:spcPct val="120000"/>
              </a:lnSpc>
              <a:buFont typeface="Wingdings" pitchFamily="2" charset="2"/>
              <a:buChar char="v"/>
            </a:pPr>
            <a:r>
              <a:rPr lang="en-US" sz="1900" b="1" dirty="0">
                <a:latin typeface="Times New Roman" pitchFamily="18" charset="0"/>
                <a:ea typeface="Microsoft Sans Serif" panose="020B0604020202020204" pitchFamily="34" charset="0"/>
                <a:cs typeface="Times New Roman" pitchFamily="18" charset="0"/>
              </a:rPr>
              <a:t>Year 1956:</a:t>
            </a:r>
            <a:r>
              <a:rPr lang="en-US" sz="1900" dirty="0">
                <a:latin typeface="Times New Roman" pitchFamily="18" charset="0"/>
                <a:ea typeface="Microsoft Sans Serif" panose="020B0604020202020204" pitchFamily="34" charset="0"/>
                <a:cs typeface="Times New Roman" pitchFamily="18" charset="0"/>
              </a:rPr>
              <a:t> The word "</a:t>
            </a:r>
            <a:r>
              <a:rPr lang="en-US" sz="1900" b="1" dirty="0">
                <a:latin typeface="Times New Roman" pitchFamily="18" charset="0"/>
                <a:ea typeface="Microsoft Sans Serif" panose="020B0604020202020204" pitchFamily="34" charset="0"/>
                <a:cs typeface="Times New Roman" pitchFamily="18" charset="0"/>
              </a:rPr>
              <a:t>Artificial Intelligence</a:t>
            </a:r>
            <a:r>
              <a:rPr lang="en-US" sz="1900" dirty="0">
                <a:latin typeface="Times New Roman" pitchFamily="18" charset="0"/>
                <a:ea typeface="Microsoft Sans Serif" panose="020B0604020202020204" pitchFamily="34" charset="0"/>
                <a:cs typeface="Times New Roman" pitchFamily="18" charset="0"/>
              </a:rPr>
              <a:t>" first adopted by American Computer scientist John McCarthy at the Dartmouth Conference. </a:t>
            </a:r>
          </a:p>
          <a:p>
            <a:pPr algn="just">
              <a:lnSpc>
                <a:spcPct val="120000"/>
              </a:lnSpc>
              <a:buFont typeface="Wingdings" pitchFamily="2" charset="2"/>
              <a:buChar char="v"/>
            </a:pPr>
            <a:r>
              <a:rPr lang="en-US" sz="1900" dirty="0" smtClean="0">
                <a:latin typeface="Times New Roman" pitchFamily="18" charset="0"/>
                <a:ea typeface="Microsoft Sans Serif" panose="020B0604020202020204" pitchFamily="34" charset="0"/>
                <a:cs typeface="Times New Roman" pitchFamily="18" charset="0"/>
              </a:rPr>
              <a:t>At that time high-level computer languages su</a:t>
            </a:r>
            <a:r>
              <a:rPr lang="en-US" sz="2000" dirty="0" smtClean="0">
                <a:latin typeface="Times New Roman" pitchFamily="18" charset="0"/>
                <a:ea typeface="Microsoft Sans Serif" panose="020B0604020202020204" pitchFamily="34" charset="0"/>
                <a:cs typeface="Times New Roman" pitchFamily="18" charset="0"/>
              </a:rPr>
              <a:t>ch as FORTRAN, LISP, or COBOL were invented. And the enthusiasm for AI was very high at that time.</a:t>
            </a:r>
          </a:p>
          <a:p>
            <a:pPr algn="just">
              <a:lnSpc>
                <a:spcPct val="120000"/>
              </a:lnSpc>
            </a:pPr>
            <a:endParaRPr lang="en-US" sz="20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val="1015836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131" y="248194"/>
            <a:ext cx="11547566" cy="6532167"/>
          </a:xfrm>
        </p:spPr>
        <p:txBody>
          <a:bodyPr>
            <a:normAutofit/>
          </a:bodyPr>
          <a:lstStyle/>
          <a:p>
            <a:pPr marL="0" indent="0" algn="just">
              <a:lnSpc>
                <a:spcPct val="100000"/>
              </a:lnSpc>
              <a:buNone/>
            </a:pPr>
            <a:r>
              <a:rPr lang="en-US" sz="2200" dirty="0" smtClean="0">
                <a:solidFill>
                  <a:srgbClr val="00B050"/>
                </a:solidFill>
                <a:latin typeface="Times New Roman" pitchFamily="18" charset="0"/>
                <a:ea typeface="Microsoft Sans Serif" panose="020B0604020202020204" pitchFamily="34" charset="0"/>
                <a:cs typeface="Times New Roman" pitchFamily="18" charset="0"/>
              </a:rPr>
              <a:t>The </a:t>
            </a:r>
            <a:r>
              <a:rPr lang="en-US" sz="2200" dirty="0">
                <a:solidFill>
                  <a:srgbClr val="00B050"/>
                </a:solidFill>
                <a:latin typeface="Times New Roman" pitchFamily="18" charset="0"/>
                <a:ea typeface="Microsoft Sans Serif" panose="020B0604020202020204" pitchFamily="34" charset="0"/>
                <a:cs typeface="Times New Roman" pitchFamily="18" charset="0"/>
              </a:rPr>
              <a:t>golden years-Early enthusiasm (1956-1974)</a:t>
            </a:r>
          </a:p>
          <a:p>
            <a:pPr algn="just">
              <a:lnSpc>
                <a:spcPct val="100000"/>
              </a:lnSpc>
              <a:buFont typeface="Wingdings" pitchFamily="2" charset="2"/>
              <a:buChar char="v"/>
            </a:pPr>
            <a:r>
              <a:rPr lang="en-US" sz="2000" b="1" dirty="0">
                <a:latin typeface="Times New Roman" pitchFamily="18" charset="0"/>
                <a:ea typeface="Microsoft Sans Serif" panose="020B0604020202020204" pitchFamily="34" charset="0"/>
                <a:cs typeface="Times New Roman" pitchFamily="18" charset="0"/>
              </a:rPr>
              <a:t>Year 1966:</a:t>
            </a:r>
            <a:r>
              <a:rPr lang="en-US" sz="2000" dirty="0">
                <a:latin typeface="Times New Roman" pitchFamily="18" charset="0"/>
                <a:ea typeface="Microsoft Sans Serif" panose="020B0604020202020204" pitchFamily="34" charset="0"/>
                <a:cs typeface="Times New Roman" pitchFamily="18" charset="0"/>
              </a:rPr>
              <a:t> The researchers emphasized developing algorithms which can solve mathematical problems. Joseph Weizenbaum created the first chatbot in 1966, which was named as </a:t>
            </a:r>
            <a:r>
              <a:rPr lang="en-US" sz="2000" b="1" dirty="0">
                <a:latin typeface="Times New Roman" pitchFamily="18" charset="0"/>
                <a:ea typeface="Microsoft Sans Serif" panose="020B0604020202020204" pitchFamily="34" charset="0"/>
                <a:cs typeface="Times New Roman" pitchFamily="18" charset="0"/>
              </a:rPr>
              <a:t>ELIZA</a:t>
            </a:r>
            <a:r>
              <a:rPr lang="en-US" sz="2000" dirty="0">
                <a:latin typeface="Times New Roman" pitchFamily="18" charset="0"/>
                <a:ea typeface="Microsoft Sans Serif" panose="020B0604020202020204" pitchFamily="34" charset="0"/>
                <a:cs typeface="Times New Roman" pitchFamily="18" charset="0"/>
              </a:rPr>
              <a:t>.</a:t>
            </a:r>
          </a:p>
          <a:p>
            <a:pPr algn="just">
              <a:lnSpc>
                <a:spcPct val="100000"/>
              </a:lnSpc>
              <a:buFont typeface="Wingdings" pitchFamily="2" charset="2"/>
              <a:buChar char="v"/>
            </a:pPr>
            <a:r>
              <a:rPr lang="en-US" sz="2000" b="1" dirty="0">
                <a:latin typeface="Times New Roman" pitchFamily="18" charset="0"/>
                <a:ea typeface="Microsoft Sans Serif" panose="020B0604020202020204" pitchFamily="34" charset="0"/>
                <a:cs typeface="Times New Roman" pitchFamily="18" charset="0"/>
              </a:rPr>
              <a:t>Year 1972:</a:t>
            </a:r>
            <a:r>
              <a:rPr lang="en-US" sz="2000" dirty="0">
                <a:latin typeface="Times New Roman" pitchFamily="18" charset="0"/>
                <a:ea typeface="Microsoft Sans Serif" panose="020B0604020202020204" pitchFamily="34" charset="0"/>
                <a:cs typeface="Times New Roman" pitchFamily="18" charset="0"/>
              </a:rPr>
              <a:t> The first intelligent humanoid robot was built in Japan which was named as </a:t>
            </a:r>
            <a:r>
              <a:rPr lang="en-US" sz="2000" b="1" dirty="0">
                <a:latin typeface="Times New Roman" pitchFamily="18" charset="0"/>
                <a:ea typeface="Microsoft Sans Serif" panose="020B0604020202020204" pitchFamily="34" charset="0"/>
                <a:cs typeface="Times New Roman" pitchFamily="18" charset="0"/>
              </a:rPr>
              <a:t>WABOT-1.</a:t>
            </a:r>
          </a:p>
          <a:p>
            <a:pPr marL="0" indent="0" algn="just">
              <a:lnSpc>
                <a:spcPct val="100000"/>
              </a:lnSpc>
              <a:buNone/>
            </a:pPr>
            <a:r>
              <a:rPr lang="en-US" sz="2000" dirty="0">
                <a:solidFill>
                  <a:srgbClr val="00B050"/>
                </a:solidFill>
                <a:latin typeface="Times New Roman" pitchFamily="18" charset="0"/>
                <a:ea typeface="Microsoft Sans Serif" panose="020B0604020202020204" pitchFamily="34" charset="0"/>
                <a:cs typeface="Times New Roman" pitchFamily="18" charset="0"/>
              </a:rPr>
              <a:t>The first AI winter (1974-1980)</a:t>
            </a:r>
          </a:p>
          <a:p>
            <a:pPr algn="just">
              <a:lnSpc>
                <a:spcPct val="10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The duration between years 1974 to 1980 was the first AI winter duration. </a:t>
            </a:r>
            <a:endParaRPr lang="en-US" sz="20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AI </a:t>
            </a:r>
            <a:r>
              <a:rPr lang="en-US" sz="2000" dirty="0">
                <a:latin typeface="Times New Roman" pitchFamily="18" charset="0"/>
                <a:ea typeface="Microsoft Sans Serif" panose="020B0604020202020204" pitchFamily="34" charset="0"/>
                <a:cs typeface="Times New Roman" pitchFamily="18" charset="0"/>
              </a:rPr>
              <a:t>winter refers to the time period where computer scientist dealt with a severe shortage of funding from government for AI researches.</a:t>
            </a:r>
          </a:p>
          <a:p>
            <a:pPr algn="just">
              <a:lnSpc>
                <a:spcPct val="10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During AI winters, an interest of publicity on artificial intelligence was decreased</a:t>
            </a:r>
            <a:r>
              <a:rPr lang="en-US" sz="2000" dirty="0" smtClean="0">
                <a:latin typeface="Times New Roman" pitchFamily="18" charset="0"/>
                <a:ea typeface="Microsoft Sans Serif" panose="020B0604020202020204" pitchFamily="34" charset="0"/>
                <a:cs typeface="Times New Roman" pitchFamily="18" charset="0"/>
              </a:rPr>
              <a:t>.</a:t>
            </a:r>
            <a:endParaRPr lang="en-US" sz="2000" dirty="0">
              <a:latin typeface="Times New Roman" pitchFamily="18" charset="0"/>
              <a:ea typeface="Microsoft Sans Serif" panose="020B0604020202020204" pitchFamily="34" charset="0"/>
              <a:cs typeface="Times New Roman" pitchFamily="18" charset="0"/>
            </a:endParaRPr>
          </a:p>
          <a:p>
            <a:pPr marL="0" indent="0">
              <a:lnSpc>
                <a:spcPct val="100000"/>
              </a:lnSpc>
              <a:buNone/>
            </a:pPr>
            <a:r>
              <a:rPr lang="en-US" sz="2000" dirty="0" smtClean="0">
                <a:solidFill>
                  <a:srgbClr val="00B050"/>
                </a:solidFill>
                <a:latin typeface="Times New Roman" pitchFamily="18" charset="0"/>
                <a:ea typeface="Microsoft Sans Serif" panose="020B0604020202020204" pitchFamily="34" charset="0"/>
                <a:cs typeface="Times New Roman" pitchFamily="18" charset="0"/>
              </a:rPr>
              <a:t>Boom </a:t>
            </a:r>
            <a:r>
              <a:rPr lang="en-US" sz="2000" dirty="0">
                <a:solidFill>
                  <a:srgbClr val="00B050"/>
                </a:solidFill>
                <a:latin typeface="Times New Roman" pitchFamily="18" charset="0"/>
                <a:ea typeface="Microsoft Sans Serif" panose="020B0604020202020204" pitchFamily="34" charset="0"/>
                <a:cs typeface="Times New Roman" pitchFamily="18" charset="0"/>
              </a:rPr>
              <a:t>of AI (1980-1987)</a:t>
            </a:r>
          </a:p>
          <a:p>
            <a:pPr algn="just">
              <a:lnSpc>
                <a:spcPct val="100000"/>
              </a:lnSpc>
              <a:buFont typeface="Wingdings" pitchFamily="2" charset="2"/>
              <a:buChar char="v"/>
            </a:pPr>
            <a:r>
              <a:rPr lang="en-US" sz="2000" b="1" dirty="0">
                <a:latin typeface="Times New Roman" pitchFamily="18" charset="0"/>
                <a:ea typeface="Microsoft Sans Serif" panose="020B0604020202020204" pitchFamily="34" charset="0"/>
                <a:cs typeface="Times New Roman" pitchFamily="18" charset="0"/>
              </a:rPr>
              <a:t>Year 1980:</a:t>
            </a:r>
            <a:r>
              <a:rPr lang="en-US" sz="2000" dirty="0">
                <a:latin typeface="Times New Roman" pitchFamily="18" charset="0"/>
                <a:ea typeface="Microsoft Sans Serif" panose="020B0604020202020204" pitchFamily="34" charset="0"/>
                <a:cs typeface="Times New Roman" pitchFamily="18" charset="0"/>
              </a:rPr>
              <a:t> After AI winter duration, AI came back with "</a:t>
            </a:r>
            <a:r>
              <a:rPr lang="en-US" sz="2000" b="1" dirty="0">
                <a:latin typeface="Times New Roman" pitchFamily="18" charset="0"/>
                <a:ea typeface="Microsoft Sans Serif" panose="020B0604020202020204" pitchFamily="34" charset="0"/>
                <a:cs typeface="Times New Roman" pitchFamily="18" charset="0"/>
              </a:rPr>
              <a:t>Expert System</a:t>
            </a:r>
            <a:r>
              <a:rPr lang="en-US" sz="2000" dirty="0">
                <a:latin typeface="Times New Roman" pitchFamily="18" charset="0"/>
                <a:ea typeface="Microsoft Sans Serif" panose="020B0604020202020204" pitchFamily="34" charset="0"/>
                <a:cs typeface="Times New Roman" pitchFamily="18" charset="0"/>
              </a:rPr>
              <a:t>". Expert systems were programmed that emulate the decision-making ability of a human expert.</a:t>
            </a:r>
          </a:p>
          <a:p>
            <a:pPr algn="just">
              <a:lnSpc>
                <a:spcPct val="10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In the Year 1980, the first </a:t>
            </a:r>
            <a:r>
              <a:rPr lang="en-US" sz="2000" b="1" dirty="0">
                <a:latin typeface="Times New Roman" pitchFamily="18" charset="0"/>
                <a:ea typeface="Microsoft Sans Serif" panose="020B0604020202020204" pitchFamily="34" charset="0"/>
                <a:cs typeface="Times New Roman" pitchFamily="18" charset="0"/>
              </a:rPr>
              <a:t>national conference </a:t>
            </a:r>
            <a:r>
              <a:rPr lang="en-US" sz="2000" dirty="0">
                <a:latin typeface="Times New Roman" pitchFamily="18" charset="0"/>
                <a:ea typeface="Microsoft Sans Serif" panose="020B0604020202020204" pitchFamily="34" charset="0"/>
                <a:cs typeface="Times New Roman" pitchFamily="18" charset="0"/>
              </a:rPr>
              <a:t>of the American Association of Artificial Intelligence was held </a:t>
            </a:r>
            <a:r>
              <a:rPr lang="en-US" sz="2000" b="1" dirty="0">
                <a:latin typeface="Times New Roman" pitchFamily="18" charset="0"/>
                <a:ea typeface="Microsoft Sans Serif" panose="020B0604020202020204" pitchFamily="34" charset="0"/>
                <a:cs typeface="Times New Roman" pitchFamily="18" charset="0"/>
              </a:rPr>
              <a:t>at Stanford University</a:t>
            </a:r>
            <a:r>
              <a:rPr lang="en-US" sz="2000" dirty="0" smtClean="0">
                <a:latin typeface="Times New Roman" pitchFamily="18" charset="0"/>
                <a:cs typeface="Times New Roman" pitchFamily="18" charset="0"/>
              </a:rPr>
              <a:t>.</a:t>
            </a:r>
          </a:p>
          <a:p>
            <a:pPr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For the first time, AI coined as an academic field.</a:t>
            </a:r>
            <a:endParaRPr lang="en-US" sz="2000" dirty="0" smtClean="0">
              <a:solidFill>
                <a:schemeClr val="accent4"/>
              </a:solidFill>
              <a:latin typeface="Times New Roman" pitchFamily="18" charset="0"/>
              <a:ea typeface="Microsoft Sans Serif" panose="020B0604020202020204" pitchFamily="34" charset="0"/>
              <a:cs typeface="Times New Roman" pitchFamily="18" charset="0"/>
            </a:endParaRPr>
          </a:p>
          <a:p>
            <a:pPr algn="just">
              <a:lnSpc>
                <a:spcPct val="100000"/>
              </a:lnSpc>
              <a:buNone/>
            </a:pPr>
            <a:endParaRPr lang="en-US" sz="2400" dirty="0">
              <a:latin typeface="Times New Roman" pitchFamily="18" charset="0"/>
              <a:cs typeface="Times New Roman" pitchFamily="18" charset="0"/>
            </a:endParaRPr>
          </a:p>
          <a:p>
            <a:pPr marL="0" indent="0" algn="just">
              <a:lnSpc>
                <a:spcPct val="120000"/>
              </a:lnSpc>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IN" sz="2400" dirty="0"/>
          </a:p>
        </p:txBody>
      </p:sp>
    </p:spTree>
    <p:extLst>
      <p:ext uri="{BB962C8B-B14F-4D97-AF65-F5344CB8AC3E}">
        <p14:creationId xmlns:p14="http://schemas.microsoft.com/office/powerpoint/2010/main" val="5102859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83" y="378823"/>
            <a:ext cx="11469188" cy="6332528"/>
          </a:xfrm>
        </p:spPr>
        <p:txBody>
          <a:bodyPr>
            <a:normAutofit/>
          </a:bodyPr>
          <a:lstStyle/>
          <a:p>
            <a:pPr marL="0" indent="0" algn="just">
              <a:buNone/>
            </a:pPr>
            <a:r>
              <a:rPr lang="en-US" sz="2000" dirty="0" smtClean="0">
                <a:solidFill>
                  <a:srgbClr val="00B050"/>
                </a:solidFill>
                <a:latin typeface="Times New Roman" pitchFamily="18" charset="0"/>
                <a:ea typeface="Microsoft Sans Serif" panose="020B0604020202020204" pitchFamily="34" charset="0"/>
                <a:cs typeface="Times New Roman" pitchFamily="18" charset="0"/>
              </a:rPr>
              <a:t>The </a:t>
            </a:r>
            <a:r>
              <a:rPr lang="en-US" sz="2000" dirty="0">
                <a:solidFill>
                  <a:srgbClr val="00B050"/>
                </a:solidFill>
                <a:latin typeface="Times New Roman" pitchFamily="18" charset="0"/>
                <a:ea typeface="Microsoft Sans Serif" panose="020B0604020202020204" pitchFamily="34" charset="0"/>
                <a:cs typeface="Times New Roman" pitchFamily="18" charset="0"/>
              </a:rPr>
              <a:t>second AI winter (1987-1993)</a:t>
            </a:r>
          </a:p>
          <a:p>
            <a:pPr algn="just">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The duration between the years 1987 to 1993 was the second AI Winter duration.</a:t>
            </a:r>
          </a:p>
          <a:p>
            <a:pPr algn="just">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Again Investors and government stopped in funding for AI research as due to high cost but not efficient result. </a:t>
            </a:r>
            <a:endParaRPr lang="en-US" sz="2000" dirty="0" smtClean="0">
              <a:latin typeface="Times New Roman" pitchFamily="18" charset="0"/>
              <a:ea typeface="Microsoft Sans Serif" panose="020B0604020202020204" pitchFamily="34" charset="0"/>
              <a:cs typeface="Times New Roman" pitchFamily="18" charset="0"/>
            </a:endParaRPr>
          </a:p>
          <a:p>
            <a:pPr algn="just">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The </a:t>
            </a:r>
            <a:r>
              <a:rPr lang="en-US" sz="2000" dirty="0">
                <a:latin typeface="Times New Roman" pitchFamily="18" charset="0"/>
                <a:ea typeface="Microsoft Sans Serif" panose="020B0604020202020204" pitchFamily="34" charset="0"/>
                <a:cs typeface="Times New Roman" pitchFamily="18" charset="0"/>
              </a:rPr>
              <a:t>expert system such as XCON was very cost effective.</a:t>
            </a:r>
          </a:p>
          <a:p>
            <a:pPr marL="0" indent="0" algn="just">
              <a:buNone/>
            </a:pPr>
            <a:r>
              <a:rPr lang="en-US" sz="2000" dirty="0">
                <a:solidFill>
                  <a:srgbClr val="00B050"/>
                </a:solidFill>
                <a:latin typeface="Times New Roman" pitchFamily="18" charset="0"/>
                <a:ea typeface="Microsoft Sans Serif" panose="020B0604020202020204" pitchFamily="34" charset="0"/>
                <a:cs typeface="Times New Roman" pitchFamily="18" charset="0"/>
              </a:rPr>
              <a:t>The emergence of intelligent agents (1993-2011)</a:t>
            </a:r>
          </a:p>
          <a:p>
            <a:pPr algn="just">
              <a:buFont typeface="Wingdings" pitchFamily="2" charset="2"/>
              <a:buChar char="v"/>
            </a:pPr>
            <a:r>
              <a:rPr lang="en-US" sz="2000" b="1" dirty="0">
                <a:latin typeface="Times New Roman" pitchFamily="18" charset="0"/>
                <a:ea typeface="Microsoft Sans Serif" panose="020B0604020202020204" pitchFamily="34" charset="0"/>
                <a:cs typeface="Times New Roman" pitchFamily="18" charset="0"/>
              </a:rPr>
              <a:t>Year 1997:</a:t>
            </a:r>
            <a:r>
              <a:rPr lang="en-US" sz="2000" dirty="0">
                <a:latin typeface="Times New Roman" pitchFamily="18" charset="0"/>
                <a:ea typeface="Microsoft Sans Serif" panose="020B0604020202020204" pitchFamily="34" charset="0"/>
                <a:cs typeface="Times New Roman" pitchFamily="18" charset="0"/>
              </a:rPr>
              <a:t> In the year 1997, </a:t>
            </a:r>
            <a:r>
              <a:rPr lang="en-US" sz="2000" b="1" dirty="0">
                <a:latin typeface="Times New Roman" pitchFamily="18" charset="0"/>
                <a:ea typeface="Microsoft Sans Serif" panose="020B0604020202020204" pitchFamily="34" charset="0"/>
                <a:cs typeface="Times New Roman" pitchFamily="18" charset="0"/>
              </a:rPr>
              <a:t>IBM Deep Blue </a:t>
            </a:r>
            <a:r>
              <a:rPr lang="en-US" sz="2000" dirty="0">
                <a:latin typeface="Times New Roman" pitchFamily="18" charset="0"/>
                <a:ea typeface="Microsoft Sans Serif" panose="020B0604020202020204" pitchFamily="34" charset="0"/>
                <a:cs typeface="Times New Roman" pitchFamily="18" charset="0"/>
              </a:rPr>
              <a:t>beats world chess champion, Gary Kasparov, and became the first computer to beat a world chess champion.</a:t>
            </a:r>
          </a:p>
          <a:p>
            <a:pPr algn="just">
              <a:buFont typeface="Wingdings" pitchFamily="2" charset="2"/>
              <a:buChar char="v"/>
            </a:pPr>
            <a:r>
              <a:rPr lang="en-US" sz="2000" b="1" dirty="0">
                <a:latin typeface="Times New Roman" pitchFamily="18" charset="0"/>
                <a:ea typeface="Microsoft Sans Serif" panose="020B0604020202020204" pitchFamily="34" charset="0"/>
                <a:cs typeface="Times New Roman" pitchFamily="18" charset="0"/>
              </a:rPr>
              <a:t>Year 2002:</a:t>
            </a:r>
            <a:r>
              <a:rPr lang="en-US" sz="2000" dirty="0">
                <a:latin typeface="Times New Roman" pitchFamily="18" charset="0"/>
                <a:ea typeface="Microsoft Sans Serif" panose="020B0604020202020204" pitchFamily="34" charset="0"/>
                <a:cs typeface="Times New Roman" pitchFamily="18" charset="0"/>
              </a:rPr>
              <a:t> for the first time, </a:t>
            </a:r>
            <a:r>
              <a:rPr lang="en-US" sz="2000" b="1" dirty="0">
                <a:latin typeface="Times New Roman" pitchFamily="18" charset="0"/>
                <a:ea typeface="Microsoft Sans Serif" panose="020B0604020202020204" pitchFamily="34" charset="0"/>
                <a:cs typeface="Times New Roman" pitchFamily="18" charset="0"/>
              </a:rPr>
              <a:t>AI</a:t>
            </a:r>
            <a:r>
              <a:rPr lang="en-US" sz="2000" dirty="0">
                <a:latin typeface="Times New Roman" pitchFamily="18" charset="0"/>
                <a:ea typeface="Microsoft Sans Serif" panose="020B0604020202020204" pitchFamily="34" charset="0"/>
                <a:cs typeface="Times New Roman" pitchFamily="18" charset="0"/>
              </a:rPr>
              <a:t> entered the home in the form of Roomba, a </a:t>
            </a:r>
            <a:r>
              <a:rPr lang="en-US" sz="2000" b="1" dirty="0">
                <a:latin typeface="Times New Roman" pitchFamily="18" charset="0"/>
                <a:ea typeface="Microsoft Sans Serif" panose="020B0604020202020204" pitchFamily="34" charset="0"/>
                <a:cs typeface="Times New Roman" pitchFamily="18" charset="0"/>
              </a:rPr>
              <a:t>vacuum cleaner</a:t>
            </a:r>
            <a:r>
              <a:rPr lang="en-US" sz="2000" dirty="0">
                <a:latin typeface="Times New Roman" pitchFamily="18" charset="0"/>
                <a:ea typeface="Microsoft Sans Serif" panose="020B0604020202020204" pitchFamily="34" charset="0"/>
                <a:cs typeface="Times New Roman" pitchFamily="18" charset="0"/>
              </a:rPr>
              <a:t>.</a:t>
            </a:r>
          </a:p>
          <a:p>
            <a:pPr algn="just">
              <a:buFont typeface="Wingdings" pitchFamily="2" charset="2"/>
              <a:buChar char="v"/>
            </a:pPr>
            <a:r>
              <a:rPr lang="en-US" sz="2000" b="1" dirty="0">
                <a:latin typeface="Times New Roman" pitchFamily="18" charset="0"/>
                <a:ea typeface="Microsoft Sans Serif" panose="020B0604020202020204" pitchFamily="34" charset="0"/>
                <a:cs typeface="Times New Roman" pitchFamily="18" charset="0"/>
              </a:rPr>
              <a:t>Year 2006:</a:t>
            </a:r>
            <a:r>
              <a:rPr lang="en-US" sz="2000" dirty="0">
                <a:latin typeface="Times New Roman" pitchFamily="18" charset="0"/>
                <a:ea typeface="Microsoft Sans Serif" panose="020B0604020202020204" pitchFamily="34" charset="0"/>
                <a:cs typeface="Times New Roman" pitchFamily="18" charset="0"/>
              </a:rPr>
              <a:t> AI came in the Business world till the year 2006. </a:t>
            </a:r>
            <a:r>
              <a:rPr lang="en-US" sz="2000" b="1" dirty="0">
                <a:latin typeface="Times New Roman" pitchFamily="18" charset="0"/>
                <a:ea typeface="Microsoft Sans Serif" panose="020B0604020202020204" pitchFamily="34" charset="0"/>
                <a:cs typeface="Times New Roman" pitchFamily="18" charset="0"/>
              </a:rPr>
              <a:t>Companies</a:t>
            </a:r>
            <a:r>
              <a:rPr lang="en-US" sz="2000" dirty="0">
                <a:latin typeface="Times New Roman" pitchFamily="18" charset="0"/>
                <a:ea typeface="Microsoft Sans Serif" panose="020B0604020202020204" pitchFamily="34" charset="0"/>
                <a:cs typeface="Times New Roman" pitchFamily="18" charset="0"/>
              </a:rPr>
              <a:t> like Facebook, Twitter, and Netflix also started </a:t>
            </a:r>
            <a:r>
              <a:rPr lang="en-US" sz="2000" b="1" dirty="0">
                <a:latin typeface="Times New Roman" pitchFamily="18" charset="0"/>
                <a:ea typeface="Microsoft Sans Serif" panose="020B0604020202020204" pitchFamily="34" charset="0"/>
                <a:cs typeface="Times New Roman" pitchFamily="18" charset="0"/>
              </a:rPr>
              <a:t>using AI</a:t>
            </a:r>
            <a:r>
              <a:rPr lang="en-US" sz="2000" b="1" dirty="0" smtClean="0">
                <a:latin typeface="Times New Roman" pitchFamily="18" charset="0"/>
                <a:ea typeface="Microsoft Sans Serif" panose="020B0604020202020204" pitchFamily="34" charset="0"/>
                <a:cs typeface="Times New Roman" pitchFamily="18" charset="0"/>
              </a:rPr>
              <a:t>.</a:t>
            </a:r>
          </a:p>
          <a:p>
            <a:pPr marL="0" indent="0" algn="just">
              <a:buNone/>
            </a:pPr>
            <a:r>
              <a:rPr lang="en-US" sz="2000" dirty="0">
                <a:solidFill>
                  <a:srgbClr val="00B050"/>
                </a:solidFill>
                <a:latin typeface="Times New Roman" pitchFamily="18" charset="0"/>
                <a:cs typeface="Times New Roman" pitchFamily="18" charset="0"/>
              </a:rPr>
              <a:t>Deep learning, big data and artificial general intelligence (2011-present)</a:t>
            </a:r>
          </a:p>
          <a:p>
            <a:pPr algn="just">
              <a:buFont typeface="Wingdings" pitchFamily="2" charset="2"/>
              <a:buChar char="v"/>
            </a:pPr>
            <a:r>
              <a:rPr lang="en-US" sz="2000" b="1" dirty="0">
                <a:latin typeface="Times New Roman" pitchFamily="18" charset="0"/>
                <a:cs typeface="Times New Roman" pitchFamily="18" charset="0"/>
              </a:rPr>
              <a:t>Year 2011:</a:t>
            </a:r>
            <a:r>
              <a:rPr lang="en-US" sz="2000" dirty="0">
                <a:latin typeface="Times New Roman" pitchFamily="18" charset="0"/>
                <a:cs typeface="Times New Roman" pitchFamily="18" charset="0"/>
              </a:rPr>
              <a:t> In the year 2011, IBM's Watson won jeopardy, a quiz show, where it had to solve the complex questions as well as riddles. Watson had proved that it could </a:t>
            </a:r>
            <a:r>
              <a:rPr lang="en-US" sz="2000" b="1" dirty="0">
                <a:latin typeface="Times New Roman" pitchFamily="18" charset="0"/>
                <a:cs typeface="Times New Roman" pitchFamily="18" charset="0"/>
              </a:rPr>
              <a:t>understand natural language and can solve tricky questions quickly.</a:t>
            </a:r>
          </a:p>
          <a:p>
            <a:pPr algn="just">
              <a:buFont typeface="Wingdings" pitchFamily="2" charset="2"/>
              <a:buChar char="v"/>
            </a:pPr>
            <a:r>
              <a:rPr lang="en-US" sz="2000" b="1" dirty="0">
                <a:latin typeface="Times New Roman" pitchFamily="18" charset="0"/>
                <a:cs typeface="Times New Roman" pitchFamily="18" charset="0"/>
              </a:rPr>
              <a:t>Year 2012:</a:t>
            </a:r>
            <a:r>
              <a:rPr lang="en-US" sz="2000" dirty="0">
                <a:latin typeface="Times New Roman" pitchFamily="18" charset="0"/>
                <a:cs typeface="Times New Roman" pitchFamily="18" charset="0"/>
              </a:rPr>
              <a:t> Google has launched an Android app feature "</a:t>
            </a:r>
            <a:r>
              <a:rPr lang="en-US" sz="2000" b="1" dirty="0">
                <a:latin typeface="Times New Roman" pitchFamily="18" charset="0"/>
                <a:cs typeface="Times New Roman" pitchFamily="18" charset="0"/>
              </a:rPr>
              <a:t>Google now</a:t>
            </a:r>
            <a:r>
              <a:rPr lang="en-US" sz="2000" dirty="0">
                <a:latin typeface="Times New Roman" pitchFamily="18" charset="0"/>
                <a:cs typeface="Times New Roman" pitchFamily="18" charset="0"/>
              </a:rPr>
              <a:t>", which was able to provide information to the user as a prediction.</a:t>
            </a:r>
          </a:p>
          <a:p>
            <a:pPr algn="just"/>
            <a:endPar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lgn="just">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283830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8824" y="404949"/>
            <a:ext cx="11247120" cy="6323654"/>
          </a:xfrm>
        </p:spPr>
        <p:txBody>
          <a:bodyPr>
            <a:normAutofit/>
          </a:bodyPr>
          <a:lstStyle/>
          <a:p>
            <a:r>
              <a:rPr lang="en-US" sz="2000" b="1" dirty="0" smtClean="0">
                <a:latin typeface="Times New Roman" pitchFamily="18" charset="0"/>
                <a:ea typeface="Microsoft Sans Serif" panose="020B0604020202020204" pitchFamily="34" charset="0"/>
                <a:cs typeface="Times New Roman" pitchFamily="18" charset="0"/>
              </a:rPr>
              <a:t>Year </a:t>
            </a:r>
            <a:r>
              <a:rPr lang="en-US" sz="2000" b="1" dirty="0">
                <a:latin typeface="Times New Roman" pitchFamily="18" charset="0"/>
                <a:ea typeface="Microsoft Sans Serif" panose="020B0604020202020204" pitchFamily="34" charset="0"/>
                <a:cs typeface="Times New Roman" pitchFamily="18" charset="0"/>
              </a:rPr>
              <a:t>2014:</a:t>
            </a:r>
            <a:r>
              <a:rPr lang="en-US" sz="2000" dirty="0">
                <a:latin typeface="Times New Roman" pitchFamily="18" charset="0"/>
                <a:ea typeface="Microsoft Sans Serif" panose="020B0604020202020204" pitchFamily="34" charset="0"/>
                <a:cs typeface="Times New Roman" pitchFamily="18" charset="0"/>
              </a:rPr>
              <a:t> In the year 2014, Chatbot "</a:t>
            </a:r>
            <a:r>
              <a:rPr lang="en-US" sz="2000" b="1" dirty="0">
                <a:latin typeface="Times New Roman" pitchFamily="18" charset="0"/>
                <a:ea typeface="Microsoft Sans Serif" panose="020B0604020202020204" pitchFamily="34" charset="0"/>
                <a:cs typeface="Times New Roman" pitchFamily="18" charset="0"/>
              </a:rPr>
              <a:t>Eugene </a:t>
            </a:r>
            <a:r>
              <a:rPr lang="en-US" sz="2000" b="1" dirty="0" err="1">
                <a:latin typeface="Times New Roman" pitchFamily="18" charset="0"/>
                <a:ea typeface="Microsoft Sans Serif" panose="020B0604020202020204" pitchFamily="34" charset="0"/>
                <a:cs typeface="Times New Roman" pitchFamily="18" charset="0"/>
              </a:rPr>
              <a:t>Goostman</a:t>
            </a:r>
            <a:r>
              <a:rPr lang="en-US" sz="2000" dirty="0">
                <a:latin typeface="Times New Roman" pitchFamily="18" charset="0"/>
                <a:ea typeface="Microsoft Sans Serif" panose="020B0604020202020204" pitchFamily="34" charset="0"/>
                <a:cs typeface="Times New Roman" pitchFamily="18" charset="0"/>
              </a:rPr>
              <a:t>" </a:t>
            </a:r>
            <a:r>
              <a:rPr lang="en-US" sz="2000" b="1" dirty="0">
                <a:latin typeface="Times New Roman" pitchFamily="18" charset="0"/>
                <a:ea typeface="Microsoft Sans Serif" panose="020B0604020202020204" pitchFamily="34" charset="0"/>
                <a:cs typeface="Times New Roman" pitchFamily="18" charset="0"/>
              </a:rPr>
              <a:t>won</a:t>
            </a:r>
            <a:r>
              <a:rPr lang="en-US" sz="2000" dirty="0">
                <a:latin typeface="Times New Roman" pitchFamily="18" charset="0"/>
                <a:ea typeface="Microsoft Sans Serif" panose="020B0604020202020204" pitchFamily="34" charset="0"/>
                <a:cs typeface="Times New Roman" pitchFamily="18" charset="0"/>
              </a:rPr>
              <a:t> a competition in the infamous "</a:t>
            </a:r>
            <a:r>
              <a:rPr lang="en-US" sz="2000" b="1" dirty="0">
                <a:latin typeface="Times New Roman" pitchFamily="18" charset="0"/>
                <a:ea typeface="Microsoft Sans Serif" panose="020B0604020202020204" pitchFamily="34" charset="0"/>
                <a:cs typeface="Times New Roman" pitchFamily="18" charset="0"/>
              </a:rPr>
              <a:t>Turing test</a:t>
            </a:r>
            <a:r>
              <a:rPr lang="en-US" sz="2000" dirty="0">
                <a:latin typeface="Times New Roman" pitchFamily="18" charset="0"/>
                <a:ea typeface="Microsoft Sans Serif" panose="020B0604020202020204" pitchFamily="34" charset="0"/>
                <a:cs typeface="Times New Roman" pitchFamily="18" charset="0"/>
              </a:rPr>
              <a:t>."</a:t>
            </a:r>
          </a:p>
          <a:p>
            <a:r>
              <a:rPr lang="en-US" sz="2000" b="1" dirty="0">
                <a:latin typeface="Times New Roman" pitchFamily="18" charset="0"/>
                <a:ea typeface="Microsoft Sans Serif" panose="020B0604020202020204" pitchFamily="34" charset="0"/>
                <a:cs typeface="Times New Roman" pitchFamily="18" charset="0"/>
              </a:rPr>
              <a:t>Year 2018:</a:t>
            </a:r>
            <a:r>
              <a:rPr lang="en-US" sz="2000" dirty="0">
                <a:latin typeface="Times New Roman" pitchFamily="18" charset="0"/>
                <a:ea typeface="Microsoft Sans Serif" panose="020B0604020202020204" pitchFamily="34" charset="0"/>
                <a:cs typeface="Times New Roman" pitchFamily="18" charset="0"/>
              </a:rPr>
              <a:t> The "</a:t>
            </a:r>
            <a:r>
              <a:rPr lang="en-US" sz="2000" b="1" dirty="0">
                <a:latin typeface="Times New Roman" pitchFamily="18" charset="0"/>
                <a:ea typeface="Microsoft Sans Serif" panose="020B0604020202020204" pitchFamily="34" charset="0"/>
                <a:cs typeface="Times New Roman" pitchFamily="18" charset="0"/>
              </a:rPr>
              <a:t>Project Debater</a:t>
            </a:r>
            <a:r>
              <a:rPr lang="en-US" sz="2000" dirty="0">
                <a:latin typeface="Times New Roman" pitchFamily="18" charset="0"/>
                <a:ea typeface="Microsoft Sans Serif" panose="020B0604020202020204" pitchFamily="34" charset="0"/>
                <a:cs typeface="Times New Roman" pitchFamily="18" charset="0"/>
              </a:rPr>
              <a:t>" from IBM debated on complex topics with two master debaters and also performed extremely well.</a:t>
            </a:r>
          </a:p>
          <a:p>
            <a:pPr algn="just"/>
            <a:r>
              <a:rPr lang="en-US" sz="2000" dirty="0">
                <a:latin typeface="Times New Roman" pitchFamily="18" charset="0"/>
                <a:ea typeface="Microsoft Sans Serif" panose="020B0604020202020204" pitchFamily="34" charset="0"/>
                <a:cs typeface="Times New Roman" pitchFamily="18" charset="0"/>
              </a:rPr>
              <a:t>Google has demonstrated an AI program "</a:t>
            </a:r>
            <a:r>
              <a:rPr lang="en-US" sz="2000" b="1" dirty="0">
                <a:latin typeface="Times New Roman" pitchFamily="18" charset="0"/>
                <a:ea typeface="Microsoft Sans Serif" panose="020B0604020202020204" pitchFamily="34" charset="0"/>
                <a:cs typeface="Times New Roman" pitchFamily="18" charset="0"/>
              </a:rPr>
              <a:t>Duplex</a:t>
            </a:r>
            <a:r>
              <a:rPr lang="en-US" sz="2000" dirty="0">
                <a:latin typeface="Times New Roman" pitchFamily="18" charset="0"/>
                <a:ea typeface="Microsoft Sans Serif" panose="020B0604020202020204" pitchFamily="34" charset="0"/>
                <a:cs typeface="Times New Roman" pitchFamily="18" charset="0"/>
              </a:rPr>
              <a:t>" which was a </a:t>
            </a:r>
            <a:r>
              <a:rPr lang="en-US" sz="2000" b="1" dirty="0">
                <a:latin typeface="Times New Roman" pitchFamily="18" charset="0"/>
                <a:ea typeface="Microsoft Sans Serif" panose="020B0604020202020204" pitchFamily="34" charset="0"/>
                <a:cs typeface="Times New Roman" pitchFamily="18" charset="0"/>
              </a:rPr>
              <a:t>virtual assistant </a:t>
            </a:r>
            <a:r>
              <a:rPr lang="en-US" sz="2000" dirty="0">
                <a:latin typeface="Times New Roman" pitchFamily="18" charset="0"/>
                <a:ea typeface="Microsoft Sans Serif" panose="020B0604020202020204" pitchFamily="34" charset="0"/>
                <a:cs typeface="Times New Roman" pitchFamily="18" charset="0"/>
              </a:rPr>
              <a:t>and which had taken hairdresser appointment on call, and lady on other side didn't notice that she was talking with the machine</a:t>
            </a:r>
            <a:r>
              <a:rPr lang="en-US" sz="2000" dirty="0" smtClean="0">
                <a:latin typeface="Times New Roman" pitchFamily="18" charset="0"/>
                <a:ea typeface="Microsoft Sans Serif" panose="020B0604020202020204" pitchFamily="34" charset="0"/>
                <a:cs typeface="Times New Roman" pitchFamily="18" charset="0"/>
              </a:rPr>
              <a:t>.</a:t>
            </a:r>
          </a:p>
          <a:p>
            <a:endParaRPr lang="en-US"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indent="0">
              <a:buNone/>
            </a:pPr>
            <a:endParaRPr lang="en-US" sz="2000" dirty="0">
              <a:latin typeface="Microsoft Sans Serif" panose="020B0604020202020204" charset="0"/>
              <a:cs typeface="Microsoft Sans Serif" panose="020B0604020202020204" charset="0"/>
            </a:endParaRPr>
          </a:p>
          <a:p>
            <a:pPr marL="0" indent="0">
              <a:buNone/>
            </a:pPr>
            <a:endParaRPr lang="en-IN" sz="2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9378763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948" y="117595"/>
            <a:ext cx="11508377" cy="6654141"/>
          </a:xfrm>
        </p:spPr>
        <p:txBody>
          <a:bodyPr>
            <a:normAutofit/>
          </a:bodyPr>
          <a:lstStyle/>
          <a:p>
            <a:pPr>
              <a:buNone/>
            </a:pPr>
            <a:r>
              <a:rPr lang="en-US" sz="2400" b="1" dirty="0" smtClean="0">
                <a:solidFill>
                  <a:srgbClr val="FF0000"/>
                </a:solidFill>
                <a:latin typeface="Times New Roman" pitchFamily="18" charset="0"/>
                <a:ea typeface="Microsoft Sans Serif" panose="020B0604020202020204" pitchFamily="34" charset="0"/>
                <a:cs typeface="Times New Roman" pitchFamily="18" charset="0"/>
              </a:rPr>
              <a:t>1.4 THE STATE OF THE ART</a:t>
            </a:r>
          </a:p>
          <a:p>
            <a:pPr>
              <a:buNone/>
            </a:pPr>
            <a:r>
              <a:rPr lang="en-US" sz="2000" dirty="0" smtClean="0">
                <a:latin typeface="Times New Roman" pitchFamily="18" charset="0"/>
                <a:cs typeface="Times New Roman" pitchFamily="18" charset="0"/>
              </a:rPr>
              <a:t>Following are some sectors which have the  application of Artificial Intelligence:</a:t>
            </a:r>
          </a:p>
          <a:p>
            <a:pPr marL="0" indent="0" algn="just">
              <a:buNone/>
            </a:pPr>
            <a:endParaRPr lang="en-US" sz="2000" dirty="0" smtClean="0">
              <a:latin typeface="Microsoft Sans Serif" panose="020B0604020202020204" charset="0"/>
              <a:cs typeface="Microsoft Sans Serif" panose="020B0604020202020204" charset="0"/>
            </a:endParaRPr>
          </a:p>
        </p:txBody>
      </p:sp>
      <p:pic>
        <p:nvPicPr>
          <p:cNvPr id="4" name="Content Placeholder 3"/>
          <p:cNvPicPr>
            <a:picLocks noChangeAspect="1"/>
          </p:cNvPicPr>
          <p:nvPr/>
        </p:nvPicPr>
        <p:blipFill>
          <a:blip r:embed="rId2"/>
          <a:stretch>
            <a:fillRect/>
          </a:stretch>
        </p:blipFill>
        <p:spPr>
          <a:xfrm>
            <a:off x="5878286" y="1136469"/>
            <a:ext cx="6020744" cy="5381897"/>
          </a:xfrm>
          <a:prstGeom prst="rect">
            <a:avLst/>
          </a:prstGeom>
        </p:spPr>
      </p:pic>
      <p:sp>
        <p:nvSpPr>
          <p:cNvPr id="5" name="TextBox 4"/>
          <p:cNvSpPr txBox="1"/>
          <p:nvPr/>
        </p:nvSpPr>
        <p:spPr>
          <a:xfrm>
            <a:off x="496389" y="1188720"/>
            <a:ext cx="5238205" cy="5632311"/>
          </a:xfrm>
          <a:prstGeom prst="rect">
            <a:avLst/>
          </a:prstGeom>
          <a:noFill/>
        </p:spPr>
        <p:txBody>
          <a:bodyPr wrap="square" rtlCol="0">
            <a:spAutoFit/>
          </a:bodyPr>
          <a:lstStyle/>
          <a:p>
            <a:pPr algn="just">
              <a:lnSpc>
                <a:spcPct val="150000"/>
              </a:lnSpc>
            </a:pPr>
            <a:r>
              <a:rPr lang="en-US" dirty="0" smtClean="0">
                <a:solidFill>
                  <a:srgbClr val="00B050"/>
                </a:solidFill>
                <a:latin typeface="Times New Roman" pitchFamily="18" charset="0"/>
                <a:cs typeface="Times New Roman" pitchFamily="18" charset="0"/>
              </a:rPr>
              <a:t>1</a:t>
            </a:r>
            <a:r>
              <a:rPr lang="en-US" sz="1900" dirty="0" smtClean="0">
                <a:solidFill>
                  <a:srgbClr val="00B050"/>
                </a:solidFill>
                <a:latin typeface="Times New Roman" pitchFamily="18" charset="0"/>
                <a:cs typeface="Times New Roman" pitchFamily="18" charset="0"/>
              </a:rPr>
              <a:t>. AI in Astronomy</a:t>
            </a:r>
          </a:p>
          <a:p>
            <a:pPr algn="just">
              <a:lnSpc>
                <a:spcPct val="150000"/>
              </a:lnSpc>
              <a:buFont typeface="Wingdings" pitchFamily="2" charset="2"/>
              <a:buChar char="v"/>
            </a:pPr>
            <a:r>
              <a:rPr lang="en-US" sz="1900" dirty="0" smtClean="0">
                <a:latin typeface="Times New Roman" pitchFamily="18" charset="0"/>
                <a:cs typeface="Times New Roman" pitchFamily="18" charset="0"/>
              </a:rPr>
              <a:t>Artificial Intelligence can be very useful to solve complex universe problems. </a:t>
            </a:r>
          </a:p>
          <a:p>
            <a:pPr algn="just">
              <a:lnSpc>
                <a:spcPct val="150000"/>
              </a:lnSpc>
              <a:buFont typeface="Wingdings" pitchFamily="2" charset="2"/>
              <a:buChar char="v"/>
            </a:pPr>
            <a:r>
              <a:rPr lang="en-US" sz="1900" dirty="0" smtClean="0">
                <a:latin typeface="Times New Roman" pitchFamily="18" charset="0"/>
                <a:cs typeface="Times New Roman" pitchFamily="18" charset="0"/>
              </a:rPr>
              <a:t>AI technology can be helpful for understanding the universe such as how it works, origin, etc.</a:t>
            </a:r>
          </a:p>
          <a:p>
            <a:pPr algn="just">
              <a:lnSpc>
                <a:spcPct val="150000"/>
              </a:lnSpc>
            </a:pPr>
            <a:endParaRPr lang="en-US" sz="1900" dirty="0" smtClean="0">
              <a:latin typeface="Times New Roman" pitchFamily="18" charset="0"/>
              <a:cs typeface="Times New Roman" pitchFamily="18" charset="0"/>
            </a:endParaRPr>
          </a:p>
          <a:p>
            <a:pPr algn="just">
              <a:lnSpc>
                <a:spcPct val="150000"/>
              </a:lnSpc>
            </a:pPr>
            <a:r>
              <a:rPr lang="en-US" sz="1900" dirty="0" smtClean="0">
                <a:solidFill>
                  <a:srgbClr val="00B050"/>
                </a:solidFill>
                <a:latin typeface="Times New Roman" pitchFamily="18" charset="0"/>
                <a:cs typeface="Times New Roman" pitchFamily="18" charset="0"/>
              </a:rPr>
              <a:t>2. AI in Healthcare</a:t>
            </a:r>
          </a:p>
          <a:p>
            <a:pPr algn="just">
              <a:lnSpc>
                <a:spcPct val="150000"/>
              </a:lnSpc>
              <a:buFont typeface="Wingdings" pitchFamily="2" charset="2"/>
              <a:buChar char="v"/>
            </a:pPr>
            <a:r>
              <a:rPr lang="en-US" sz="1900" dirty="0" smtClean="0">
                <a:latin typeface="Times New Roman" pitchFamily="18" charset="0"/>
                <a:cs typeface="Times New Roman" pitchFamily="18" charset="0"/>
              </a:rPr>
              <a:t>Healthcare Industries are applying AI to make a better and faster diagnosis than humans.</a:t>
            </a:r>
          </a:p>
          <a:p>
            <a:pPr algn="just">
              <a:lnSpc>
                <a:spcPct val="150000"/>
              </a:lnSpc>
              <a:buFont typeface="Wingdings" pitchFamily="2" charset="2"/>
              <a:buChar char="v"/>
            </a:pPr>
            <a:r>
              <a:rPr lang="en-US" sz="1900" dirty="0" smtClean="0">
                <a:latin typeface="Times New Roman" pitchFamily="18" charset="0"/>
                <a:cs typeface="Times New Roman" pitchFamily="18" charset="0"/>
              </a:rPr>
              <a:t>AI can help doctors with diagnoses and can inform when patients are worsening so that medical help can reach to the patient before hospitalization.</a:t>
            </a:r>
          </a:p>
          <a:p>
            <a:endParaRPr lang="en-US" dirty="0"/>
          </a:p>
        </p:txBody>
      </p:sp>
    </p:spTree>
    <p:extLst>
      <p:ext uri="{BB962C8B-B14F-4D97-AF65-F5344CB8AC3E}">
        <p14:creationId xmlns:p14="http://schemas.microsoft.com/office/powerpoint/2010/main" val="23014877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570" y="209007"/>
            <a:ext cx="11612881" cy="6348548"/>
          </a:xfrm>
        </p:spPr>
        <p:txBody>
          <a:bodyPr>
            <a:noAutofit/>
          </a:bodyPr>
          <a:lstStyle/>
          <a:p>
            <a:pPr marL="0" indent="0" algn="just">
              <a:buNone/>
            </a:pPr>
            <a:r>
              <a:rPr lang="en-US" sz="2000" dirty="0" smtClean="0">
                <a:solidFill>
                  <a:srgbClr val="00B050"/>
                </a:solidFill>
                <a:latin typeface="Times New Roman" pitchFamily="18" charset="0"/>
                <a:cs typeface="Times New Roman" pitchFamily="18" charset="0"/>
              </a:rPr>
              <a:t>3</a:t>
            </a:r>
            <a:r>
              <a:rPr lang="en-US" sz="1950" dirty="0" smtClean="0">
                <a:solidFill>
                  <a:srgbClr val="00B050"/>
                </a:solidFill>
                <a:latin typeface="Times New Roman" pitchFamily="18" charset="0"/>
                <a:cs typeface="Times New Roman" pitchFamily="18" charset="0"/>
              </a:rPr>
              <a:t>. AI in Gaming</a:t>
            </a:r>
          </a:p>
          <a:p>
            <a:pPr marL="0" indent="0" algn="just">
              <a:buFont typeface="Wingdings" pitchFamily="2" charset="2"/>
              <a:buChar char="v"/>
            </a:pPr>
            <a:r>
              <a:rPr lang="en-US" sz="1950" dirty="0" smtClean="0">
                <a:latin typeface="Times New Roman" pitchFamily="18" charset="0"/>
                <a:cs typeface="Times New Roman" pitchFamily="18" charset="0"/>
              </a:rPr>
              <a:t>The AI machines can play strategic games like chess, where the machine needs to think of a large number of possible places.</a:t>
            </a:r>
          </a:p>
          <a:p>
            <a:pPr marL="0" indent="0" algn="just">
              <a:buFont typeface="Wingdings" pitchFamily="2" charset="2"/>
              <a:buChar char="v"/>
            </a:pPr>
            <a:r>
              <a:rPr lang="en-US" sz="1950" dirty="0" smtClean="0">
                <a:latin typeface="Times New Roman" pitchFamily="18" charset="0"/>
                <a:ea typeface="Microsoft Sans Serif" panose="020B0604020202020204" pitchFamily="34" charset="0"/>
                <a:cs typeface="Times New Roman" pitchFamily="18" charset="0"/>
              </a:rPr>
              <a:t>IBM’s DEEP BLUE became the first computer program to defeat the world champion in a chess match when it bested Garry Kasparov by a score of 3.5 to 2.5 in an exhibition match (Goodman and Keene, 1997). </a:t>
            </a:r>
          </a:p>
          <a:p>
            <a:pPr marL="0" indent="0" algn="just">
              <a:lnSpc>
                <a:spcPct val="100000"/>
              </a:lnSpc>
              <a:buNone/>
            </a:pPr>
            <a:r>
              <a:rPr lang="en-US" sz="1950" dirty="0" smtClean="0">
                <a:solidFill>
                  <a:srgbClr val="00B050"/>
                </a:solidFill>
                <a:latin typeface="Times New Roman" pitchFamily="18" charset="0"/>
                <a:cs typeface="Times New Roman" pitchFamily="18" charset="0"/>
              </a:rPr>
              <a:t>4. AI in Finance</a:t>
            </a:r>
          </a:p>
          <a:p>
            <a:pPr marL="0" indent="0" algn="just">
              <a:lnSpc>
                <a:spcPct val="100000"/>
              </a:lnSpc>
              <a:buFont typeface="Wingdings" pitchFamily="2" charset="2"/>
              <a:buChar char="v"/>
            </a:pPr>
            <a:r>
              <a:rPr lang="en-US" sz="1950" dirty="0" smtClean="0">
                <a:latin typeface="Times New Roman" pitchFamily="18" charset="0"/>
                <a:cs typeface="Times New Roman" pitchFamily="18" charset="0"/>
              </a:rPr>
              <a:t> The finance industry is implementing automation, </a:t>
            </a:r>
            <a:r>
              <a:rPr lang="en-US" sz="1950" dirty="0" err="1" smtClean="0">
                <a:latin typeface="Times New Roman" pitchFamily="18" charset="0"/>
                <a:cs typeface="Times New Roman" pitchFamily="18" charset="0"/>
              </a:rPr>
              <a:t>chatbot</a:t>
            </a:r>
            <a:r>
              <a:rPr lang="en-US" sz="1950" dirty="0" smtClean="0">
                <a:latin typeface="Times New Roman" pitchFamily="18" charset="0"/>
                <a:cs typeface="Times New Roman" pitchFamily="18" charset="0"/>
              </a:rPr>
              <a:t>, adaptive intelligence, algorithm trading, and machine learning into financial processes.</a:t>
            </a:r>
            <a:endParaRPr lang="en-US" sz="1950" dirty="0" smtClean="0">
              <a:latin typeface="Times New Roman" pitchFamily="18" charset="0"/>
              <a:cs typeface="Times New Roman" pitchFamily="18" charset="0"/>
              <a:sym typeface="+mn-ea"/>
            </a:endParaRPr>
          </a:p>
          <a:p>
            <a:pPr marL="0" indent="0" algn="just">
              <a:lnSpc>
                <a:spcPct val="100000"/>
              </a:lnSpc>
              <a:buNone/>
            </a:pPr>
            <a:r>
              <a:rPr lang="en-US" sz="1950" dirty="0" smtClean="0">
                <a:solidFill>
                  <a:srgbClr val="00B050"/>
                </a:solidFill>
                <a:latin typeface="Times New Roman" pitchFamily="18" charset="0"/>
                <a:cs typeface="Times New Roman" pitchFamily="18" charset="0"/>
                <a:sym typeface="+mn-ea"/>
              </a:rPr>
              <a:t>5. AI in Data Security</a:t>
            </a:r>
            <a:endParaRPr lang="en-US" sz="1950" dirty="0" smtClean="0">
              <a:solidFill>
                <a:srgbClr val="00B050"/>
              </a:solidFill>
              <a:latin typeface="Times New Roman" pitchFamily="18" charset="0"/>
              <a:cs typeface="Times New Roman" pitchFamily="18" charset="0"/>
            </a:endParaRPr>
          </a:p>
          <a:p>
            <a:pPr marL="0" indent="0" algn="just">
              <a:lnSpc>
                <a:spcPct val="100000"/>
              </a:lnSpc>
              <a:buFont typeface="Wingdings" pitchFamily="2" charset="2"/>
              <a:buChar char="v"/>
            </a:pPr>
            <a:r>
              <a:rPr lang="en-US" sz="1950" dirty="0" smtClean="0">
                <a:latin typeface="Times New Roman" pitchFamily="18" charset="0"/>
                <a:cs typeface="Times New Roman" pitchFamily="18" charset="0"/>
                <a:sym typeface="+mn-ea"/>
              </a:rPr>
              <a:t>Cyber-attacks are growing very rapidly in the digital world. AI can be used to make the data more safe and secure. </a:t>
            </a:r>
          </a:p>
          <a:p>
            <a:pPr marL="0" indent="0" algn="just">
              <a:lnSpc>
                <a:spcPct val="100000"/>
              </a:lnSpc>
              <a:buFont typeface="Wingdings" pitchFamily="2" charset="2"/>
              <a:buChar char="v"/>
            </a:pPr>
            <a:r>
              <a:rPr lang="en-US" sz="1950" dirty="0" smtClean="0">
                <a:latin typeface="Times New Roman" pitchFamily="18" charset="0"/>
                <a:cs typeface="Times New Roman" pitchFamily="18" charset="0"/>
                <a:sym typeface="+mn-ea"/>
              </a:rPr>
              <a:t>Some examples such as AEG </a:t>
            </a:r>
            <a:r>
              <a:rPr lang="en-US" sz="1950" dirty="0" err="1" smtClean="0">
                <a:latin typeface="Times New Roman" pitchFamily="18" charset="0"/>
                <a:cs typeface="Times New Roman" pitchFamily="18" charset="0"/>
                <a:sym typeface="+mn-ea"/>
              </a:rPr>
              <a:t>bot</a:t>
            </a:r>
            <a:r>
              <a:rPr lang="en-US" sz="1950" dirty="0" smtClean="0">
                <a:latin typeface="Times New Roman" pitchFamily="18" charset="0"/>
                <a:cs typeface="Times New Roman" pitchFamily="18" charset="0"/>
                <a:sym typeface="+mn-ea"/>
              </a:rPr>
              <a:t>, AI2 Platform, are used to determine software bug and cyber-attacks in a better way.</a:t>
            </a:r>
          </a:p>
          <a:p>
            <a:pPr marL="0" indent="0" algn="just">
              <a:lnSpc>
                <a:spcPct val="100000"/>
              </a:lnSpc>
              <a:buNone/>
            </a:pPr>
            <a:r>
              <a:rPr lang="en-US" sz="1950" dirty="0" smtClean="0">
                <a:solidFill>
                  <a:srgbClr val="00B050"/>
                </a:solidFill>
                <a:latin typeface="Times New Roman" pitchFamily="18" charset="0"/>
                <a:cs typeface="Times New Roman" pitchFamily="18" charset="0"/>
              </a:rPr>
              <a:t>6. AI in Social Media</a:t>
            </a:r>
          </a:p>
          <a:p>
            <a:pPr marL="0" indent="0" algn="just">
              <a:lnSpc>
                <a:spcPct val="100000"/>
              </a:lnSpc>
              <a:buFont typeface="Wingdings" pitchFamily="2" charset="2"/>
              <a:buChar char="v"/>
            </a:pPr>
            <a:r>
              <a:rPr lang="en-US" sz="1950" dirty="0" smtClean="0">
                <a:latin typeface="Times New Roman" pitchFamily="18" charset="0"/>
                <a:cs typeface="Times New Roman" pitchFamily="18" charset="0"/>
              </a:rPr>
              <a:t>Social Media sites such as </a:t>
            </a:r>
            <a:r>
              <a:rPr lang="en-US" sz="1950" dirty="0" err="1" smtClean="0">
                <a:latin typeface="Times New Roman" pitchFamily="18" charset="0"/>
                <a:cs typeface="Times New Roman" pitchFamily="18" charset="0"/>
              </a:rPr>
              <a:t>Facebook</a:t>
            </a:r>
            <a:r>
              <a:rPr lang="en-US" sz="1950" dirty="0" smtClean="0">
                <a:latin typeface="Times New Roman" pitchFamily="18" charset="0"/>
                <a:cs typeface="Times New Roman" pitchFamily="18" charset="0"/>
              </a:rPr>
              <a:t>, Twitter, and </a:t>
            </a:r>
            <a:r>
              <a:rPr lang="en-US" sz="1950" dirty="0" err="1" smtClean="0">
                <a:latin typeface="Times New Roman" pitchFamily="18" charset="0"/>
                <a:cs typeface="Times New Roman" pitchFamily="18" charset="0"/>
              </a:rPr>
              <a:t>Snapchat</a:t>
            </a:r>
            <a:r>
              <a:rPr lang="en-US" sz="1950" dirty="0" smtClean="0">
                <a:latin typeface="Times New Roman" pitchFamily="18" charset="0"/>
                <a:cs typeface="Times New Roman" pitchFamily="18" charset="0"/>
              </a:rPr>
              <a:t> contain billions of user profiles, which need to be stored and managed in a very efficient way. </a:t>
            </a:r>
          </a:p>
          <a:p>
            <a:pPr marL="0" indent="0" algn="just">
              <a:lnSpc>
                <a:spcPct val="100000"/>
              </a:lnSpc>
              <a:buFont typeface="Wingdings" pitchFamily="2" charset="2"/>
              <a:buChar char="v"/>
            </a:pPr>
            <a:r>
              <a:rPr lang="en-US" sz="1950" dirty="0" smtClean="0">
                <a:latin typeface="Times New Roman" pitchFamily="18" charset="0"/>
                <a:cs typeface="Times New Roman" pitchFamily="18" charset="0"/>
              </a:rPr>
              <a:t>AI can organize and manage massive amounts</a:t>
            </a:r>
            <a:r>
              <a:rPr lang="en-US" sz="2000" dirty="0" smtClean="0">
                <a:latin typeface="Times New Roman" pitchFamily="18" charset="0"/>
                <a:cs typeface="Times New Roman" pitchFamily="18" charset="0"/>
              </a:rPr>
              <a:t> of data. AI can analyze lots of data to identify the latest trends, </a:t>
            </a:r>
            <a:r>
              <a:rPr lang="en-US" sz="2000" dirty="0" err="1" smtClean="0">
                <a:latin typeface="Times New Roman" pitchFamily="18" charset="0"/>
                <a:cs typeface="Times New Roman" pitchFamily="18" charset="0"/>
              </a:rPr>
              <a:t>hashtag</a:t>
            </a:r>
            <a:r>
              <a:rPr lang="en-US" sz="2000" dirty="0" smtClean="0">
                <a:latin typeface="Times New Roman" pitchFamily="18" charset="0"/>
                <a:cs typeface="Times New Roman" pitchFamily="18" charset="0"/>
              </a:rPr>
              <a:t>, and requirement of different users.</a:t>
            </a:r>
          </a:p>
          <a:p>
            <a:pPr marL="0" indent="0" algn="just">
              <a:lnSpc>
                <a:spcPct val="100000"/>
              </a:lnSpc>
              <a:buNone/>
            </a:pPr>
            <a:endParaRPr lang="en-US" sz="2000" dirty="0" smtClean="0">
              <a:latin typeface="Times New Roman" pitchFamily="18" charset="0"/>
              <a:cs typeface="Times New Roman" pitchFamily="18" charset="0"/>
            </a:endParaRPr>
          </a:p>
          <a:p>
            <a:pPr marL="0" indent="0">
              <a:lnSpc>
                <a:spcPct val="100000"/>
              </a:lnSpc>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7163399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235132"/>
            <a:ext cx="11599817" cy="6622868"/>
          </a:xfrm>
        </p:spPr>
        <p:txBody>
          <a:bodyPr>
            <a:noAutofit/>
          </a:bodyPr>
          <a:lstStyle/>
          <a:p>
            <a:pPr marL="0" indent="0" algn="just">
              <a:lnSpc>
                <a:spcPct val="100000"/>
              </a:lnSpc>
              <a:buNone/>
            </a:pPr>
            <a:r>
              <a:rPr lang="en-US" sz="1900" dirty="0">
                <a:solidFill>
                  <a:srgbClr val="00B050"/>
                </a:solidFill>
                <a:latin typeface="Times New Roman" pitchFamily="18" charset="0"/>
                <a:ea typeface="Microsoft Sans Serif" panose="020B0604020202020204" pitchFamily="34" charset="0"/>
                <a:cs typeface="Times New Roman" pitchFamily="18" charset="0"/>
              </a:rPr>
              <a:t>8. AI in Automotive Industry</a:t>
            </a:r>
          </a:p>
          <a:p>
            <a:pPr marL="0" indent="0" algn="just">
              <a:lnSpc>
                <a:spcPct val="100000"/>
              </a:lnSpc>
              <a:buFont typeface="Wingdings" pitchFamily="2" charset="2"/>
              <a:buChar char="v"/>
            </a:pPr>
            <a:r>
              <a:rPr lang="en-US" sz="1900" dirty="0">
                <a:latin typeface="Times New Roman" pitchFamily="18" charset="0"/>
                <a:ea typeface="Microsoft Sans Serif" panose="020B0604020202020204" pitchFamily="34" charset="0"/>
                <a:cs typeface="Times New Roman" pitchFamily="18" charset="0"/>
              </a:rPr>
              <a:t>Some Automotive industries are using AI to provide virtual assistant to their user for better performance. Such as Tesla has introduced </a:t>
            </a:r>
            <a:r>
              <a:rPr lang="en-US" sz="1900" dirty="0" err="1">
                <a:latin typeface="Times New Roman" pitchFamily="18" charset="0"/>
                <a:ea typeface="Microsoft Sans Serif" panose="020B0604020202020204" pitchFamily="34" charset="0"/>
                <a:cs typeface="Times New Roman" pitchFamily="18" charset="0"/>
              </a:rPr>
              <a:t>TeslaBot</a:t>
            </a:r>
            <a:r>
              <a:rPr lang="en-US" sz="1900" dirty="0">
                <a:latin typeface="Times New Roman" pitchFamily="18" charset="0"/>
                <a:ea typeface="Microsoft Sans Serif" panose="020B0604020202020204" pitchFamily="34" charset="0"/>
                <a:cs typeface="Times New Roman" pitchFamily="18" charset="0"/>
              </a:rPr>
              <a:t>, an intelligent virtual assistant.</a:t>
            </a:r>
          </a:p>
          <a:p>
            <a:pPr marL="0" indent="0" algn="just">
              <a:lnSpc>
                <a:spcPct val="100000"/>
              </a:lnSpc>
              <a:buFont typeface="Wingdings" pitchFamily="2" charset="2"/>
              <a:buChar char="v"/>
            </a:pPr>
            <a:r>
              <a:rPr lang="en-US" sz="1900" dirty="0">
                <a:latin typeface="Times New Roman" pitchFamily="18" charset="0"/>
                <a:ea typeface="Microsoft Sans Serif" panose="020B0604020202020204" pitchFamily="34" charset="0"/>
                <a:cs typeface="Times New Roman" pitchFamily="18" charset="0"/>
              </a:rPr>
              <a:t>Various Industries are currently working for developing self-driven cars which can make </a:t>
            </a:r>
            <a:r>
              <a:rPr lang="en-US" sz="1900" dirty="0" smtClean="0">
                <a:latin typeface="Times New Roman" pitchFamily="18" charset="0"/>
                <a:ea typeface="Microsoft Sans Serif" panose="020B0604020202020204" pitchFamily="34" charset="0"/>
                <a:cs typeface="Times New Roman" pitchFamily="18" charset="0"/>
              </a:rPr>
              <a:t>the </a:t>
            </a:r>
            <a:r>
              <a:rPr lang="en-US" sz="1900" dirty="0">
                <a:latin typeface="Times New Roman" pitchFamily="18" charset="0"/>
                <a:ea typeface="Microsoft Sans Serif" panose="020B0604020202020204" pitchFamily="34" charset="0"/>
                <a:cs typeface="Times New Roman" pitchFamily="18" charset="0"/>
              </a:rPr>
              <a:t>journey more safe and secure.</a:t>
            </a:r>
          </a:p>
          <a:p>
            <a:pPr marL="0" indent="0" algn="just">
              <a:lnSpc>
                <a:spcPct val="100000"/>
              </a:lnSpc>
              <a:buNone/>
            </a:pPr>
            <a:r>
              <a:rPr lang="en-US" sz="1900" dirty="0" smtClean="0">
                <a:solidFill>
                  <a:srgbClr val="00B050"/>
                </a:solidFill>
                <a:latin typeface="Times New Roman" pitchFamily="18" charset="0"/>
                <a:ea typeface="Microsoft Sans Serif" panose="020B0604020202020204" pitchFamily="34" charset="0"/>
                <a:cs typeface="Times New Roman" pitchFamily="18" charset="0"/>
              </a:rPr>
              <a:t>9</a:t>
            </a:r>
            <a:r>
              <a:rPr lang="en-US" sz="1900" dirty="0">
                <a:solidFill>
                  <a:srgbClr val="00B050"/>
                </a:solidFill>
                <a:latin typeface="Times New Roman" pitchFamily="18" charset="0"/>
                <a:ea typeface="Microsoft Sans Serif" panose="020B0604020202020204" pitchFamily="34" charset="0"/>
                <a:cs typeface="Times New Roman" pitchFamily="18" charset="0"/>
              </a:rPr>
              <a:t>. AI in Robotics</a:t>
            </a:r>
            <a:r>
              <a:rPr lang="en-US" sz="1900" dirty="0">
                <a:latin typeface="Times New Roman" pitchFamily="18" charset="0"/>
                <a:ea typeface="Microsoft Sans Serif" panose="020B0604020202020204" pitchFamily="34" charset="0"/>
                <a:cs typeface="Times New Roman" pitchFamily="18" charset="0"/>
              </a:rPr>
              <a:t>:</a:t>
            </a:r>
          </a:p>
          <a:p>
            <a:pPr marL="0" indent="0" algn="just">
              <a:lnSpc>
                <a:spcPct val="100000"/>
              </a:lnSpc>
              <a:buFont typeface="Wingdings" pitchFamily="2" charset="2"/>
              <a:buChar char="v"/>
            </a:pPr>
            <a:r>
              <a:rPr lang="en-US" sz="1900" dirty="0" smtClean="0">
                <a:latin typeface="Times New Roman" pitchFamily="18" charset="0"/>
                <a:ea typeface="Microsoft Sans Serif" panose="020B0604020202020204" pitchFamily="34" charset="0"/>
                <a:cs typeface="Times New Roman" pitchFamily="18" charset="0"/>
              </a:rPr>
              <a:t>Usually</a:t>
            </a:r>
            <a:r>
              <a:rPr lang="en-US" sz="1900" dirty="0">
                <a:latin typeface="Times New Roman" pitchFamily="18" charset="0"/>
                <a:ea typeface="Microsoft Sans Serif" panose="020B0604020202020204" pitchFamily="34" charset="0"/>
                <a:cs typeface="Times New Roman" pitchFamily="18" charset="0"/>
              </a:rPr>
              <a:t>, general robots are programmed such that they can perform some repetitive task, but with the help of AI, we can create intelligent robots which can perform tasks with their own experiences without pre-programmed.</a:t>
            </a:r>
          </a:p>
          <a:p>
            <a:pPr marL="0" indent="0" algn="just">
              <a:lnSpc>
                <a:spcPct val="100000"/>
              </a:lnSpc>
              <a:buFont typeface="Wingdings" pitchFamily="2" charset="2"/>
              <a:buChar char="v"/>
            </a:pPr>
            <a:r>
              <a:rPr lang="en-US" sz="1900" dirty="0">
                <a:latin typeface="Times New Roman" pitchFamily="18" charset="0"/>
                <a:ea typeface="Microsoft Sans Serif" panose="020B0604020202020204" pitchFamily="34" charset="0"/>
                <a:cs typeface="Times New Roman" pitchFamily="18" charset="0"/>
              </a:rPr>
              <a:t>Humanoid Robots are best examples for AI in robotics, recently the intelligent Humanoid robot named as Erica and Sophia has been developed which can talk and behave like humans</a:t>
            </a:r>
            <a:r>
              <a:rPr lang="en-US" sz="19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Font typeface="Wingdings" pitchFamily="2" charset="2"/>
              <a:buChar char="v"/>
            </a:pPr>
            <a:r>
              <a:rPr lang="en-US" sz="1900" dirty="0">
                <a:latin typeface="Times New Roman" pitchFamily="18" charset="0"/>
                <a:ea typeface="Microsoft Sans Serif" panose="020B0604020202020204" pitchFamily="34" charset="0"/>
                <a:cs typeface="Times New Roman" pitchFamily="18" charset="0"/>
              </a:rPr>
              <a:t>The iRobot Corporation has sold over two million Roomba robotic vacuum cleaners for home use. </a:t>
            </a:r>
            <a:endParaRPr lang="en-US" sz="19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1900" dirty="0" smtClean="0">
                <a:solidFill>
                  <a:srgbClr val="00B050"/>
                </a:solidFill>
                <a:latin typeface="Times New Roman" pitchFamily="18" charset="0"/>
                <a:cs typeface="Times New Roman" pitchFamily="18" charset="0"/>
              </a:rPr>
              <a:t>10</a:t>
            </a:r>
            <a:r>
              <a:rPr lang="en-US" sz="1900" dirty="0">
                <a:solidFill>
                  <a:srgbClr val="00B050"/>
                </a:solidFill>
                <a:latin typeface="Times New Roman" pitchFamily="18" charset="0"/>
                <a:cs typeface="Times New Roman" pitchFamily="18" charset="0"/>
              </a:rPr>
              <a:t>. AI in Entertainment</a:t>
            </a:r>
          </a:p>
          <a:p>
            <a:pPr marL="0" indent="0" algn="just">
              <a:lnSpc>
                <a:spcPct val="100000"/>
              </a:lnSpc>
              <a:buFont typeface="Wingdings" pitchFamily="2" charset="2"/>
              <a:buChar char="v"/>
            </a:pPr>
            <a:r>
              <a:rPr lang="en-US" sz="1900" dirty="0">
                <a:latin typeface="Times New Roman" pitchFamily="18" charset="0"/>
                <a:cs typeface="Times New Roman" pitchFamily="18" charset="0"/>
              </a:rPr>
              <a:t>We are currently using some AI based applications in our daily life with some entertainment services such as Netflix or Amazon. With the help of ML/AI algorithms, these services show the recommendations for programs or </a:t>
            </a:r>
            <a:r>
              <a:rPr lang="en-US" sz="1900" dirty="0" smtClean="0">
                <a:latin typeface="Times New Roman" pitchFamily="18" charset="0"/>
                <a:cs typeface="Times New Roman" pitchFamily="18" charset="0"/>
              </a:rPr>
              <a:t>shows.</a:t>
            </a:r>
          </a:p>
          <a:p>
            <a:pPr marL="0" indent="0" algn="just">
              <a:lnSpc>
                <a:spcPct val="100000"/>
              </a:lnSpc>
              <a:buNone/>
            </a:pPr>
            <a:r>
              <a:rPr lang="en-US" sz="1900" dirty="0" smtClean="0">
                <a:solidFill>
                  <a:srgbClr val="00B050"/>
                </a:solidFill>
                <a:latin typeface="Times New Roman" pitchFamily="18" charset="0"/>
                <a:cs typeface="Times New Roman" pitchFamily="18" charset="0"/>
              </a:rPr>
              <a:t>11. AI in Agriculture</a:t>
            </a:r>
          </a:p>
          <a:p>
            <a:pPr marL="0" indent="0" algn="just">
              <a:lnSpc>
                <a:spcPct val="100000"/>
              </a:lnSpc>
              <a:buFont typeface="Wingdings" pitchFamily="2" charset="2"/>
              <a:buChar char="v"/>
            </a:pPr>
            <a:r>
              <a:rPr lang="en-US" sz="1900" dirty="0" smtClean="0">
                <a:latin typeface="Times New Roman" pitchFamily="18" charset="0"/>
                <a:cs typeface="Times New Roman" pitchFamily="18" charset="0"/>
              </a:rPr>
              <a:t>Agriculture is an area which requires various resources, labor, money, and time for best result. Now a day's agriculture is becoming digital, and AI is emerging in this field. </a:t>
            </a:r>
          </a:p>
        </p:txBody>
      </p:sp>
    </p:spTree>
    <p:extLst>
      <p:ext uri="{BB962C8B-B14F-4D97-AF65-F5344CB8AC3E}">
        <p14:creationId xmlns:p14="http://schemas.microsoft.com/office/powerpoint/2010/main" val="26544618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384" y="457200"/>
            <a:ext cx="11560628" cy="6100354"/>
          </a:xfrm>
        </p:spPr>
        <p:txBody>
          <a:bodyPr>
            <a:normAutofit fontScale="92500"/>
          </a:bodyPr>
          <a:lstStyle/>
          <a:p>
            <a:pPr marL="0" indent="0" algn="just">
              <a:lnSpc>
                <a:spcPct val="100000"/>
              </a:lnSpc>
              <a:buFont typeface="Wingdings" pitchFamily="2" charset="2"/>
              <a:buChar char="v"/>
            </a:pPr>
            <a:r>
              <a:rPr lang="en-US" sz="2000" dirty="0" smtClean="0">
                <a:latin typeface="Times New Roman" pitchFamily="18" charset="0"/>
                <a:cs typeface="Times New Roman" pitchFamily="18" charset="0"/>
              </a:rPr>
              <a:t>Agriculture is applying AI as agriculture robotics, solid and crop monitoring, predictive analysis. </a:t>
            </a:r>
            <a:endParaRPr lang="en-US" sz="2000" dirty="0" smtClean="0">
              <a:solidFill>
                <a:srgbClr val="00B050"/>
              </a:solidFill>
              <a:latin typeface="Times New Roman" pitchFamily="18" charset="0"/>
              <a:cs typeface="Times New Roman" pitchFamily="18" charset="0"/>
              <a:sym typeface="+mn-ea"/>
            </a:endParaRPr>
          </a:p>
          <a:p>
            <a:pPr marL="0" indent="0" algn="just">
              <a:lnSpc>
                <a:spcPct val="100000"/>
              </a:lnSpc>
              <a:buNone/>
            </a:pPr>
            <a:r>
              <a:rPr lang="en-US" sz="2000" dirty="0" smtClean="0">
                <a:solidFill>
                  <a:srgbClr val="00B050"/>
                </a:solidFill>
                <a:latin typeface="Times New Roman" pitchFamily="18" charset="0"/>
                <a:cs typeface="Times New Roman" pitchFamily="18" charset="0"/>
                <a:sym typeface="+mn-ea"/>
              </a:rPr>
              <a:t>12</a:t>
            </a:r>
            <a:r>
              <a:rPr lang="en-US" sz="2000" dirty="0">
                <a:solidFill>
                  <a:srgbClr val="00B050"/>
                </a:solidFill>
                <a:latin typeface="Times New Roman" pitchFamily="18" charset="0"/>
                <a:cs typeface="Times New Roman" pitchFamily="18" charset="0"/>
                <a:sym typeface="+mn-ea"/>
              </a:rPr>
              <a:t>. AI in E-commerce</a:t>
            </a:r>
            <a:endParaRPr lang="en-US" sz="2000" dirty="0">
              <a:solidFill>
                <a:srgbClr val="00B050"/>
              </a:solidFill>
              <a:latin typeface="Times New Roman" pitchFamily="18" charset="0"/>
              <a:cs typeface="Times New Roman" pitchFamily="18" charset="0"/>
            </a:endParaRPr>
          </a:p>
          <a:p>
            <a:pPr marL="0" indent="0" algn="just">
              <a:lnSpc>
                <a:spcPct val="100000"/>
              </a:lnSpc>
              <a:buFont typeface="Wingdings" pitchFamily="2" charset="2"/>
              <a:buChar char="v"/>
            </a:pPr>
            <a:r>
              <a:rPr lang="en-US" sz="2000" dirty="0" smtClean="0">
                <a:latin typeface="Times New Roman" pitchFamily="18" charset="0"/>
                <a:cs typeface="Times New Roman" pitchFamily="18" charset="0"/>
                <a:sym typeface="+mn-ea"/>
              </a:rPr>
              <a:t>AI </a:t>
            </a:r>
            <a:r>
              <a:rPr lang="en-US" sz="2000" dirty="0">
                <a:latin typeface="Times New Roman" pitchFamily="18" charset="0"/>
                <a:cs typeface="Times New Roman" pitchFamily="18" charset="0"/>
                <a:sym typeface="+mn-ea"/>
              </a:rPr>
              <a:t>is helping shoppers to discover associated products with recommended size, color, or even brand.</a:t>
            </a:r>
            <a:endParaRPr lang="en-US" sz="2000" dirty="0">
              <a:latin typeface="Times New Roman" pitchFamily="18" charset="0"/>
              <a:cs typeface="Times New Roman" pitchFamily="18" charset="0"/>
            </a:endParaRPr>
          </a:p>
          <a:p>
            <a:pPr marL="0" indent="0" algn="just">
              <a:lnSpc>
                <a:spcPct val="100000"/>
              </a:lnSpc>
              <a:buNone/>
            </a:pPr>
            <a:r>
              <a:rPr lang="en-US" sz="2000" dirty="0">
                <a:solidFill>
                  <a:srgbClr val="00B050"/>
                </a:solidFill>
                <a:latin typeface="Times New Roman" pitchFamily="18" charset="0"/>
                <a:cs typeface="Times New Roman" pitchFamily="18" charset="0"/>
                <a:sym typeface="+mn-ea"/>
              </a:rPr>
              <a:t>13. AI in education:</a:t>
            </a:r>
            <a:endParaRPr lang="en-US" sz="2000" dirty="0">
              <a:solidFill>
                <a:srgbClr val="00B050"/>
              </a:solidFill>
              <a:latin typeface="Times New Roman" pitchFamily="18" charset="0"/>
              <a:cs typeface="Times New Roman" pitchFamily="18" charset="0"/>
            </a:endParaRPr>
          </a:p>
          <a:p>
            <a:pPr marL="0" indent="0" algn="just">
              <a:lnSpc>
                <a:spcPct val="100000"/>
              </a:lnSpc>
              <a:buFont typeface="Wingdings" pitchFamily="2" charset="2"/>
              <a:buChar char="v"/>
            </a:pPr>
            <a:r>
              <a:rPr lang="en-US" sz="2000" dirty="0">
                <a:latin typeface="Times New Roman" pitchFamily="18" charset="0"/>
                <a:cs typeface="Times New Roman" pitchFamily="18" charset="0"/>
                <a:sym typeface="+mn-ea"/>
              </a:rPr>
              <a:t>AI can automate grading so that the tutor can have more time to teach. AI chatbot can communicate with students as a teaching assistant.</a:t>
            </a:r>
            <a:endParaRPr lang="en-US" sz="2000" dirty="0">
              <a:latin typeface="Times New Roman" pitchFamily="18" charset="0"/>
              <a:cs typeface="Times New Roman" pitchFamily="18" charset="0"/>
            </a:endParaRPr>
          </a:p>
          <a:p>
            <a:pPr marL="0" indent="0" algn="just">
              <a:lnSpc>
                <a:spcPct val="100000"/>
              </a:lnSpc>
              <a:buFont typeface="Wingdings" pitchFamily="2" charset="2"/>
              <a:buChar char="v"/>
            </a:pPr>
            <a:r>
              <a:rPr lang="en-US" sz="2000" dirty="0">
                <a:latin typeface="Times New Roman" pitchFamily="18" charset="0"/>
                <a:cs typeface="Times New Roman" pitchFamily="18" charset="0"/>
                <a:sym typeface="+mn-ea"/>
              </a:rPr>
              <a:t>AI in the future can be work as a personal virtual tutor for students, which will be accessible easily at any time and any place.</a:t>
            </a:r>
            <a:endParaRPr lang="en-US" sz="2000" dirty="0">
              <a:latin typeface="Times New Roman" pitchFamily="18" charset="0"/>
              <a:cs typeface="Times New Roman" pitchFamily="18" charset="0"/>
            </a:endParaRPr>
          </a:p>
          <a:p>
            <a:pPr marL="0" indent="0" algn="just">
              <a:lnSpc>
                <a:spcPct val="100000"/>
              </a:lnSpc>
              <a:buNone/>
            </a:pPr>
            <a:r>
              <a:rPr lang="en-US" sz="2000" dirty="0" smtClean="0">
                <a:solidFill>
                  <a:srgbClr val="00B050"/>
                </a:solidFill>
                <a:latin typeface="Times New Roman" pitchFamily="18" charset="0"/>
                <a:ea typeface="Microsoft Sans Serif" panose="020B0604020202020204" pitchFamily="34" charset="0"/>
                <a:cs typeface="Times New Roman" pitchFamily="18" charset="0"/>
              </a:rPr>
              <a:t>14. Spam </a:t>
            </a:r>
            <a:r>
              <a:rPr lang="en-US" sz="2000" dirty="0">
                <a:solidFill>
                  <a:srgbClr val="00B050"/>
                </a:solidFill>
                <a:latin typeface="Times New Roman" pitchFamily="18" charset="0"/>
                <a:ea typeface="Microsoft Sans Serif" panose="020B0604020202020204" pitchFamily="34" charset="0"/>
                <a:cs typeface="Times New Roman" pitchFamily="18" charset="0"/>
              </a:rPr>
              <a:t>fighting: </a:t>
            </a:r>
            <a:endParaRPr lang="en-US" sz="2000"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Each </a:t>
            </a:r>
            <a:r>
              <a:rPr lang="en-US" sz="2000" dirty="0">
                <a:latin typeface="Times New Roman" pitchFamily="18" charset="0"/>
                <a:ea typeface="Microsoft Sans Serif" panose="020B0604020202020204" pitchFamily="34" charset="0"/>
                <a:cs typeface="Times New Roman" pitchFamily="18" charset="0"/>
              </a:rPr>
              <a:t>day, learning algorithms classify over a billion messages as spam, saving the recipient from having to waste time deleting what, for many users, could comprise 80% or 90% of all messages, if not classified away by algorithms.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Because </a:t>
            </a:r>
            <a:r>
              <a:rPr lang="en-US" sz="2000" dirty="0">
                <a:latin typeface="Times New Roman" pitchFamily="18" charset="0"/>
                <a:ea typeface="Microsoft Sans Serif" panose="020B0604020202020204" pitchFamily="34" charset="0"/>
                <a:cs typeface="Times New Roman" pitchFamily="18" charset="0"/>
              </a:rPr>
              <a:t>the spammers are continually updating their tactics, it is difficult for a static programmed approach to keep up, and learning algorithms work best (</a:t>
            </a:r>
            <a:r>
              <a:rPr lang="en-US" sz="2000" dirty="0" err="1">
                <a:latin typeface="Times New Roman" pitchFamily="18" charset="0"/>
                <a:ea typeface="Microsoft Sans Serif" panose="020B0604020202020204" pitchFamily="34" charset="0"/>
                <a:cs typeface="Times New Roman" pitchFamily="18" charset="0"/>
              </a:rPr>
              <a:t>Sahami</a:t>
            </a:r>
            <a:r>
              <a:rPr lang="en-US" sz="2000" dirty="0">
                <a:latin typeface="Times New Roman" pitchFamily="18" charset="0"/>
                <a:ea typeface="Microsoft Sans Serif" panose="020B0604020202020204" pitchFamily="34" charset="0"/>
                <a:cs typeface="Times New Roman" pitchFamily="18" charset="0"/>
              </a:rPr>
              <a:t> et al., 1998; Goodman and Heckerman, 2004</a:t>
            </a:r>
            <a:r>
              <a:rPr lang="en-US" sz="2000" dirty="0" smtClean="0">
                <a:latin typeface="Times New Roman" pitchFamily="18" charset="0"/>
                <a:ea typeface="Microsoft Sans Serif" panose="020B0604020202020204" pitchFamily="34" charset="0"/>
                <a:cs typeface="Times New Roman" pitchFamily="18" charset="0"/>
              </a:rPr>
              <a:t>).</a:t>
            </a:r>
          </a:p>
          <a:p>
            <a:pPr marL="0" indent="0" algn="just">
              <a:buNone/>
            </a:pPr>
            <a:r>
              <a:rPr lang="en-US" sz="2000" dirty="0" smtClean="0">
                <a:solidFill>
                  <a:srgbClr val="00B050"/>
                </a:solidFill>
                <a:latin typeface="Times New Roman" pitchFamily="18" charset="0"/>
                <a:ea typeface="Microsoft Sans Serif" panose="020B0604020202020204" pitchFamily="34" charset="0"/>
                <a:cs typeface="Times New Roman" pitchFamily="18" charset="0"/>
              </a:rPr>
              <a:t>15.Machine Translation </a:t>
            </a:r>
          </a:p>
          <a:p>
            <a:pPr marL="0" indent="0" algn="just">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A computer program automatically translates from Arabic to English, allowing an English speaker to see the headline “</a:t>
            </a:r>
            <a:r>
              <a:rPr lang="en-US" sz="2000" dirty="0" err="1" smtClean="0">
                <a:latin typeface="Times New Roman" pitchFamily="18" charset="0"/>
                <a:ea typeface="Microsoft Sans Serif" panose="020B0604020202020204" pitchFamily="34" charset="0"/>
                <a:cs typeface="Times New Roman" pitchFamily="18" charset="0"/>
              </a:rPr>
              <a:t>Ardogan</a:t>
            </a:r>
            <a:r>
              <a:rPr lang="en-US" sz="2000" dirty="0" smtClean="0">
                <a:latin typeface="Times New Roman" pitchFamily="18" charset="0"/>
                <a:ea typeface="Microsoft Sans Serif" panose="020B0604020202020204" pitchFamily="34" charset="0"/>
                <a:cs typeface="Times New Roman" pitchFamily="18" charset="0"/>
              </a:rPr>
              <a:t> Confirms That Turkey Would Not Accept Any Pressure, Urging Them to Recognize Cyprus.” </a:t>
            </a:r>
          </a:p>
          <a:p>
            <a:pPr marL="0" indent="0">
              <a:buNone/>
            </a:pPr>
            <a:endParaRPr lang="en-IN" sz="2300" dirty="0">
              <a:latin typeface="Times New Roman" pitchFamily="18" charset="0"/>
              <a:cs typeface="Times New Roman" pitchFamily="18" charset="0"/>
            </a:endParaRPr>
          </a:p>
        </p:txBody>
      </p:sp>
    </p:spTree>
    <p:extLst>
      <p:ext uri="{BB962C8B-B14F-4D97-AF65-F5344CB8AC3E}">
        <p14:creationId xmlns:p14="http://schemas.microsoft.com/office/powerpoint/2010/main" val="41631072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6236</TotalTime>
  <Words>1903</Words>
  <Application>Microsoft Office PowerPoint</Application>
  <PresentationFormat>Widescreen</PresentationFormat>
  <Paragraphs>174</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Calibri Light</vt:lpstr>
      <vt:lpstr>Comic Sans MS</vt:lpstr>
      <vt:lpstr>Microsoft Sans Serif</vt:lpstr>
      <vt:lpstr>新細明體</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maithili</dc:creator>
  <cp:lastModifiedBy>ADMIN</cp:lastModifiedBy>
  <cp:revision>184</cp:revision>
  <dcterms:created xsi:type="dcterms:W3CDTF">2021-10-14T04:37:00Z</dcterms:created>
  <dcterms:modified xsi:type="dcterms:W3CDTF">2023-04-19T11:19:45Z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3B80FBCF74094180949FEEFA06538D2E</vt:lpwstr>
  </property>
  <property fmtid="{D5CDD505-2E9C-101B-9397-08002B2CF9AE}" pid="3" name="KSOProductBuildVer">
    <vt:lpwstr>1033-11.2.0.10323</vt:lpwstr>
  </property>
</Properties>
</file>