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316" r:id="rId26"/>
    <p:sldId id="317"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13" r:id="rId50"/>
    <p:sldId id="302" r:id="rId51"/>
    <p:sldId id="315" r:id="rId52"/>
    <p:sldId id="303" r:id="rId53"/>
    <p:sldId id="318" r:id="rId54"/>
    <p:sldId id="319" r:id="rId55"/>
    <p:sldId id="320" r:id="rId56"/>
    <p:sldId id="308" r:id="rId57"/>
    <p:sldId id="321" r:id="rId58"/>
    <p:sldId id="309" r:id="rId59"/>
    <p:sldId id="322" r:id="rId60"/>
    <p:sldId id="323" r:id="rId61"/>
    <p:sldId id="336" r:id="rId62"/>
    <p:sldId id="337" r:id="rId63"/>
    <p:sldId id="324" r:id="rId64"/>
    <p:sldId id="325" r:id="rId65"/>
    <p:sldId id="327" r:id="rId66"/>
    <p:sldId id="328" r:id="rId67"/>
    <p:sldId id="329" r:id="rId68"/>
    <p:sldId id="330" r:id="rId69"/>
    <p:sldId id="331" r:id="rId70"/>
    <p:sldId id="332" r:id="rId71"/>
    <p:sldId id="333" r:id="rId72"/>
    <p:sldId id="335" r:id="rId73"/>
    <p:sldId id="334"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074" autoAdjust="0"/>
    <p:restoredTop sz="94364" autoAdjust="0"/>
  </p:normalViewPr>
  <p:slideViewPr>
    <p:cSldViewPr snapToGrid="0">
      <p:cViewPr varScale="1">
        <p:scale>
          <a:sx n="65" d="100"/>
          <a:sy n="65" d="100"/>
        </p:scale>
        <p:origin x="-1056"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33B6A4-8EDE-4CC9-BBBD-E36E4A3A76F0}" type="datetimeFigureOut">
              <a:rPr lang="en-US" smtClean="0"/>
              <a:pPr/>
              <a:t>1/2/2026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782833-9F8A-4EAA-9509-7AB5A776241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65D766-71CD-43C2-80BF-7E50212AFB98}" type="slidenum">
              <a:rPr lang="en-US" smtClean="0"/>
              <a:pPr/>
              <a:t>1</a:t>
            </a:fld>
            <a:endParaRPr lang="en-US"/>
          </a:p>
        </p:txBody>
      </p:sp>
    </p:spTree>
    <p:extLst>
      <p:ext uri="{BB962C8B-B14F-4D97-AF65-F5344CB8AC3E}">
        <p14:creationId xmlns:p14="http://schemas.microsoft.com/office/powerpoint/2010/main" xmlns="" val="3580315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65D766-71CD-43C2-80BF-7E50212AFB98}" type="slidenum">
              <a:rPr lang="en-US" smtClean="0"/>
              <a:pPr/>
              <a:t>2</a:t>
            </a:fld>
            <a:endParaRPr lang="en-US"/>
          </a:p>
        </p:txBody>
      </p:sp>
    </p:spTree>
    <p:extLst>
      <p:ext uri="{BB962C8B-B14F-4D97-AF65-F5344CB8AC3E}">
        <p14:creationId xmlns:p14="http://schemas.microsoft.com/office/powerpoint/2010/main" xmlns="" val="1831205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65D766-71CD-43C2-80BF-7E50212AFB98}" type="slidenum">
              <a:rPr lang="en-US" smtClean="0"/>
              <a:pPr/>
              <a:t>3</a:t>
            </a:fld>
            <a:endParaRPr lang="en-US"/>
          </a:p>
        </p:txBody>
      </p:sp>
    </p:spTree>
    <p:extLst>
      <p:ext uri="{BB962C8B-B14F-4D97-AF65-F5344CB8AC3E}">
        <p14:creationId xmlns:p14="http://schemas.microsoft.com/office/powerpoint/2010/main" xmlns="" val="2512083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65D766-71CD-43C2-80BF-7E50212AFB98}" type="slidenum">
              <a:rPr lang="en-US" smtClean="0"/>
              <a:pPr/>
              <a:t>4</a:t>
            </a:fld>
            <a:endParaRPr lang="en-US"/>
          </a:p>
        </p:txBody>
      </p:sp>
    </p:spTree>
    <p:extLst>
      <p:ext uri="{BB962C8B-B14F-4D97-AF65-F5344CB8AC3E}">
        <p14:creationId xmlns:p14="http://schemas.microsoft.com/office/powerpoint/2010/main" xmlns="" val="493795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65D766-71CD-43C2-80BF-7E50212AFB98}" type="slidenum">
              <a:rPr lang="en-US" smtClean="0"/>
              <a:pPr/>
              <a:t>5</a:t>
            </a:fld>
            <a:endParaRPr lang="en-US"/>
          </a:p>
        </p:txBody>
      </p:sp>
    </p:spTree>
    <p:extLst>
      <p:ext uri="{BB962C8B-B14F-4D97-AF65-F5344CB8AC3E}">
        <p14:creationId xmlns:p14="http://schemas.microsoft.com/office/powerpoint/2010/main" xmlns="" val="292208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65D766-71CD-43C2-80BF-7E50212AFB98}" type="slidenum">
              <a:rPr lang="en-US" smtClean="0"/>
              <a:pPr/>
              <a:t>6</a:t>
            </a:fld>
            <a:endParaRPr lang="en-US"/>
          </a:p>
        </p:txBody>
      </p:sp>
    </p:spTree>
    <p:extLst>
      <p:ext uri="{BB962C8B-B14F-4D97-AF65-F5344CB8AC3E}">
        <p14:creationId xmlns:p14="http://schemas.microsoft.com/office/powerpoint/2010/main" xmlns="" val="757007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65D766-71CD-43C2-80BF-7E50212AFB98}" type="slidenum">
              <a:rPr lang="en-US" smtClean="0"/>
              <a:pPr/>
              <a:t>7</a:t>
            </a:fld>
            <a:endParaRPr lang="en-US"/>
          </a:p>
        </p:txBody>
      </p:sp>
    </p:spTree>
    <p:extLst>
      <p:ext uri="{BB962C8B-B14F-4D97-AF65-F5344CB8AC3E}">
        <p14:creationId xmlns:p14="http://schemas.microsoft.com/office/powerpoint/2010/main" xmlns="" val="2851089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782833-9F8A-4EAA-9509-7AB5A7762413}" type="slidenum">
              <a:rPr lang="en-US" smtClean="0"/>
              <a:pPr/>
              <a:t>49</a:t>
            </a:fld>
            <a:endParaRPr lang="en-US"/>
          </a:p>
        </p:txBody>
      </p:sp>
    </p:spTree>
    <p:extLst>
      <p:ext uri="{BB962C8B-B14F-4D97-AF65-F5344CB8AC3E}">
        <p14:creationId xmlns:p14="http://schemas.microsoft.com/office/powerpoint/2010/main" xmlns="" val="658769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pPr/>
              <a:t>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pPr/>
              <a:t>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pPr/>
              <a:t>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pPr/>
              <a:t>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pPr/>
              <a:t>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pPr/>
              <a:t>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25.jpeg"/><Relationship Id="rId13" Type="http://schemas.openxmlformats.org/officeDocument/2006/relationships/image" Target="../media/image30.jpeg"/><Relationship Id="rId3" Type="http://schemas.openxmlformats.org/officeDocument/2006/relationships/image" Target="../media/image20.jpeg"/><Relationship Id="rId7" Type="http://schemas.openxmlformats.org/officeDocument/2006/relationships/image" Target="../media/image24.jpeg"/><Relationship Id="rId12"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3.jpeg"/><Relationship Id="rId11" Type="http://schemas.openxmlformats.org/officeDocument/2006/relationships/image" Target="../media/image28.jpeg"/><Relationship Id="rId5" Type="http://schemas.openxmlformats.org/officeDocument/2006/relationships/image" Target="../media/image22.jpeg"/><Relationship Id="rId10" Type="http://schemas.openxmlformats.org/officeDocument/2006/relationships/image" Target="../media/image27.jpeg"/><Relationship Id="rId4" Type="http://schemas.openxmlformats.org/officeDocument/2006/relationships/image" Target="../media/image21.jpeg"/><Relationship Id="rId9" Type="http://schemas.openxmlformats.org/officeDocument/2006/relationships/image" Target="../media/image26.jpeg"/></Relationships>
</file>

<file path=ppt/slides/_rels/slide5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AI virtual assistants can do for you? – Full-Stack Feed"/>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36635" y="107956"/>
            <a:ext cx="11887199" cy="6568965"/>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3077208" y="2692962"/>
            <a:ext cx="5226303" cy="1323439"/>
          </a:xfrm>
          <a:prstGeom prst="rect">
            <a:avLst/>
          </a:prstGeom>
          <a:noFill/>
        </p:spPr>
        <p:txBody>
          <a:bodyPr wrap="none" rtlCol="0">
            <a:spAutoFit/>
          </a:bodyPr>
          <a:lstStyle/>
          <a:p>
            <a:pPr algn="ctr"/>
            <a:r>
              <a:rPr lang="en-US" sz="4000" b="1" i="1" dirty="0" smtClean="0">
                <a:solidFill>
                  <a:srgbClr val="FF0000"/>
                </a:solidFill>
                <a:latin typeface="Times New Roman" pitchFamily="18" charset="0"/>
                <a:ea typeface="Microsoft Sans Serif" panose="020B0604020202020204" pitchFamily="34" charset="0"/>
                <a:cs typeface="Times New Roman" pitchFamily="18" charset="0"/>
              </a:rPr>
              <a:t>Chapter 3</a:t>
            </a:r>
            <a:endParaRPr lang="en-IN" sz="4000" b="1" i="1" dirty="0" smtClean="0">
              <a:solidFill>
                <a:srgbClr val="FF0000"/>
              </a:solidFill>
              <a:latin typeface="Times New Roman" pitchFamily="18" charset="0"/>
              <a:ea typeface="Microsoft Sans Serif" panose="020B0604020202020204" pitchFamily="34" charset="0"/>
              <a:cs typeface="Times New Roman" pitchFamily="18" charset="0"/>
            </a:endParaRPr>
          </a:p>
          <a:p>
            <a:pPr algn="ctr"/>
            <a:r>
              <a:rPr lang="en-IN" sz="4000" b="1" i="1" dirty="0" smtClean="0">
                <a:solidFill>
                  <a:srgbClr val="FF0000"/>
                </a:solidFill>
                <a:latin typeface="Times New Roman" pitchFamily="18" charset="0"/>
                <a:ea typeface="Microsoft Sans Serif" panose="020B0604020202020204" pitchFamily="34" charset="0"/>
                <a:cs typeface="Times New Roman" pitchFamily="18" charset="0"/>
              </a:rPr>
              <a:t>Problem-solving Agents</a:t>
            </a:r>
            <a:endParaRPr lang="en-IN" sz="4000" b="1" i="1" dirty="0">
              <a:solidFill>
                <a:srgbClr val="FF0000"/>
              </a:solidFill>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13080172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391886" y="313509"/>
            <a:ext cx="11456126" cy="6439988"/>
          </a:xfrm>
        </p:spPr>
        <p:txBody>
          <a:bodyPr>
            <a:normAutofit fontScale="55000" lnSpcReduction="20000"/>
          </a:bodyPr>
          <a:lstStyle/>
          <a:p>
            <a:pPr marL="0" indent="0" algn="just">
              <a:lnSpc>
                <a:spcPct val="100000"/>
              </a:lnSpc>
              <a:buNone/>
            </a:pPr>
            <a:r>
              <a:rPr lang="en-IN" sz="4000" b="1" dirty="0" smtClean="0">
                <a:solidFill>
                  <a:srgbClr val="FF0000"/>
                </a:solidFill>
                <a:latin typeface="Times New Roman" pitchFamily="18" charset="0"/>
                <a:ea typeface="Microsoft Sans Serif" panose="020B0604020202020204" pitchFamily="34" charset="0"/>
                <a:cs typeface="Times New Roman" pitchFamily="18" charset="0"/>
              </a:rPr>
              <a:t>1.9 Problem-Solving Agents</a:t>
            </a:r>
            <a:endParaRPr lang="en-US" sz="4000" b="1" dirty="0">
              <a:solidFill>
                <a:srgbClr val="FF0000"/>
              </a:solidFill>
              <a:latin typeface="Times New Roman" pitchFamily="18" charset="0"/>
              <a:ea typeface="Microsoft Sans Serif" panose="020B0604020202020204" pitchFamily="34" charset="0"/>
              <a:cs typeface="Times New Roman" pitchFamily="18" charset="0"/>
            </a:endParaRPr>
          </a:p>
          <a:p>
            <a:pPr algn="just" fontAlgn="base">
              <a:lnSpc>
                <a:spcPct val="150000"/>
              </a:lnSpc>
              <a:buFont typeface="Wingdings" panose="05000000000000000000" pitchFamily="2" charset="2"/>
              <a:buChar char="v"/>
            </a:pPr>
            <a:r>
              <a:rPr lang="en-US" sz="2900" dirty="0">
                <a:latin typeface="Times New Roman" pitchFamily="18" charset="0"/>
                <a:ea typeface="Microsoft Sans Serif" panose="020B0604020202020204" pitchFamily="34" charset="0"/>
                <a:cs typeface="Times New Roman" pitchFamily="18" charset="0"/>
              </a:rPr>
              <a:t>According to psychology, “</a:t>
            </a:r>
            <a:r>
              <a:rPr lang="en-US" sz="2900" i="1" dirty="0">
                <a:latin typeface="Times New Roman" pitchFamily="18" charset="0"/>
                <a:ea typeface="Microsoft Sans Serif" panose="020B0604020202020204" pitchFamily="34" charset="0"/>
                <a:cs typeface="Times New Roman" pitchFamily="18" charset="0"/>
              </a:rPr>
              <a:t>a problem-solving refers to a state where we wish to reach to a definite goal from a present state or condition.”</a:t>
            </a:r>
            <a:endParaRPr lang="en-US" sz="2900" dirty="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itchFamily="2" charset="2"/>
              <a:buChar char="v"/>
            </a:pPr>
            <a:r>
              <a:rPr lang="en-US" sz="2900" dirty="0">
                <a:latin typeface="Times New Roman" pitchFamily="18" charset="0"/>
                <a:ea typeface="Microsoft Sans Serif" panose="020B0604020202020204" pitchFamily="34" charset="0"/>
                <a:cs typeface="Times New Roman" pitchFamily="18" charset="0"/>
              </a:rPr>
              <a:t>According to computer science, </a:t>
            </a:r>
            <a:r>
              <a:rPr lang="en-US" sz="2900" i="1" dirty="0">
                <a:latin typeface="Times New Roman" pitchFamily="18" charset="0"/>
                <a:ea typeface="Microsoft Sans Serif" panose="020B0604020202020204" pitchFamily="34" charset="0"/>
                <a:cs typeface="Times New Roman" pitchFamily="18" charset="0"/>
              </a:rPr>
              <a:t>a problem-solving is a part of artificial intelligence which encompasses a number of techniques such as algorithms, heuristics to solve a </a:t>
            </a:r>
            <a:r>
              <a:rPr lang="en-US" sz="2900" i="1" dirty="0" smtClean="0">
                <a:latin typeface="Times New Roman" pitchFamily="18" charset="0"/>
                <a:ea typeface="Microsoft Sans Serif" panose="020B0604020202020204" pitchFamily="34" charset="0"/>
                <a:cs typeface="Times New Roman" pitchFamily="18" charset="0"/>
              </a:rPr>
              <a:t>problem.</a:t>
            </a:r>
          </a:p>
          <a:p>
            <a:pPr algn="just">
              <a:lnSpc>
                <a:spcPct val="150000"/>
              </a:lnSpc>
              <a:buFont typeface="Wingdings" pitchFamily="2" charset="2"/>
              <a:buChar char="v"/>
            </a:pPr>
            <a:r>
              <a:rPr lang="en-US" sz="2900" i="1" dirty="0" smtClean="0">
                <a:latin typeface="Times New Roman" pitchFamily="18" charset="0"/>
                <a:ea typeface="Microsoft Sans Serif" panose="020B0604020202020204" pitchFamily="34" charset="0"/>
                <a:cs typeface="Times New Roman" pitchFamily="18" charset="0"/>
              </a:rPr>
              <a:t> </a:t>
            </a:r>
            <a:r>
              <a:rPr lang="en-US" sz="2900" dirty="0" smtClean="0">
                <a:latin typeface="Times New Roman" pitchFamily="18" charset="0"/>
                <a:ea typeface="Microsoft Sans Serif" panose="020B0604020202020204" pitchFamily="34" charset="0"/>
                <a:cs typeface="Times New Roman" pitchFamily="18" charset="0"/>
              </a:rPr>
              <a:t>Problem-solving </a:t>
            </a:r>
            <a:r>
              <a:rPr lang="en-US" sz="2900" dirty="0">
                <a:latin typeface="Times New Roman" pitchFamily="18" charset="0"/>
                <a:ea typeface="Microsoft Sans Serif" panose="020B0604020202020204" pitchFamily="34" charset="0"/>
                <a:cs typeface="Times New Roman" pitchFamily="18" charset="0"/>
              </a:rPr>
              <a:t>agent in </a:t>
            </a:r>
            <a:r>
              <a:rPr lang="en-US" sz="2900" dirty="0" smtClean="0">
                <a:latin typeface="Times New Roman" pitchFamily="18" charset="0"/>
                <a:ea typeface="Microsoft Sans Serif" panose="020B0604020202020204" pitchFamily="34" charset="0"/>
                <a:cs typeface="Times New Roman" pitchFamily="18" charset="0"/>
              </a:rPr>
              <a:t>AI is </a:t>
            </a:r>
            <a:r>
              <a:rPr lang="en-US" sz="2900" dirty="0">
                <a:latin typeface="Times New Roman" pitchFamily="18" charset="0"/>
                <a:ea typeface="Microsoft Sans Serif" panose="020B0604020202020204" pitchFamily="34" charset="0"/>
                <a:cs typeface="Times New Roman" pitchFamily="18" charset="0"/>
              </a:rPr>
              <a:t>goal-based agents that focus on goals, which uses a group of algorithms, and techniques to solve a well-defined problem. </a:t>
            </a:r>
          </a:p>
          <a:p>
            <a:pPr algn="just">
              <a:lnSpc>
                <a:spcPct val="150000"/>
              </a:lnSpc>
              <a:buFont typeface="Wingdings" pitchFamily="2" charset="2"/>
              <a:buChar char="v"/>
            </a:pPr>
            <a:r>
              <a:rPr lang="en-US" sz="2900" dirty="0">
                <a:latin typeface="Times New Roman" pitchFamily="18" charset="0"/>
                <a:ea typeface="Microsoft Sans Serif" panose="020B0604020202020204" pitchFamily="34" charset="0"/>
                <a:cs typeface="Times New Roman" pitchFamily="18" charset="0"/>
              </a:rPr>
              <a:t>And these agents are different from reflex agents who just have to map states into actions and can’t map when storing and learning both are bigger</a:t>
            </a:r>
            <a:r>
              <a:rPr lang="en-US" sz="2900" dirty="0" smtClean="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itchFamily="2" charset="2"/>
              <a:buChar char="v"/>
            </a:pPr>
            <a:r>
              <a:rPr lang="en-US" sz="2900" dirty="0">
                <a:latin typeface="Times New Roman" pitchFamily="18" charset="0"/>
                <a:ea typeface="Microsoft Sans Serif" panose="020B0604020202020204" pitchFamily="34" charset="0"/>
                <a:cs typeface="Times New Roman" pitchFamily="18" charset="0"/>
              </a:rPr>
              <a:t>The </a:t>
            </a:r>
            <a:r>
              <a:rPr lang="en-US" sz="2900" dirty="0">
                <a:latin typeface="Times New Roman" panose="02020603050405020304" pitchFamily="18" charset="0"/>
                <a:cs typeface="Times New Roman" panose="02020603050405020304" pitchFamily="18" charset="0"/>
              </a:rPr>
              <a:t>Problem Solving</a:t>
            </a:r>
            <a:r>
              <a:rPr lang="en-US" sz="2900" b="1" dirty="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Agents decide what to do by finding a sequence of actions that leads to a desirable state or solution</a:t>
            </a:r>
            <a:r>
              <a:rPr lang="en-US" sz="2900" b="1" dirty="0" smtClean="0">
                <a:latin typeface="Times New Roman" panose="02020603050405020304" pitchFamily="18" charset="0"/>
                <a:cs typeface="Times New Roman" panose="02020603050405020304" pitchFamily="18" charset="0"/>
              </a:rPr>
              <a:t>.</a:t>
            </a:r>
            <a:endParaRPr lang="en-US" sz="2900" dirty="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itchFamily="2" charset="2"/>
              <a:buChar char="v"/>
            </a:pPr>
            <a:r>
              <a:rPr lang="en-US" sz="2900" dirty="0">
                <a:latin typeface="Times New Roman" pitchFamily="18" charset="0"/>
                <a:ea typeface="Microsoft Sans Serif" panose="020B0604020202020204" pitchFamily="34" charset="0"/>
                <a:cs typeface="Times New Roman" pitchFamily="18" charset="0"/>
              </a:rPr>
              <a:t>The different stages that Problem-solving agents perform, to arrive at a desired state or solution are:</a:t>
            </a:r>
          </a:p>
          <a:p>
            <a:pPr marL="2286000" lvl="5" indent="0" algn="just">
              <a:lnSpc>
                <a:spcPct val="150000"/>
              </a:lnSpc>
              <a:buFont typeface="Wingdings" pitchFamily="2" charset="2"/>
              <a:buChar char="ü"/>
            </a:pPr>
            <a:r>
              <a:rPr lang="en-US" sz="2900" dirty="0">
                <a:latin typeface="Times New Roman" pitchFamily="18" charset="0"/>
                <a:ea typeface="Microsoft Sans Serif" panose="020B0604020202020204" pitchFamily="34" charset="0"/>
                <a:cs typeface="Times New Roman" pitchFamily="18" charset="0"/>
              </a:rPr>
              <a:t>Articulating or expressing the desired goal and the problem is tried upon, clearly.</a:t>
            </a:r>
          </a:p>
          <a:p>
            <a:pPr marL="2286000" lvl="5" indent="0" algn="just">
              <a:lnSpc>
                <a:spcPct val="150000"/>
              </a:lnSpc>
              <a:buFont typeface="Wingdings" pitchFamily="2" charset="2"/>
              <a:buChar char="ü"/>
            </a:pPr>
            <a:r>
              <a:rPr lang="en-US" sz="2900" dirty="0">
                <a:latin typeface="Times New Roman" pitchFamily="18" charset="0"/>
                <a:ea typeface="Microsoft Sans Serif" panose="020B0604020202020204" pitchFamily="34" charset="0"/>
                <a:cs typeface="Times New Roman" pitchFamily="18" charset="0"/>
              </a:rPr>
              <a:t>Explore and examine</a:t>
            </a:r>
          </a:p>
          <a:p>
            <a:pPr marL="2286000" lvl="5" indent="0" algn="just">
              <a:lnSpc>
                <a:spcPct val="150000"/>
              </a:lnSpc>
              <a:buFont typeface="Wingdings" pitchFamily="2" charset="2"/>
              <a:buChar char="ü"/>
            </a:pPr>
            <a:r>
              <a:rPr lang="en-US" sz="2900" dirty="0">
                <a:latin typeface="Times New Roman" pitchFamily="18" charset="0"/>
                <a:ea typeface="Microsoft Sans Serif" panose="020B0604020202020204" pitchFamily="34" charset="0"/>
                <a:cs typeface="Times New Roman" pitchFamily="18" charset="0"/>
              </a:rPr>
              <a:t>Find the solution from the various algorithms on the table.</a:t>
            </a:r>
          </a:p>
          <a:p>
            <a:pPr marL="2286000" lvl="5" indent="0" algn="just">
              <a:lnSpc>
                <a:spcPct val="150000"/>
              </a:lnSpc>
              <a:buFont typeface="Wingdings" pitchFamily="2" charset="2"/>
              <a:buChar char="ü"/>
            </a:pPr>
            <a:r>
              <a:rPr lang="en-US" sz="2900" dirty="0">
                <a:latin typeface="Times New Roman" pitchFamily="18" charset="0"/>
                <a:ea typeface="Microsoft Sans Serif" panose="020B0604020202020204" pitchFamily="34" charset="0"/>
                <a:cs typeface="Times New Roman" pitchFamily="18" charset="0"/>
              </a:rPr>
              <a:t>The final step is Execution!</a:t>
            </a:r>
          </a:p>
          <a:p>
            <a:pPr algn="just" fontAlgn="base">
              <a:lnSpc>
                <a:spcPct val="150000"/>
              </a:lnSpc>
              <a:buFont typeface="Wingdings" panose="05000000000000000000" pitchFamily="2" charset="2"/>
              <a:buChar char="v"/>
            </a:pPr>
            <a:r>
              <a:rPr lang="en-US" sz="2900" dirty="0">
                <a:latin typeface="Times New Roman" panose="02020603050405020304" pitchFamily="18" charset="0"/>
                <a:cs typeface="Times New Roman" panose="02020603050405020304" pitchFamily="18" charset="0"/>
              </a:rPr>
              <a:t>The problem-solving agent performs precisely by defining problems and several solutions</a:t>
            </a:r>
            <a:r>
              <a:rPr lang="en-US" sz="2900" dirty="0" smtClean="0">
                <a:latin typeface="Times New Roman" panose="02020603050405020304" pitchFamily="18" charset="0"/>
                <a:cs typeface="Times New Roman" panose="02020603050405020304" pitchFamily="18" charset="0"/>
              </a:rPr>
              <a:t>.</a:t>
            </a:r>
            <a:endParaRPr lang="en-US" sz="2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378356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222069"/>
            <a:ext cx="11038114" cy="6548184"/>
          </a:xfrm>
        </p:spPr>
        <p:txBody>
          <a:bodyPr>
            <a:normAutofit fontScale="92500" lnSpcReduction="20000"/>
          </a:bodyPr>
          <a:lstStyle/>
          <a:p>
            <a:pPr marL="0" indent="0" algn="just" fontAlgn="base">
              <a:lnSpc>
                <a:spcPct val="100000"/>
              </a:lnSpc>
              <a:buNone/>
            </a:pPr>
            <a:r>
              <a:rPr lang="en-US" sz="2400" dirty="0">
                <a:solidFill>
                  <a:srgbClr val="00B050"/>
                </a:solidFill>
                <a:latin typeface="Times New Roman" pitchFamily="18" charset="0"/>
                <a:ea typeface="Microsoft Sans Serif" panose="020B0604020202020204" pitchFamily="34" charset="0"/>
                <a:cs typeface="Times New Roman" pitchFamily="18" charset="0"/>
              </a:rPr>
              <a:t>Steps performed by Problem-solving agent</a:t>
            </a:r>
          </a:p>
          <a:p>
            <a:pPr algn="just" fontAlgn="base">
              <a:lnSpc>
                <a:spcPct val="160000"/>
              </a:lnSpc>
              <a:buFont typeface="Wingdings" panose="05000000000000000000" pitchFamily="2" charset="2"/>
              <a:buChar char="v"/>
            </a:pPr>
            <a:r>
              <a:rPr lang="en-US" sz="2100" b="1" dirty="0">
                <a:latin typeface="Times New Roman" pitchFamily="18" charset="0"/>
                <a:ea typeface="Microsoft Sans Serif" panose="020B0604020202020204" pitchFamily="34" charset="0"/>
                <a:cs typeface="Times New Roman" pitchFamily="18" charset="0"/>
              </a:rPr>
              <a:t>Goal Formulation:</a:t>
            </a:r>
            <a:r>
              <a:rPr lang="en-US" sz="2100" dirty="0">
                <a:latin typeface="Times New Roman" pitchFamily="18" charset="0"/>
                <a:ea typeface="Microsoft Sans Serif" panose="020B0604020202020204" pitchFamily="34" charset="0"/>
                <a:cs typeface="Times New Roman" pitchFamily="18" charset="0"/>
              </a:rPr>
              <a:t> It is the first and simplest step in problem-solving. It organizes the steps/sequence required to formulate one goal out of multiple goals as well as actions to achieve that goal. Goal formulation is based on the current situation and the agent’s performance </a:t>
            </a:r>
            <a:r>
              <a:rPr lang="en-US" sz="2100" dirty="0" smtClean="0">
                <a:latin typeface="Times New Roman" pitchFamily="18" charset="0"/>
                <a:ea typeface="Microsoft Sans Serif" panose="020B0604020202020204" pitchFamily="34" charset="0"/>
                <a:cs typeface="Times New Roman" pitchFamily="18" charset="0"/>
              </a:rPr>
              <a:t>measure.</a:t>
            </a:r>
            <a:endParaRPr lang="en-US" sz="2100" dirty="0">
              <a:latin typeface="Times New Roman" pitchFamily="18" charset="0"/>
              <a:ea typeface="Microsoft Sans Serif" panose="020B0604020202020204" pitchFamily="34" charset="0"/>
              <a:cs typeface="Times New Roman" pitchFamily="18" charset="0"/>
            </a:endParaRPr>
          </a:p>
          <a:p>
            <a:pPr algn="just" fontAlgn="base">
              <a:lnSpc>
                <a:spcPct val="160000"/>
              </a:lnSpc>
              <a:buFont typeface="Wingdings" panose="05000000000000000000" pitchFamily="2" charset="2"/>
              <a:buChar char="v"/>
            </a:pPr>
            <a:r>
              <a:rPr lang="en-US" sz="2100" b="1" dirty="0">
                <a:latin typeface="Times New Roman" pitchFamily="18" charset="0"/>
                <a:ea typeface="Microsoft Sans Serif" panose="020B0604020202020204" pitchFamily="34" charset="0"/>
                <a:cs typeface="Times New Roman" pitchFamily="18" charset="0"/>
              </a:rPr>
              <a:t>Problem Formulation:</a:t>
            </a:r>
            <a:r>
              <a:rPr lang="en-US" sz="2100" dirty="0">
                <a:latin typeface="Times New Roman" pitchFamily="18" charset="0"/>
                <a:ea typeface="Microsoft Sans Serif" panose="020B0604020202020204" pitchFamily="34" charset="0"/>
                <a:cs typeface="Times New Roman" pitchFamily="18" charset="0"/>
              </a:rPr>
              <a:t> It is the most important step of problem-solving which decides what actions should be taken to achieve the formulated goal. </a:t>
            </a:r>
            <a:endParaRPr lang="en-US" sz="2100" dirty="0" smtClean="0">
              <a:latin typeface="Times New Roman" pitchFamily="18" charset="0"/>
              <a:ea typeface="Microsoft Sans Serif" panose="020B0604020202020204" pitchFamily="34" charset="0"/>
              <a:cs typeface="Times New Roman" pitchFamily="18" charset="0"/>
            </a:endParaRPr>
          </a:p>
          <a:p>
            <a:pPr algn="just" fontAlgn="base">
              <a:lnSpc>
                <a:spcPct val="160000"/>
              </a:lnSpc>
              <a:buFont typeface="Wingdings" panose="05000000000000000000" pitchFamily="2" charset="2"/>
              <a:buChar char="v"/>
            </a:pPr>
            <a:r>
              <a:rPr lang="en-US" sz="2100" dirty="0" smtClean="0">
                <a:latin typeface="Times New Roman" pitchFamily="18" charset="0"/>
                <a:ea typeface="Microsoft Sans Serif" panose="020B0604020202020204" pitchFamily="34" charset="0"/>
                <a:cs typeface="Times New Roman" pitchFamily="18" charset="0"/>
              </a:rPr>
              <a:t>There </a:t>
            </a:r>
            <a:r>
              <a:rPr lang="en-US" sz="2100" dirty="0">
                <a:latin typeface="Times New Roman" pitchFamily="18" charset="0"/>
                <a:ea typeface="Microsoft Sans Serif" panose="020B0604020202020204" pitchFamily="34" charset="0"/>
                <a:cs typeface="Times New Roman" pitchFamily="18" charset="0"/>
              </a:rPr>
              <a:t>are following five components involved in problem formulation:</a:t>
            </a:r>
          </a:p>
          <a:p>
            <a:pPr lvl="1" algn="just" fontAlgn="base">
              <a:lnSpc>
                <a:spcPct val="160000"/>
              </a:lnSpc>
              <a:buFont typeface="Wingdings" panose="05000000000000000000" pitchFamily="2" charset="2"/>
              <a:buChar char="Ø"/>
            </a:pPr>
            <a:r>
              <a:rPr lang="en-US" sz="1800" b="1" dirty="0">
                <a:latin typeface="Times New Roman" pitchFamily="18" charset="0"/>
                <a:ea typeface="Microsoft Sans Serif" panose="020B0604020202020204" pitchFamily="34" charset="0"/>
                <a:cs typeface="Times New Roman" pitchFamily="18" charset="0"/>
              </a:rPr>
              <a:t>Initial State:</a:t>
            </a:r>
            <a:r>
              <a:rPr lang="en-US" sz="1800" dirty="0">
                <a:latin typeface="Times New Roman" pitchFamily="18" charset="0"/>
                <a:ea typeface="Microsoft Sans Serif" panose="020B0604020202020204" pitchFamily="34" charset="0"/>
                <a:cs typeface="Times New Roman" pitchFamily="18" charset="0"/>
              </a:rPr>
              <a:t> It is the starting state or initial step of the agent towards its goal.</a:t>
            </a:r>
          </a:p>
          <a:p>
            <a:pPr lvl="1" algn="just" fontAlgn="base">
              <a:lnSpc>
                <a:spcPct val="160000"/>
              </a:lnSpc>
              <a:buFont typeface="Wingdings" panose="05000000000000000000" pitchFamily="2" charset="2"/>
              <a:buChar char="Ø"/>
            </a:pPr>
            <a:r>
              <a:rPr lang="en-US" sz="1800" b="1" dirty="0">
                <a:latin typeface="Times New Roman" pitchFamily="18" charset="0"/>
                <a:ea typeface="Microsoft Sans Serif" panose="020B0604020202020204" pitchFamily="34" charset="0"/>
                <a:cs typeface="Times New Roman" pitchFamily="18" charset="0"/>
              </a:rPr>
              <a:t>Actions:</a:t>
            </a:r>
            <a:r>
              <a:rPr lang="en-US" sz="1800" dirty="0">
                <a:latin typeface="Times New Roman" pitchFamily="18" charset="0"/>
                <a:ea typeface="Microsoft Sans Serif" panose="020B0604020202020204" pitchFamily="34" charset="0"/>
                <a:cs typeface="Times New Roman" pitchFamily="18" charset="0"/>
              </a:rPr>
              <a:t> It is the description of the possible actions available to the agent.</a:t>
            </a:r>
          </a:p>
          <a:p>
            <a:pPr lvl="1" algn="just" fontAlgn="base">
              <a:lnSpc>
                <a:spcPct val="160000"/>
              </a:lnSpc>
              <a:buFont typeface="Wingdings" panose="05000000000000000000" pitchFamily="2" charset="2"/>
              <a:buChar char="Ø"/>
            </a:pPr>
            <a:r>
              <a:rPr lang="en-US" sz="1800" b="1" dirty="0">
                <a:latin typeface="Times New Roman" pitchFamily="18" charset="0"/>
                <a:ea typeface="Microsoft Sans Serif" panose="020B0604020202020204" pitchFamily="34" charset="0"/>
                <a:cs typeface="Times New Roman" pitchFamily="18" charset="0"/>
              </a:rPr>
              <a:t>Transition Model:</a:t>
            </a:r>
            <a:r>
              <a:rPr lang="en-US" sz="1800" dirty="0">
                <a:latin typeface="Times New Roman" pitchFamily="18" charset="0"/>
                <a:ea typeface="Microsoft Sans Serif" panose="020B0604020202020204" pitchFamily="34" charset="0"/>
                <a:cs typeface="Times New Roman" pitchFamily="18" charset="0"/>
              </a:rPr>
              <a:t> It describes what each action does.</a:t>
            </a:r>
          </a:p>
          <a:p>
            <a:pPr lvl="1" algn="just" fontAlgn="base">
              <a:lnSpc>
                <a:spcPct val="160000"/>
              </a:lnSpc>
              <a:buFont typeface="Wingdings" panose="05000000000000000000" pitchFamily="2" charset="2"/>
              <a:buChar char="Ø"/>
            </a:pPr>
            <a:r>
              <a:rPr lang="en-US" sz="1800" b="1" dirty="0">
                <a:latin typeface="Times New Roman" pitchFamily="18" charset="0"/>
                <a:ea typeface="Microsoft Sans Serif" panose="020B0604020202020204" pitchFamily="34" charset="0"/>
                <a:cs typeface="Times New Roman" pitchFamily="18" charset="0"/>
              </a:rPr>
              <a:t>Goal Test:</a:t>
            </a:r>
            <a:r>
              <a:rPr lang="en-US" sz="1800" dirty="0">
                <a:latin typeface="Times New Roman" pitchFamily="18" charset="0"/>
                <a:ea typeface="Microsoft Sans Serif" panose="020B0604020202020204" pitchFamily="34" charset="0"/>
                <a:cs typeface="Times New Roman" pitchFamily="18" charset="0"/>
              </a:rPr>
              <a:t> It determines if the given state is a goal state.</a:t>
            </a:r>
          </a:p>
          <a:p>
            <a:pPr lvl="1" algn="just" fontAlgn="base">
              <a:lnSpc>
                <a:spcPct val="160000"/>
              </a:lnSpc>
              <a:buFont typeface="Wingdings" panose="05000000000000000000" pitchFamily="2" charset="2"/>
              <a:buChar char="Ø"/>
            </a:pPr>
            <a:r>
              <a:rPr lang="en-US" sz="1800" b="1" dirty="0">
                <a:latin typeface="Times New Roman" pitchFamily="18" charset="0"/>
                <a:ea typeface="Microsoft Sans Serif" panose="020B0604020202020204" pitchFamily="34" charset="0"/>
                <a:cs typeface="Times New Roman" pitchFamily="18" charset="0"/>
              </a:rPr>
              <a:t>Path cost:</a:t>
            </a:r>
            <a:r>
              <a:rPr lang="en-US" sz="1800" dirty="0">
                <a:latin typeface="Times New Roman" pitchFamily="18" charset="0"/>
                <a:ea typeface="Microsoft Sans Serif" panose="020B0604020202020204" pitchFamily="34" charset="0"/>
                <a:cs typeface="Times New Roman" pitchFamily="18" charset="0"/>
              </a:rPr>
              <a:t> It assigns a numeric cost to each path that follows the goal. </a:t>
            </a:r>
          </a:p>
          <a:p>
            <a:pPr algn="just" fontAlgn="base">
              <a:lnSpc>
                <a:spcPct val="16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problem-solving agent selects a cost function, which reflects its performance measure. </a:t>
            </a:r>
            <a:r>
              <a:rPr lang="en-US" sz="2200" b="1" i="1" dirty="0">
                <a:latin typeface="Times New Roman" pitchFamily="18" charset="0"/>
                <a:ea typeface="Microsoft Sans Serif" panose="020B0604020202020204" pitchFamily="34" charset="0"/>
                <a:cs typeface="Times New Roman" pitchFamily="18" charset="0"/>
              </a:rPr>
              <a:t>A</a:t>
            </a:r>
            <a:r>
              <a:rPr lang="en-US" sz="2200" b="1" i="1" dirty="0" smtClean="0">
                <a:latin typeface="Times New Roman" pitchFamily="18" charset="0"/>
                <a:ea typeface="Microsoft Sans Serif" panose="020B0604020202020204" pitchFamily="34" charset="0"/>
                <a:cs typeface="Times New Roman" pitchFamily="18" charset="0"/>
              </a:rPr>
              <a:t>n </a:t>
            </a:r>
            <a:r>
              <a:rPr lang="en-US" sz="2200" b="1" i="1" dirty="0">
                <a:latin typeface="Times New Roman" pitchFamily="18" charset="0"/>
                <a:ea typeface="Microsoft Sans Serif" panose="020B0604020202020204" pitchFamily="34" charset="0"/>
                <a:cs typeface="Times New Roman" pitchFamily="18" charset="0"/>
              </a:rPr>
              <a:t>optimal solution has the lowest path cost among all the solutions</a:t>
            </a:r>
            <a:r>
              <a:rPr lang="en-US" sz="2200" b="1" i="1" dirty="0" smtClean="0">
                <a:latin typeface="Times New Roman" pitchFamily="18" charset="0"/>
                <a:ea typeface="Microsoft Sans Serif" panose="020B0604020202020204" pitchFamily="34" charset="0"/>
                <a:cs typeface="Times New Roman" pitchFamily="18" charset="0"/>
              </a:rPr>
              <a:t>.</a:t>
            </a:r>
            <a:endParaRPr lang="en-US" sz="2200" i="1"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20731145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295564" y="496389"/>
            <a:ext cx="11500196" cy="5956662"/>
          </a:xfrm>
        </p:spPr>
        <p:txBody>
          <a:bodyPr>
            <a:normAutofit/>
          </a:bodyPr>
          <a:lstStyle/>
          <a:p>
            <a:pPr algn="just" fontAlgn="base">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Initial </a:t>
            </a:r>
            <a:r>
              <a:rPr lang="en-US" sz="2200" dirty="0">
                <a:latin typeface="Times New Roman" pitchFamily="18" charset="0"/>
                <a:ea typeface="Microsoft Sans Serif" panose="020B0604020202020204" pitchFamily="34" charset="0"/>
                <a:cs typeface="Times New Roman" pitchFamily="18" charset="0"/>
              </a:rPr>
              <a:t>state, actions, and transition model together define the </a:t>
            </a:r>
            <a:r>
              <a:rPr lang="en-US" sz="2200" b="1" i="1" dirty="0">
                <a:latin typeface="Times New Roman" pitchFamily="18" charset="0"/>
                <a:ea typeface="Microsoft Sans Serif" panose="020B0604020202020204" pitchFamily="34" charset="0"/>
                <a:cs typeface="Times New Roman" pitchFamily="18" charset="0"/>
              </a:rPr>
              <a:t>state-space</a:t>
            </a:r>
            <a:r>
              <a:rPr lang="en-US" sz="2200" dirty="0">
                <a:latin typeface="Times New Roman" pitchFamily="18" charset="0"/>
                <a:ea typeface="Microsoft Sans Serif" panose="020B0604020202020204" pitchFamily="34" charset="0"/>
                <a:cs typeface="Times New Roman" pitchFamily="18" charset="0"/>
              </a:rPr>
              <a:t> of the </a:t>
            </a:r>
            <a:r>
              <a:rPr lang="en-US" sz="2200" dirty="0" smtClean="0">
                <a:latin typeface="Times New Roman" pitchFamily="18" charset="0"/>
                <a:ea typeface="Microsoft Sans Serif" panose="020B0604020202020204" pitchFamily="34" charset="0"/>
                <a:cs typeface="Times New Roman" pitchFamily="18" charset="0"/>
              </a:rPr>
              <a:t>problem. </a:t>
            </a:r>
          </a:p>
          <a:p>
            <a:pPr algn="just" fontAlgn="base">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State-space </a:t>
            </a:r>
            <a:r>
              <a:rPr lang="en-US" sz="2200" dirty="0">
                <a:latin typeface="Times New Roman" pitchFamily="18" charset="0"/>
                <a:ea typeface="Microsoft Sans Serif" panose="020B0604020202020204" pitchFamily="34" charset="0"/>
                <a:cs typeface="Times New Roman" pitchFamily="18" charset="0"/>
              </a:rPr>
              <a:t>of a problem is a set of all states which can be reached from the initial state followed by any sequence of actions. </a:t>
            </a:r>
            <a:endParaRPr lang="en-US" sz="2200" dirty="0" smtClean="0">
              <a:latin typeface="Times New Roman" pitchFamily="18" charset="0"/>
              <a:ea typeface="Microsoft Sans Serif" panose="020B0604020202020204" pitchFamily="34" charset="0"/>
              <a:cs typeface="Times New Roman" pitchFamily="18" charset="0"/>
            </a:endParaRPr>
          </a:p>
          <a:p>
            <a:pPr algn="just" fontAlgn="base">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state-space forms a directed map or graph where nodes are the states, links between the nodes are actions, and the path is a sequence of states connected by the sequence of actions.</a:t>
            </a:r>
          </a:p>
          <a:p>
            <a:pPr lvl="1" algn="just" fontAlgn="base">
              <a:lnSpc>
                <a:spcPct val="150000"/>
              </a:lnSpc>
              <a:buFont typeface="Wingdings" panose="05000000000000000000" pitchFamily="2" charset="2"/>
              <a:buChar char="Ø"/>
            </a:pPr>
            <a:r>
              <a:rPr lang="en-US" sz="1900" b="1" dirty="0">
                <a:latin typeface="Times New Roman" pitchFamily="18" charset="0"/>
                <a:ea typeface="Microsoft Sans Serif" panose="020B0604020202020204" pitchFamily="34" charset="0"/>
                <a:cs typeface="Times New Roman" pitchFamily="18" charset="0"/>
              </a:rPr>
              <a:t>Search:</a:t>
            </a:r>
            <a:r>
              <a:rPr lang="en-US" sz="1900" dirty="0">
                <a:latin typeface="Times New Roman" pitchFamily="18" charset="0"/>
                <a:ea typeface="Microsoft Sans Serif" panose="020B0604020202020204" pitchFamily="34" charset="0"/>
                <a:cs typeface="Times New Roman" pitchFamily="18" charset="0"/>
              </a:rPr>
              <a:t> It identifies all the best possible sequence of actions to reach the goal state from the current state. It takes a problem as an input and returns solution as its output.</a:t>
            </a:r>
          </a:p>
          <a:p>
            <a:pPr lvl="1" algn="just" fontAlgn="base">
              <a:lnSpc>
                <a:spcPct val="150000"/>
              </a:lnSpc>
              <a:buFont typeface="Wingdings" panose="05000000000000000000" pitchFamily="2" charset="2"/>
              <a:buChar char="Ø"/>
            </a:pPr>
            <a:r>
              <a:rPr lang="en-US" sz="1900" b="1" dirty="0">
                <a:latin typeface="Times New Roman" pitchFamily="18" charset="0"/>
                <a:ea typeface="Microsoft Sans Serif" panose="020B0604020202020204" pitchFamily="34" charset="0"/>
                <a:cs typeface="Times New Roman" pitchFamily="18" charset="0"/>
              </a:rPr>
              <a:t>Solution:</a:t>
            </a:r>
            <a:r>
              <a:rPr lang="en-US" sz="1900" dirty="0">
                <a:latin typeface="Times New Roman" pitchFamily="18" charset="0"/>
                <a:ea typeface="Microsoft Sans Serif" panose="020B0604020202020204" pitchFamily="34" charset="0"/>
                <a:cs typeface="Times New Roman" pitchFamily="18" charset="0"/>
              </a:rPr>
              <a:t> It finds the best algorithm out of various algorithms, which may be proven as the best optimal solution.</a:t>
            </a:r>
          </a:p>
          <a:p>
            <a:pPr lvl="1" algn="just" fontAlgn="base">
              <a:lnSpc>
                <a:spcPct val="150000"/>
              </a:lnSpc>
              <a:buFont typeface="Wingdings" panose="05000000000000000000" pitchFamily="2" charset="2"/>
              <a:buChar char="Ø"/>
            </a:pPr>
            <a:r>
              <a:rPr lang="en-US" sz="1900" b="1" dirty="0">
                <a:latin typeface="Times New Roman" pitchFamily="18" charset="0"/>
                <a:ea typeface="Microsoft Sans Serif" panose="020B0604020202020204" pitchFamily="34" charset="0"/>
                <a:cs typeface="Times New Roman" pitchFamily="18" charset="0"/>
              </a:rPr>
              <a:t>Execution:</a:t>
            </a:r>
            <a:r>
              <a:rPr lang="en-US" sz="1900" dirty="0">
                <a:latin typeface="Times New Roman" pitchFamily="18" charset="0"/>
                <a:ea typeface="Microsoft Sans Serif" panose="020B0604020202020204" pitchFamily="34" charset="0"/>
                <a:cs typeface="Times New Roman" pitchFamily="18" charset="0"/>
              </a:rPr>
              <a:t> It executes the best optimal solution from the searching algorithms to reach the goal state from the current state.</a:t>
            </a: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22720746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326" y="117566"/>
            <a:ext cx="11325498" cy="6661925"/>
          </a:xfrm>
        </p:spPr>
        <p:txBody>
          <a:bodyPr>
            <a:noAutofit/>
          </a:bodyPr>
          <a:lstStyle/>
          <a:p>
            <a:pPr marL="0" indent="0" algn="just">
              <a:lnSpc>
                <a:spcPct val="100000"/>
              </a:lnSpc>
              <a:buNone/>
            </a:pPr>
            <a:r>
              <a:rPr lang="en-IN" sz="2200" dirty="0" smtClean="0">
                <a:solidFill>
                  <a:srgbClr val="00B050"/>
                </a:solidFill>
                <a:latin typeface="Times New Roman" pitchFamily="18" charset="0"/>
                <a:ea typeface="Microsoft Sans Serif" panose="020B0604020202020204" pitchFamily="34" charset="0"/>
                <a:cs typeface="Times New Roman" pitchFamily="18" charset="0"/>
              </a:rPr>
              <a:t>Well-defined problems and solutions</a:t>
            </a:r>
          </a:p>
          <a:p>
            <a:pPr algn="just">
              <a:lnSpc>
                <a:spcPct val="100000"/>
              </a:lnSpc>
              <a:buFont typeface="Wingdings" panose="05000000000000000000" pitchFamily="2" charset="2"/>
              <a:buChar char="v"/>
            </a:pPr>
            <a:r>
              <a:rPr lang="en-US" sz="1850" dirty="0" smtClean="0">
                <a:latin typeface="Times New Roman" pitchFamily="18" charset="0"/>
                <a:ea typeface="Microsoft Sans Serif" panose="020B0604020202020204" pitchFamily="34" charset="0"/>
                <a:cs typeface="Times New Roman" pitchFamily="18" charset="0"/>
              </a:rPr>
              <a:t>Simple problem solving agent, it first formulates a goal and a problem, searches for a sequence of actions that would solve the problem, and then executes the actions one at a time. When this is complete, it formulates another goal and starts over.</a:t>
            </a:r>
          </a:p>
          <a:p>
            <a:pPr marL="1828800" lvl="4" indent="0" algn="just">
              <a:lnSpc>
                <a:spcPct val="100000"/>
              </a:lnSpc>
              <a:buNone/>
            </a:pP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function SIMPLE-PROBLEM-SOLVING-AGENT(percept) returns an action</a:t>
            </a:r>
          </a:p>
          <a:p>
            <a:pPr marL="1828800" lvl="4" indent="0" algn="just">
              <a:lnSpc>
                <a:spcPct val="100000"/>
              </a:lnSpc>
              <a:buNone/>
            </a:pP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persistent: </a:t>
            </a: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seq</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an action sequence, initially empty</a:t>
            </a:r>
          </a:p>
          <a:p>
            <a:pPr marL="1828800" lvl="4" indent="0" algn="just">
              <a:lnSpc>
                <a:spcPct val="100000"/>
              </a:lnSpc>
              <a:buNone/>
            </a:pP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state</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some description of the current world state </a:t>
            </a:r>
          </a:p>
          <a:p>
            <a:pPr marL="1828800" lvl="4" indent="0" algn="just">
              <a:lnSpc>
                <a:spcPct val="100000"/>
              </a:lnSpc>
              <a:buNone/>
            </a:pP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goal</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a goal, initially null </a:t>
            </a:r>
          </a:p>
          <a:p>
            <a:pPr marL="1828800" lvl="4" indent="0" algn="just">
              <a:lnSpc>
                <a:spcPct val="100000"/>
              </a:lnSpc>
              <a:buNone/>
            </a:pP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problem</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a problem formulation</a:t>
            </a:r>
          </a:p>
          <a:p>
            <a:pPr marL="1828800" lvl="4" indent="0" algn="just">
              <a:lnSpc>
                <a:spcPct val="100000"/>
              </a:lnSpc>
              <a:buNone/>
            </a:pP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state </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UPDATE-STATE(state, percept) </a:t>
            </a:r>
          </a:p>
          <a:p>
            <a:pPr marL="1828800" lvl="4" indent="0" algn="just">
              <a:lnSpc>
                <a:spcPct val="100000"/>
              </a:lnSpc>
              <a:buNone/>
            </a:pP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if </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seq is empty </a:t>
            </a: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then</a:t>
            </a:r>
          </a:p>
          <a:p>
            <a:pPr marL="1828800" lvl="4" indent="0" algn="just">
              <a:lnSpc>
                <a:spcPct val="100000"/>
              </a:lnSpc>
              <a:buNone/>
            </a:pP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goal</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 FORMULATE-GOAL(state) </a:t>
            </a:r>
          </a:p>
          <a:p>
            <a:pPr marL="1828800" lvl="4" indent="0" algn="just">
              <a:lnSpc>
                <a:spcPct val="100000"/>
              </a:lnSpc>
              <a:buNone/>
            </a:pPr>
            <a:r>
              <a:rPr lang="en-US" sz="1850" i="1"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Problem</a:t>
            </a:r>
            <a:r>
              <a:rPr lang="en-US" sz="1850" dirty="0" smtClean="0">
                <a:solidFill>
                  <a:schemeClr val="accent1">
                    <a:lumMod val="75000"/>
                  </a:schemeClr>
                </a:solidFill>
                <a:latin typeface="Times New Roman" pitchFamily="18" charset="0"/>
                <a:ea typeface="Microsoft Sans Serif" panose="020B0604020202020204" pitchFamily="34" charset="0"/>
                <a:cs typeface="Times New Roman" pitchFamily="18" charset="0"/>
              </a:rPr>
              <a:t> ← FORMULATE-PROBLEM(state, goal) </a:t>
            </a:r>
          </a:p>
          <a:p>
            <a:pPr marL="1828800" lvl="4" indent="0" algn="just">
              <a:lnSpc>
                <a:spcPct val="100000"/>
              </a:lnSpc>
              <a:buNone/>
            </a:pPr>
            <a:r>
              <a:rPr lang="en-US" sz="1850" i="1" dirty="0" err="1">
                <a:solidFill>
                  <a:schemeClr val="accent1">
                    <a:lumMod val="75000"/>
                  </a:schemeClr>
                </a:solidFill>
                <a:latin typeface="Times New Roman" pitchFamily="18" charset="0"/>
                <a:ea typeface="Microsoft Sans Serif" panose="020B0604020202020204" pitchFamily="34" charset="0"/>
                <a:cs typeface="Times New Roman" pitchFamily="18" charset="0"/>
              </a:rPr>
              <a:t>seq</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 ← SEARCH(problem)</a:t>
            </a:r>
            <a:endParaRPr lang="en-IN" sz="1850" dirty="0">
              <a:solidFill>
                <a:schemeClr val="accent1">
                  <a:lumMod val="75000"/>
                </a:schemeClr>
              </a:solidFill>
              <a:latin typeface="Times New Roman" pitchFamily="18" charset="0"/>
              <a:ea typeface="Microsoft Sans Serif" panose="020B0604020202020204" pitchFamily="34" charset="0"/>
              <a:cs typeface="Times New Roman" pitchFamily="18" charset="0"/>
            </a:endParaRPr>
          </a:p>
          <a:p>
            <a:pPr marL="1828800" lvl="4" indent="0" algn="just">
              <a:lnSpc>
                <a:spcPct val="100000"/>
              </a:lnSpc>
              <a:buNone/>
            </a:pPr>
            <a:r>
              <a:rPr lang="en-US" sz="1850" i="1" dirty="0">
                <a:solidFill>
                  <a:schemeClr val="accent1">
                    <a:lumMod val="75000"/>
                  </a:schemeClr>
                </a:solidFill>
                <a:latin typeface="Times New Roman" pitchFamily="18" charset="0"/>
                <a:ea typeface="Microsoft Sans Serif" panose="020B0604020202020204" pitchFamily="34" charset="0"/>
                <a:cs typeface="Times New Roman" pitchFamily="18" charset="0"/>
              </a:rPr>
              <a:t>if</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 </a:t>
            </a:r>
            <a:r>
              <a:rPr lang="en-US" sz="1850" dirty="0" err="1">
                <a:solidFill>
                  <a:schemeClr val="accent1">
                    <a:lumMod val="75000"/>
                  </a:schemeClr>
                </a:solidFill>
                <a:latin typeface="Times New Roman" pitchFamily="18" charset="0"/>
                <a:ea typeface="Microsoft Sans Serif" panose="020B0604020202020204" pitchFamily="34" charset="0"/>
                <a:cs typeface="Times New Roman" pitchFamily="18" charset="0"/>
              </a:rPr>
              <a:t>seq</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 = failure </a:t>
            </a:r>
            <a:r>
              <a:rPr lang="en-US" sz="1850" i="1" dirty="0">
                <a:solidFill>
                  <a:schemeClr val="accent1">
                    <a:lumMod val="75000"/>
                  </a:schemeClr>
                </a:solidFill>
                <a:latin typeface="Times New Roman" pitchFamily="18" charset="0"/>
                <a:ea typeface="Microsoft Sans Serif" panose="020B0604020202020204" pitchFamily="34" charset="0"/>
                <a:cs typeface="Times New Roman" pitchFamily="18" charset="0"/>
              </a:rPr>
              <a:t>then return </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a null action </a:t>
            </a:r>
          </a:p>
          <a:p>
            <a:pPr marL="1828800" lvl="4" indent="0" algn="just">
              <a:lnSpc>
                <a:spcPct val="100000"/>
              </a:lnSpc>
              <a:buNone/>
            </a:pP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action ← FIRST(</a:t>
            </a:r>
            <a:r>
              <a:rPr lang="en-US" sz="1850" dirty="0" err="1">
                <a:solidFill>
                  <a:schemeClr val="accent1">
                    <a:lumMod val="75000"/>
                  </a:schemeClr>
                </a:solidFill>
                <a:latin typeface="Times New Roman" pitchFamily="18" charset="0"/>
                <a:ea typeface="Microsoft Sans Serif" panose="020B0604020202020204" pitchFamily="34" charset="0"/>
                <a:cs typeface="Times New Roman" pitchFamily="18" charset="0"/>
              </a:rPr>
              <a:t>seq</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 </a:t>
            </a:r>
          </a:p>
          <a:p>
            <a:pPr marL="1828800" lvl="4" indent="0" algn="just">
              <a:lnSpc>
                <a:spcPct val="100000"/>
              </a:lnSpc>
              <a:buNone/>
            </a:pPr>
            <a:r>
              <a:rPr lang="en-US" sz="1850" dirty="0" err="1">
                <a:solidFill>
                  <a:schemeClr val="accent1">
                    <a:lumMod val="75000"/>
                  </a:schemeClr>
                </a:solidFill>
                <a:latin typeface="Times New Roman" pitchFamily="18" charset="0"/>
                <a:ea typeface="Microsoft Sans Serif" panose="020B0604020202020204" pitchFamily="34" charset="0"/>
                <a:cs typeface="Times New Roman" pitchFamily="18" charset="0"/>
              </a:rPr>
              <a:t>seq</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 ← REST(</a:t>
            </a:r>
            <a:r>
              <a:rPr lang="en-US" sz="1850" dirty="0" err="1">
                <a:solidFill>
                  <a:schemeClr val="accent1">
                    <a:lumMod val="75000"/>
                  </a:schemeClr>
                </a:solidFill>
                <a:latin typeface="Times New Roman" pitchFamily="18" charset="0"/>
                <a:ea typeface="Microsoft Sans Serif" panose="020B0604020202020204" pitchFamily="34" charset="0"/>
                <a:cs typeface="Times New Roman" pitchFamily="18" charset="0"/>
              </a:rPr>
              <a:t>seq</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 </a:t>
            </a:r>
          </a:p>
          <a:p>
            <a:pPr marL="1828800" lvl="4" indent="0" algn="just">
              <a:lnSpc>
                <a:spcPct val="100000"/>
              </a:lnSpc>
              <a:buNone/>
            </a:pPr>
            <a:r>
              <a:rPr lang="en-US" sz="1850" i="1" dirty="0">
                <a:solidFill>
                  <a:schemeClr val="accent1">
                    <a:lumMod val="75000"/>
                  </a:schemeClr>
                </a:solidFill>
                <a:latin typeface="Times New Roman" pitchFamily="18" charset="0"/>
                <a:ea typeface="Microsoft Sans Serif" panose="020B0604020202020204" pitchFamily="34" charset="0"/>
                <a:cs typeface="Times New Roman" pitchFamily="18" charset="0"/>
              </a:rPr>
              <a:t>return</a:t>
            </a:r>
            <a:r>
              <a:rPr lang="en-US" sz="1850" dirty="0">
                <a:solidFill>
                  <a:schemeClr val="accent1">
                    <a:lumMod val="75000"/>
                  </a:schemeClr>
                </a:solidFill>
                <a:latin typeface="Times New Roman" pitchFamily="18" charset="0"/>
                <a:ea typeface="Microsoft Sans Serif" panose="020B0604020202020204" pitchFamily="34" charset="0"/>
                <a:cs typeface="Times New Roman" pitchFamily="18" charset="0"/>
              </a:rPr>
              <a:t> action</a:t>
            </a: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30712151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446" y="64654"/>
            <a:ext cx="11743772" cy="6696363"/>
          </a:xfrm>
        </p:spPr>
        <p:txBody>
          <a:bodyPr>
            <a:normAutofit/>
          </a:bodyPr>
          <a:lstStyle/>
          <a:p>
            <a:pPr marL="0" indent="0" algn="just">
              <a:lnSpc>
                <a:spcPct val="100000"/>
              </a:lnSpc>
              <a:buNone/>
            </a:pPr>
            <a:r>
              <a:rPr lang="en-US" sz="2400" dirty="0" smtClean="0">
                <a:solidFill>
                  <a:srgbClr val="00B050"/>
                </a:solidFill>
                <a:latin typeface="Times New Roman" panose="02020603050405020304" pitchFamily="18" charset="0"/>
                <a:cs typeface="Times New Roman" panose="02020603050405020304" pitchFamily="18" charset="0"/>
              </a:rPr>
              <a:t>A simplified road map of part of Romania</a:t>
            </a:r>
            <a:endParaRPr lang="en-US" sz="2200"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pic>
        <p:nvPicPr>
          <p:cNvPr id="3074" name="Picture 2" descr="Search Algorithms Part 1: Problem Formulation and Searching for Solutions |  by Rithesh K | Kredo.ai Engineering | Medium"/>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70263" y="587829"/>
            <a:ext cx="11194868" cy="617318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318631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942" y="143691"/>
            <a:ext cx="11672785" cy="6552673"/>
          </a:xfrm>
        </p:spPr>
        <p:txBody>
          <a:bodyPr>
            <a:normAutofit lnSpcReduction="10000"/>
          </a:bodyPr>
          <a:lstStyle/>
          <a:p>
            <a:pPr algn="just">
              <a:lnSpc>
                <a:spcPct val="150000"/>
              </a:lnSpc>
              <a:buFont typeface="Wingdings" panose="05000000000000000000" pitchFamily="2" charset="2"/>
              <a:buChar char="v"/>
            </a:pPr>
            <a:r>
              <a:rPr lang="en-US" dirty="0" smtClean="0"/>
              <a:t> </a:t>
            </a:r>
            <a:r>
              <a:rPr lang="en-IN" sz="2200" dirty="0" smtClean="0">
                <a:latin typeface="Times New Roman" pitchFamily="18" charset="0"/>
                <a:ea typeface="Microsoft Sans Serif" panose="020B0604020202020204" pitchFamily="34" charset="0"/>
                <a:cs typeface="Times New Roman" pitchFamily="18" charset="0"/>
              </a:rPr>
              <a:t>INITIAL STATE  </a:t>
            </a:r>
            <a:r>
              <a:rPr lang="en-US" sz="2200" dirty="0" smtClean="0">
                <a:latin typeface="Times New Roman" pitchFamily="18" charset="0"/>
                <a:ea typeface="Microsoft Sans Serif" panose="020B0604020202020204" pitchFamily="34" charset="0"/>
                <a:cs typeface="Times New Roman" pitchFamily="18" charset="0"/>
              </a:rPr>
              <a:t>The initial state that the agent starts in. For example, the initial state for our agent in Romania might be described as In(Arad).</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ACTIONS    A description of the possible actions available to the agent. Given a particular state s, ACTIONS(s) returns the set of actions that can be executed in s. We say that each of APPLICABLE these actions is applicable in s. </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For example, from the state In(Arad), the applicable actions are {Go(Sibiu), Go(Timisoara), Go(</a:t>
            </a:r>
            <a:r>
              <a:rPr lang="en-US" sz="2200" dirty="0" err="1" smtClean="0">
                <a:latin typeface="Times New Roman" pitchFamily="18" charset="0"/>
                <a:ea typeface="Microsoft Sans Serif" panose="020B0604020202020204" pitchFamily="34" charset="0"/>
                <a:cs typeface="Times New Roman" pitchFamily="18" charset="0"/>
              </a:rPr>
              <a:t>Zerind</a:t>
            </a:r>
            <a:r>
              <a:rPr lang="en-US" sz="2200" dirty="0" smtClean="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TRANSITION MODEL A description of what each action does; the formal name for this is the transition model, specified by a function RESULT(s, a) that returns the state that results from doing action a in state s. We also use the term successor to refer to any state reachable from a given state by a single action.</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For example, we have RESULT(In(Arad),Go(</a:t>
            </a:r>
            <a:r>
              <a:rPr lang="en-US" sz="2200" dirty="0" err="1" smtClean="0">
                <a:latin typeface="Times New Roman" pitchFamily="18" charset="0"/>
                <a:ea typeface="Microsoft Sans Serif" panose="020B0604020202020204" pitchFamily="34" charset="0"/>
                <a:cs typeface="Times New Roman" pitchFamily="18" charset="0"/>
              </a:rPr>
              <a:t>Zerind</a:t>
            </a:r>
            <a:r>
              <a:rPr lang="en-US" sz="2200" dirty="0" smtClean="0">
                <a:latin typeface="Times New Roman" pitchFamily="18" charset="0"/>
                <a:ea typeface="Microsoft Sans Serif" panose="020B0604020202020204" pitchFamily="34" charset="0"/>
                <a:cs typeface="Times New Roman" pitchFamily="18" charset="0"/>
              </a:rPr>
              <a:t>)) = In(</a:t>
            </a:r>
            <a:r>
              <a:rPr lang="en-US" sz="2200" dirty="0" err="1" smtClean="0">
                <a:latin typeface="Times New Roman" pitchFamily="18" charset="0"/>
                <a:ea typeface="Microsoft Sans Serif" panose="020B0604020202020204" pitchFamily="34" charset="0"/>
                <a:cs typeface="Times New Roman" pitchFamily="18" charset="0"/>
              </a:rPr>
              <a:t>Zerind</a:t>
            </a:r>
            <a:r>
              <a:rPr lang="en-US" sz="2200" dirty="0" smtClean="0">
                <a:latin typeface="Times New Roman" pitchFamily="18" charset="0"/>
                <a:ea typeface="Microsoft Sans Serif" panose="020B0604020202020204" pitchFamily="34" charset="0"/>
                <a:cs typeface="Times New Roman" pitchFamily="18" charset="0"/>
              </a:rPr>
              <a:t>) .</a:t>
            </a:r>
          </a:p>
        </p:txBody>
      </p:sp>
    </p:spTree>
    <p:extLst>
      <p:ext uri="{BB962C8B-B14F-4D97-AF65-F5344CB8AC3E}">
        <p14:creationId xmlns:p14="http://schemas.microsoft.com/office/powerpoint/2010/main" xmlns="" val="40574591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326" y="339633"/>
            <a:ext cx="11364685" cy="6393675"/>
          </a:xfrm>
        </p:spPr>
        <p:txBody>
          <a:bodyPr>
            <a:normAutofit/>
          </a:bodyPr>
          <a:lstStyle/>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GOAL TEST  The goal test, which determines whether a given state is a goal state. Sometimes there is an explicit set of possible goal states, and the test simply checks whether the given state is one of them. The agent’s goal in Romania is the singleton set {In(Bucharest)}. </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Sometimes the goal is specified by an abstract property rather than an explicitly enumerated set of states. For example, in chess, the goal is to reach a state called “checkmate,” where the opponent’s king is under attack and can’t escape. </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PATH COST A path cost function that assigns a numeric cost to each path. The problem-solving agent chooses a cost function that reflects its own performance measure. For the agent trying to get to Bucharest, so the cost of a path might be its length in kilometers.</a:t>
            </a:r>
            <a:endParaRPr lang="en-IN" sz="2200" dirty="0" smtClean="0">
              <a:latin typeface="Times New Roman" pitchFamily="18" charset="0"/>
              <a:ea typeface="Microsoft Sans Serif" panose="020B0604020202020204" pitchFamily="34" charset="0"/>
              <a:cs typeface="Times New Roman" pitchFamily="18" charset="0"/>
            </a:endParaRPr>
          </a:p>
          <a:p>
            <a:pPr marL="0" indent="0">
              <a:buNone/>
            </a:pPr>
            <a:endParaRPr lang="en-IN" sz="2200" dirty="0"/>
          </a:p>
        </p:txBody>
      </p:sp>
    </p:spTree>
    <p:extLst>
      <p:ext uri="{BB962C8B-B14F-4D97-AF65-F5344CB8AC3E}">
        <p14:creationId xmlns:p14="http://schemas.microsoft.com/office/powerpoint/2010/main" xmlns="" val="18502183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261257" y="209006"/>
            <a:ext cx="11547566" cy="6588609"/>
          </a:xfrm>
        </p:spPr>
        <p:txBody>
          <a:bodyPr>
            <a:normAutofit fontScale="70000" lnSpcReduction="20000"/>
          </a:bodyPr>
          <a:lstStyle/>
          <a:p>
            <a:pPr marL="0" indent="0" algn="just">
              <a:lnSpc>
                <a:spcPct val="100000"/>
              </a:lnSpc>
              <a:buNone/>
            </a:pPr>
            <a:r>
              <a:rPr lang="en-IN" sz="3400" b="1" dirty="0" smtClean="0">
                <a:solidFill>
                  <a:srgbClr val="FF0000"/>
                </a:solidFill>
                <a:latin typeface="Times New Roman" pitchFamily="18" charset="0"/>
                <a:ea typeface="Microsoft Sans Serif" panose="020B0604020202020204" pitchFamily="34" charset="0"/>
                <a:cs typeface="Times New Roman" pitchFamily="18" charset="0"/>
              </a:rPr>
              <a:t>1.10 Example </a:t>
            </a:r>
            <a:r>
              <a:rPr lang="en-IN" sz="3400" b="1" dirty="0">
                <a:solidFill>
                  <a:srgbClr val="FF0000"/>
                </a:solidFill>
                <a:latin typeface="Times New Roman" pitchFamily="18" charset="0"/>
                <a:ea typeface="Microsoft Sans Serif" panose="020B0604020202020204" pitchFamily="34" charset="0"/>
                <a:cs typeface="Times New Roman" pitchFamily="18" charset="0"/>
              </a:rPr>
              <a:t>Problems</a:t>
            </a:r>
            <a:endParaRPr lang="en-US" sz="3400" dirty="0" smtClean="0">
              <a:solidFill>
                <a:srgbClr val="FF0000"/>
              </a:solidFill>
              <a:latin typeface="Times New Roman" pitchFamily="18" charset="0"/>
              <a:ea typeface="Microsoft Sans Serif" panose="020B0604020202020204" pitchFamily="34" charset="0"/>
              <a:cs typeface="Times New Roman" pitchFamily="18" charset="0"/>
            </a:endParaRPr>
          </a:p>
          <a:p>
            <a:pPr algn="just">
              <a:lnSpc>
                <a:spcPct val="160000"/>
              </a:lnSpc>
              <a:buFont typeface="Wingdings" panose="05000000000000000000" pitchFamily="2" charset="2"/>
              <a:buChar char="v"/>
            </a:pPr>
            <a:r>
              <a:rPr lang="en-US" sz="2600" dirty="0" smtClean="0">
                <a:latin typeface="Times New Roman" pitchFamily="18" charset="0"/>
                <a:ea typeface="Microsoft Sans Serif" panose="020B0604020202020204" pitchFamily="34" charset="0"/>
                <a:cs typeface="Times New Roman" pitchFamily="18" charset="0"/>
              </a:rPr>
              <a:t>The </a:t>
            </a:r>
            <a:r>
              <a:rPr lang="en-US" sz="2600" dirty="0">
                <a:latin typeface="Times New Roman" pitchFamily="18" charset="0"/>
                <a:ea typeface="Microsoft Sans Serif" panose="020B0604020202020204" pitchFamily="34" charset="0"/>
                <a:cs typeface="Times New Roman" pitchFamily="18" charset="0"/>
              </a:rPr>
              <a:t>problem-solving approach has been applied to a vast array of task environments. </a:t>
            </a:r>
            <a:endParaRPr lang="en-US" sz="2600" dirty="0" smtClean="0">
              <a:latin typeface="Times New Roman" pitchFamily="18" charset="0"/>
              <a:ea typeface="Microsoft Sans Serif" panose="020B0604020202020204" pitchFamily="34" charset="0"/>
              <a:cs typeface="Times New Roman" pitchFamily="18" charset="0"/>
            </a:endParaRPr>
          </a:p>
          <a:p>
            <a:pPr marL="0" indent="0" algn="just">
              <a:lnSpc>
                <a:spcPct val="160000"/>
              </a:lnSpc>
              <a:buNone/>
            </a:pPr>
            <a:r>
              <a:rPr lang="en-US" sz="2600" dirty="0" smtClean="0">
                <a:solidFill>
                  <a:srgbClr val="0070C0"/>
                </a:solidFill>
                <a:latin typeface="Times New Roman" pitchFamily="18" charset="0"/>
                <a:ea typeface="Microsoft Sans Serif" panose="020B0604020202020204" pitchFamily="34" charset="0"/>
                <a:cs typeface="Times New Roman" pitchFamily="18" charset="0"/>
              </a:rPr>
              <a:t>Toy problems </a:t>
            </a:r>
            <a:r>
              <a:rPr lang="en-US" sz="2600" dirty="0">
                <a:latin typeface="Times New Roman" pitchFamily="18" charset="0"/>
                <a:ea typeface="Microsoft Sans Serif" panose="020B0604020202020204" pitchFamily="34" charset="0"/>
                <a:cs typeface="Times New Roman" pitchFamily="18" charset="0"/>
              </a:rPr>
              <a:t>The first example we examine is the vacuum world This can be formulated as a problem as follows: </a:t>
            </a:r>
          </a:p>
          <a:p>
            <a:pPr algn="just">
              <a:lnSpc>
                <a:spcPct val="170000"/>
              </a:lnSpc>
              <a:buFont typeface="Wingdings" panose="05000000000000000000" pitchFamily="2" charset="2"/>
              <a:buChar char="v"/>
            </a:pPr>
            <a:r>
              <a:rPr lang="en-US" sz="2600" dirty="0">
                <a:latin typeface="Times New Roman" pitchFamily="18" charset="0"/>
                <a:ea typeface="Microsoft Sans Serif" panose="020B0604020202020204" pitchFamily="34" charset="0"/>
                <a:cs typeface="Times New Roman" pitchFamily="18" charset="0"/>
              </a:rPr>
              <a:t>States: The state is determined by both the agent location and the dirt locations. The agent is in one of two locations, each of which might or might not contain dirt. Thus, there are 2 × 2(2) = 8 possible world states. A larger environment with n locations has n · 2n states. </a:t>
            </a:r>
          </a:p>
          <a:p>
            <a:pPr algn="just">
              <a:lnSpc>
                <a:spcPct val="170000"/>
              </a:lnSpc>
              <a:buFont typeface="Wingdings" panose="05000000000000000000" pitchFamily="2" charset="2"/>
              <a:buChar char="v"/>
            </a:pPr>
            <a:r>
              <a:rPr lang="en-US" sz="2600" dirty="0">
                <a:latin typeface="Times New Roman" pitchFamily="18" charset="0"/>
                <a:ea typeface="Microsoft Sans Serif" panose="020B0604020202020204" pitchFamily="34" charset="0"/>
                <a:cs typeface="Times New Roman" pitchFamily="18" charset="0"/>
              </a:rPr>
              <a:t>Initial state: Any state can be designated as the initial state. </a:t>
            </a:r>
          </a:p>
          <a:p>
            <a:pPr algn="just">
              <a:lnSpc>
                <a:spcPct val="170000"/>
              </a:lnSpc>
              <a:buFont typeface="Wingdings" panose="05000000000000000000" pitchFamily="2" charset="2"/>
              <a:buChar char="v"/>
            </a:pPr>
            <a:r>
              <a:rPr lang="en-US" sz="2600" dirty="0">
                <a:latin typeface="Times New Roman" pitchFamily="18" charset="0"/>
                <a:ea typeface="Microsoft Sans Serif" panose="020B0604020202020204" pitchFamily="34" charset="0"/>
                <a:cs typeface="Times New Roman" pitchFamily="18" charset="0"/>
              </a:rPr>
              <a:t>Actions: In this simple environment, each state has just three actions: Left, Right, and Suck. Larger environments might also include Up and Down. </a:t>
            </a:r>
            <a:endParaRPr lang="en-US" sz="2600" dirty="0"/>
          </a:p>
          <a:p>
            <a:pPr algn="just">
              <a:lnSpc>
                <a:spcPct val="170000"/>
              </a:lnSpc>
              <a:buFont typeface="Wingdings" panose="05000000000000000000" pitchFamily="2" charset="2"/>
              <a:buChar char="v"/>
            </a:pPr>
            <a:r>
              <a:rPr lang="en-US" sz="2600" dirty="0">
                <a:latin typeface="Times New Roman" pitchFamily="18" charset="0"/>
                <a:ea typeface="Microsoft Sans Serif" panose="020B0604020202020204" pitchFamily="34" charset="0"/>
                <a:cs typeface="Times New Roman" pitchFamily="18" charset="0"/>
              </a:rPr>
              <a:t>Transition model: The actions have their expected effects, except that moving Left in the leftmost square, moving Right in the rightmost square, and Sucking in a clean square have no effect. </a:t>
            </a:r>
            <a:endParaRPr lang="en-US" sz="2600" dirty="0" smtClean="0">
              <a:latin typeface="Times New Roman" pitchFamily="18" charset="0"/>
              <a:ea typeface="Microsoft Sans Serif" panose="020B0604020202020204" pitchFamily="34" charset="0"/>
              <a:cs typeface="Times New Roman" pitchFamily="18" charset="0"/>
            </a:endParaRPr>
          </a:p>
          <a:p>
            <a:pPr algn="just">
              <a:lnSpc>
                <a:spcPct val="170000"/>
              </a:lnSpc>
              <a:buFont typeface="Wingdings" panose="05000000000000000000" pitchFamily="2" charset="2"/>
              <a:buChar char="v"/>
            </a:pPr>
            <a:r>
              <a:rPr lang="en-US" sz="2600" dirty="0" smtClean="0">
                <a:latin typeface="Times New Roman" pitchFamily="18" charset="0"/>
                <a:ea typeface="Microsoft Sans Serif" panose="020B0604020202020204" pitchFamily="34" charset="0"/>
                <a:cs typeface="Times New Roman" pitchFamily="18" charset="0"/>
              </a:rPr>
              <a:t>Goal </a:t>
            </a:r>
            <a:r>
              <a:rPr lang="en-US" sz="2600" dirty="0">
                <a:latin typeface="Times New Roman" pitchFamily="18" charset="0"/>
                <a:ea typeface="Microsoft Sans Serif" panose="020B0604020202020204" pitchFamily="34" charset="0"/>
                <a:cs typeface="Times New Roman" pitchFamily="18" charset="0"/>
              </a:rPr>
              <a:t>test: This checks whether all the squares are clean. </a:t>
            </a:r>
          </a:p>
          <a:p>
            <a:pPr algn="just">
              <a:lnSpc>
                <a:spcPct val="170000"/>
              </a:lnSpc>
              <a:buFont typeface="Wingdings" panose="05000000000000000000" pitchFamily="2" charset="2"/>
              <a:buChar char="v"/>
            </a:pPr>
            <a:r>
              <a:rPr lang="en-US" sz="2600" dirty="0">
                <a:latin typeface="Times New Roman" pitchFamily="18" charset="0"/>
                <a:ea typeface="Microsoft Sans Serif" panose="020B0604020202020204" pitchFamily="34" charset="0"/>
                <a:cs typeface="Times New Roman" pitchFamily="18" charset="0"/>
              </a:rPr>
              <a:t>Path cost: Each step costs 1, so the path cost is the number of steps in the path.</a:t>
            </a:r>
          </a:p>
          <a:p>
            <a:pPr marL="0" indent="0" algn="just">
              <a:lnSpc>
                <a:spcPct val="160000"/>
              </a:lnSpc>
              <a:buNone/>
            </a:pPr>
            <a:endParaRPr lang="en-US" sz="2200" dirty="0" smtClean="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40959879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acuum cleaner example"/>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97280" y="130629"/>
            <a:ext cx="10280469" cy="672737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5318598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698" y="209006"/>
            <a:ext cx="11639006" cy="6510971"/>
          </a:xfrm>
        </p:spPr>
        <p:txBody>
          <a:bodyPr>
            <a:normAutofit/>
          </a:bodyPr>
          <a:lstStyle/>
          <a:p>
            <a:pPr marL="0" indent="0" algn="just">
              <a:lnSpc>
                <a:spcPct val="10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The </a:t>
            </a:r>
            <a:r>
              <a:rPr lang="en-US" sz="2200" dirty="0" smtClean="0">
                <a:solidFill>
                  <a:srgbClr val="00B050"/>
                </a:solidFill>
                <a:latin typeface="Times New Roman" pitchFamily="18" charset="0"/>
                <a:ea typeface="Microsoft Sans Serif" panose="020B0604020202020204" pitchFamily="34" charset="0"/>
                <a:cs typeface="Times New Roman" pitchFamily="18" charset="0"/>
              </a:rPr>
              <a:t>8-puzzle(Sliding tile)</a:t>
            </a:r>
          </a:p>
          <a:p>
            <a:pPr algn="just">
              <a:lnSpc>
                <a:spcPct val="10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8-puzzle, an instance of which is shown in </a:t>
            </a:r>
            <a:r>
              <a:rPr lang="en-US" sz="2200" dirty="0" smtClean="0">
                <a:latin typeface="Times New Roman" pitchFamily="18" charset="0"/>
                <a:ea typeface="Microsoft Sans Serif" panose="020B0604020202020204" pitchFamily="34" charset="0"/>
                <a:cs typeface="Times New Roman" pitchFamily="18" charset="0"/>
              </a:rPr>
              <a:t>Figure, </a:t>
            </a:r>
            <a:r>
              <a:rPr lang="en-US" sz="2200" dirty="0">
                <a:latin typeface="Times New Roman" pitchFamily="18" charset="0"/>
                <a:ea typeface="Microsoft Sans Serif" panose="020B0604020202020204" pitchFamily="34" charset="0"/>
                <a:cs typeface="Times New Roman" pitchFamily="18" charset="0"/>
              </a:rPr>
              <a:t>consists of a 3×3 board with eight numbered tiles and a blank space.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A </a:t>
            </a:r>
            <a:r>
              <a:rPr lang="en-US" sz="2200" dirty="0">
                <a:latin typeface="Times New Roman" pitchFamily="18" charset="0"/>
                <a:ea typeface="Microsoft Sans Serif" panose="020B0604020202020204" pitchFamily="34" charset="0"/>
                <a:cs typeface="Times New Roman" pitchFamily="18" charset="0"/>
              </a:rPr>
              <a:t>tile adjacent to the blank space can slide into the space. The object is to reach a specified goal state, such as the one shown on the right of the figure.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standard formulation is as </a:t>
            </a:r>
            <a:r>
              <a:rPr lang="en-US" sz="2200" dirty="0" smtClean="0">
                <a:latin typeface="Times New Roman" pitchFamily="18" charset="0"/>
                <a:ea typeface="Microsoft Sans Serif" panose="020B0604020202020204" pitchFamily="34" charset="0"/>
                <a:cs typeface="Times New Roman" pitchFamily="18" charset="0"/>
              </a:rPr>
              <a:t>follows</a:t>
            </a:r>
          </a:p>
          <a:p>
            <a:pPr algn="just">
              <a:lnSpc>
                <a:spcPct val="100000"/>
              </a:lnSpc>
              <a:buFont typeface="Wingdings" panose="05000000000000000000" pitchFamily="2" charset="2"/>
              <a:buChar char="Ø"/>
            </a:pPr>
            <a:r>
              <a:rPr lang="en-US" sz="2200" dirty="0" smtClean="0">
                <a:latin typeface="Times New Roman" pitchFamily="18" charset="0"/>
                <a:ea typeface="Microsoft Sans Serif" panose="020B0604020202020204" pitchFamily="34" charset="0"/>
                <a:cs typeface="Times New Roman" pitchFamily="18" charset="0"/>
              </a:rPr>
              <a:t>States</a:t>
            </a:r>
            <a:r>
              <a:rPr lang="en-US" sz="2200" dirty="0">
                <a:latin typeface="Times New Roman" pitchFamily="18" charset="0"/>
                <a:ea typeface="Microsoft Sans Serif" panose="020B0604020202020204" pitchFamily="34" charset="0"/>
                <a:cs typeface="Times New Roman" pitchFamily="18" charset="0"/>
              </a:rPr>
              <a:t>: A state description specifies the location of </a:t>
            </a:r>
            <a:r>
              <a:rPr lang="en-US" sz="2200" dirty="0" smtClean="0">
                <a:latin typeface="Times New Roman" pitchFamily="18" charset="0"/>
                <a:ea typeface="Microsoft Sans Serif" panose="020B0604020202020204" pitchFamily="34" charset="0"/>
                <a:cs typeface="Times New Roman" pitchFamily="18" charset="0"/>
              </a:rPr>
              <a:t>each </a:t>
            </a:r>
            <a:r>
              <a:rPr lang="en-US" sz="2200" dirty="0">
                <a:latin typeface="Times New Roman" pitchFamily="18" charset="0"/>
                <a:ea typeface="Microsoft Sans Serif" panose="020B0604020202020204" pitchFamily="34" charset="0"/>
                <a:cs typeface="Times New Roman" pitchFamily="18" charset="0"/>
              </a:rPr>
              <a:t>of the eight tiles and the blank in one of </a:t>
            </a:r>
            <a:r>
              <a:rPr lang="en-US" sz="2200" dirty="0" smtClean="0">
                <a:latin typeface="Times New Roman" pitchFamily="18" charset="0"/>
                <a:ea typeface="Microsoft Sans Serif" panose="020B0604020202020204" pitchFamily="34" charset="0"/>
                <a:cs typeface="Times New Roman" pitchFamily="18" charset="0"/>
              </a:rPr>
              <a:t>the nine </a:t>
            </a:r>
            <a:r>
              <a:rPr lang="en-US" sz="2200" dirty="0">
                <a:latin typeface="Times New Roman" pitchFamily="18" charset="0"/>
                <a:ea typeface="Microsoft Sans Serif" panose="020B0604020202020204" pitchFamily="34" charset="0"/>
                <a:cs typeface="Times New Roman" pitchFamily="18" charset="0"/>
              </a:rPr>
              <a:t>squares.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Ø"/>
            </a:pPr>
            <a:r>
              <a:rPr lang="en-US" sz="2200" dirty="0" smtClean="0">
                <a:latin typeface="Times New Roman" pitchFamily="18" charset="0"/>
                <a:ea typeface="Microsoft Sans Serif" panose="020B0604020202020204" pitchFamily="34" charset="0"/>
                <a:cs typeface="Times New Roman" pitchFamily="18" charset="0"/>
              </a:rPr>
              <a:t>Initial </a:t>
            </a:r>
            <a:r>
              <a:rPr lang="en-US" sz="2200" dirty="0">
                <a:latin typeface="Times New Roman" pitchFamily="18" charset="0"/>
                <a:ea typeface="Microsoft Sans Serif" panose="020B0604020202020204" pitchFamily="34" charset="0"/>
                <a:cs typeface="Times New Roman" pitchFamily="18" charset="0"/>
              </a:rPr>
              <a:t>state: Any state can be designated as the initial state. Note that any given goal can be reached from exactly half of the possible initial states </a:t>
            </a:r>
            <a:r>
              <a:rPr lang="en-US" sz="2400" dirty="0" smtClean="0">
                <a:latin typeface="Times New Roman" pitchFamily="18" charset="0"/>
                <a:ea typeface="Microsoft Sans Serif" panose="020B0604020202020204" pitchFamily="34" charset="0"/>
                <a:cs typeface="Times New Roman" pitchFamily="18" charset="0"/>
              </a:rPr>
              <a:t>. </a:t>
            </a:r>
          </a:p>
          <a:p>
            <a:pPr marL="0" indent="0">
              <a:buNone/>
            </a:pPr>
            <a:endParaRPr lang="en-IN" dirty="0"/>
          </a:p>
        </p:txBody>
      </p:sp>
      <p:pic>
        <p:nvPicPr>
          <p:cNvPr id="2050" name="Picture 2" descr="The 8 Puzzle."/>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174274" y="4467497"/>
            <a:ext cx="6035039" cy="219369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2008178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4" y="378823"/>
            <a:ext cx="11194869" cy="6349780"/>
          </a:xfrm>
        </p:spPr>
        <p:txBody>
          <a:bodyPr>
            <a:normAutofit/>
          </a:bodyPr>
          <a:lstStyle/>
          <a:p>
            <a:pPr algn="just">
              <a:lnSpc>
                <a:spcPct val="150000"/>
              </a:lnSpc>
              <a:buFont typeface="Wingdings" panose="05000000000000000000" pitchFamily="2" charset="2"/>
              <a:buChar char="v"/>
            </a:pPr>
            <a:r>
              <a:rPr lang="en-US" sz="2000" dirty="0">
                <a:latin typeface="Times New Roman" panose="02020603050405020304" pitchFamily="18" charset="0"/>
                <a:ea typeface="Microsoft Sans Serif" panose="020B0604020202020204" pitchFamily="34" charset="0"/>
                <a:cs typeface="Times New Roman" pitchFamily="18" charset="0"/>
              </a:rPr>
              <a:t>Actions: The simplest formulation defines the actions as movements of the blank space Left, Right, Up, or Down. Different subsets of these are possible depending on where the blank is</a:t>
            </a:r>
            <a:r>
              <a:rPr lang="en-US" sz="2000" dirty="0" smtClean="0">
                <a:latin typeface="Times New Roman" pitchFamily="18" charset="0"/>
                <a:ea typeface="Microsoft Sans Serif" panose="020B0604020202020204" pitchFamily="34" charset="0"/>
                <a:cs typeface="Times New Roman" pitchFamily="18" charset="0"/>
              </a:rPr>
              <a:t>.</a:t>
            </a:r>
            <a:endParaRPr lang="en-US" sz="20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Transition model: Given a state and action, this returns the resulting state; for example, if we apply Left to the start state in </a:t>
            </a:r>
            <a:r>
              <a:rPr lang="en-US" sz="2000" dirty="0" smtClean="0">
                <a:latin typeface="Times New Roman" panose="02020603050405020304" pitchFamily="18" charset="0"/>
                <a:cs typeface="Times New Roman" panose="02020603050405020304" pitchFamily="18" charset="0"/>
              </a:rPr>
              <a:t>Figure, </a:t>
            </a:r>
            <a:r>
              <a:rPr lang="en-US" sz="2000" dirty="0">
                <a:latin typeface="Times New Roman" panose="02020603050405020304" pitchFamily="18" charset="0"/>
                <a:cs typeface="Times New Roman" panose="02020603050405020304" pitchFamily="18" charset="0"/>
              </a:rPr>
              <a:t>the resulting state has the 5 and the blank switched. </a:t>
            </a:r>
            <a:endParaRPr lang="en-US" sz="20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Goal </a:t>
            </a:r>
            <a:r>
              <a:rPr lang="en-US" sz="2000" dirty="0">
                <a:latin typeface="Times New Roman" panose="02020603050405020304" pitchFamily="18" charset="0"/>
                <a:cs typeface="Times New Roman" panose="02020603050405020304" pitchFamily="18" charset="0"/>
              </a:rPr>
              <a:t>test: This checks whether the state matches the goal configuration shown in </a:t>
            </a:r>
            <a:r>
              <a:rPr lang="en-US" sz="2000" dirty="0" smtClean="0">
                <a:latin typeface="Times New Roman" panose="02020603050405020304" pitchFamily="18" charset="0"/>
                <a:cs typeface="Times New Roman" panose="02020603050405020304" pitchFamily="18" charset="0"/>
              </a:rPr>
              <a:t>Figure. </a:t>
            </a:r>
            <a:r>
              <a:rPr lang="en-US" sz="2000" dirty="0">
                <a:latin typeface="Times New Roman" panose="02020603050405020304" pitchFamily="18" charset="0"/>
                <a:cs typeface="Times New Roman" panose="02020603050405020304" pitchFamily="18" charset="0"/>
              </a:rPr>
              <a:t>(Other goal configurations are possible.) </a:t>
            </a:r>
            <a:endParaRPr lang="en-US" sz="20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000" dirty="0" smtClean="0">
                <a:latin typeface="Times New Roman" panose="02020603050405020304" pitchFamily="18" charset="0"/>
                <a:cs typeface="Times New Roman" panose="02020603050405020304" pitchFamily="18" charset="0"/>
              </a:rPr>
              <a:t>Path </a:t>
            </a:r>
            <a:r>
              <a:rPr lang="en-US" sz="2000" dirty="0">
                <a:latin typeface="Times New Roman" panose="02020603050405020304" pitchFamily="18" charset="0"/>
                <a:cs typeface="Times New Roman" panose="02020603050405020304" pitchFamily="18" charset="0"/>
              </a:rPr>
              <a:t>cost: Each step costs 1, so the path cost is the number of steps in the path</a:t>
            </a:r>
            <a:r>
              <a:rPr lang="en-US" sz="20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v"/>
            </a:pPr>
            <a:endParaRPr lang="en-US" sz="2000" dirty="0" smtClean="0">
              <a:latin typeface="Times New Roman" panose="02020603050405020304" pitchFamily="18" charset="0"/>
              <a:cs typeface="Times New Roman" panose="02020603050405020304" pitchFamily="18" charset="0"/>
            </a:endParaRPr>
          </a:p>
        </p:txBody>
      </p:sp>
      <p:pic>
        <p:nvPicPr>
          <p:cNvPr id="4" name="Picture 2" descr="The 8 Puzzle."/>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174274" y="4062549"/>
            <a:ext cx="6035039" cy="259864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7263865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4" y="322381"/>
            <a:ext cx="11116491" cy="6315028"/>
          </a:xfrm>
        </p:spPr>
        <p:txBody>
          <a:bodyPr>
            <a:normAutofit/>
          </a:bodyPr>
          <a:lstStyle/>
          <a:p>
            <a:pPr marL="0" indent="0" algn="just">
              <a:lnSpc>
                <a:spcPct val="10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8-queens problem</a:t>
            </a:r>
          </a:p>
          <a:p>
            <a:pPr marL="0" indent="0" algn="just">
              <a:lnSpc>
                <a:spcPct val="100000"/>
              </a:lnSpc>
              <a:buNone/>
            </a:pPr>
            <a:r>
              <a:rPr lang="en-US" sz="2200" dirty="0">
                <a:latin typeface="Times New Roman" pitchFamily="18" charset="0"/>
                <a:ea typeface="Microsoft Sans Serif" panose="020B0604020202020204" pitchFamily="34" charset="0"/>
                <a:cs typeface="Times New Roman" pitchFamily="18" charset="0"/>
              </a:rPr>
              <a:t>The goal of the 8-queens problem is to place eight queens on a chessboard such that no queen attacks any other. (A queen attacks any piece in the same row, column or diagonal</a:t>
            </a:r>
            <a:r>
              <a:rPr lang="en-US" sz="2200" dirty="0" smtClean="0">
                <a:latin typeface="Times New Roman" pitchFamily="18" charset="0"/>
                <a:ea typeface="Microsoft Sans Serif" panose="020B0604020202020204" pitchFamily="34" charset="0"/>
                <a:cs typeface="Times New Roman" pitchFamily="18" charset="0"/>
              </a:rPr>
              <a:t>)</a:t>
            </a:r>
          </a:p>
          <a:p>
            <a:pPr marL="0" indent="0" algn="just">
              <a:lnSpc>
                <a:spcPct val="100000"/>
              </a:lnSpc>
              <a:buNone/>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first incremental formulation one might try is the following: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Ø"/>
            </a:pPr>
            <a:r>
              <a:rPr lang="en-US" sz="2200" dirty="0" smtClean="0">
                <a:latin typeface="Times New Roman" pitchFamily="18" charset="0"/>
                <a:ea typeface="Microsoft Sans Serif" panose="020B0604020202020204" pitchFamily="34" charset="0"/>
                <a:cs typeface="Times New Roman" pitchFamily="18" charset="0"/>
              </a:rPr>
              <a:t>States</a:t>
            </a:r>
            <a:r>
              <a:rPr lang="en-US" sz="2200" dirty="0">
                <a:latin typeface="Times New Roman" pitchFamily="18" charset="0"/>
                <a:ea typeface="Microsoft Sans Serif" panose="020B0604020202020204" pitchFamily="34" charset="0"/>
                <a:cs typeface="Times New Roman" pitchFamily="18" charset="0"/>
              </a:rPr>
              <a:t>: Any arrangement of 0 to 8 queens on the </a:t>
            </a:r>
            <a:r>
              <a:rPr lang="en-US" sz="2200" dirty="0" smtClean="0">
                <a:latin typeface="Times New Roman" pitchFamily="18" charset="0"/>
                <a:ea typeface="Microsoft Sans Serif" panose="020B0604020202020204" pitchFamily="34" charset="0"/>
                <a:cs typeface="Times New Roman" pitchFamily="18" charset="0"/>
              </a:rPr>
              <a:t>board</a:t>
            </a:r>
          </a:p>
          <a:p>
            <a:pPr marL="0" indent="0" algn="just">
              <a:lnSpc>
                <a:spcPct val="100000"/>
              </a:lnSpc>
              <a:buNone/>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is a state.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Ø"/>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Initial state: No queens on the board.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Ø"/>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Actions: Add a queen to any empty square.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Ø"/>
            </a:pPr>
            <a:r>
              <a:rPr lang="en-US" sz="2200" dirty="0">
                <a:latin typeface="Times New Roman" pitchFamily="18" charset="0"/>
                <a:ea typeface="Microsoft Sans Serif" panose="020B0604020202020204" pitchFamily="34" charset="0"/>
                <a:cs typeface="Times New Roman" pitchFamily="18" charset="0"/>
              </a:rPr>
              <a:t>Transition model: Returns the board with a queen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US" sz="2200" dirty="0" smtClean="0">
                <a:latin typeface="Times New Roman" pitchFamily="18" charset="0"/>
                <a:ea typeface="Microsoft Sans Serif" panose="020B0604020202020204" pitchFamily="34" charset="0"/>
                <a:cs typeface="Times New Roman" pitchFamily="18" charset="0"/>
              </a:rPr>
              <a:t>added to </a:t>
            </a:r>
            <a:r>
              <a:rPr lang="en-US" sz="2200" dirty="0">
                <a:latin typeface="Times New Roman" pitchFamily="18" charset="0"/>
                <a:ea typeface="Microsoft Sans Serif" panose="020B0604020202020204" pitchFamily="34" charset="0"/>
                <a:cs typeface="Times New Roman" pitchFamily="18" charset="0"/>
              </a:rPr>
              <a:t>the specified square. </a:t>
            </a:r>
          </a:p>
          <a:p>
            <a:pPr algn="just">
              <a:lnSpc>
                <a:spcPct val="100000"/>
              </a:lnSpc>
              <a:buFont typeface="Wingdings" panose="05000000000000000000" pitchFamily="2" charset="2"/>
              <a:buChar char="Ø"/>
            </a:pPr>
            <a:r>
              <a:rPr lang="en-US" sz="2200" dirty="0" smtClean="0">
                <a:latin typeface="Times New Roman" pitchFamily="18" charset="0"/>
                <a:ea typeface="Microsoft Sans Serif" panose="020B0604020202020204" pitchFamily="34" charset="0"/>
                <a:cs typeface="Times New Roman" pitchFamily="18" charset="0"/>
              </a:rPr>
              <a:t> Goal </a:t>
            </a:r>
            <a:r>
              <a:rPr lang="en-US" sz="2200" dirty="0">
                <a:latin typeface="Times New Roman" pitchFamily="18" charset="0"/>
                <a:ea typeface="Microsoft Sans Serif" panose="020B0604020202020204" pitchFamily="34" charset="0"/>
                <a:cs typeface="Times New Roman" pitchFamily="18" charset="0"/>
              </a:rPr>
              <a:t>test: 8 queens are on the board, none attacked. </a:t>
            </a:r>
            <a:endParaRPr lang="en-IN"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pic>
        <p:nvPicPr>
          <p:cNvPr id="4" name="Picture 2" descr="The Eight Queens Problem » Steve on Image Processing with MATLAB - MATLAB &amp;amp;  Simulink"/>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14569" t="4405" r="14514" b="12861"/>
          <a:stretch/>
        </p:blipFill>
        <p:spPr bwMode="auto">
          <a:xfrm>
            <a:off x="7027570" y="2061219"/>
            <a:ext cx="4701396" cy="457618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511832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949" y="103516"/>
            <a:ext cx="11547566" cy="6633713"/>
          </a:xfrm>
        </p:spPr>
        <p:txBody>
          <a:bodyPr>
            <a:normAutofit/>
          </a:bodyPr>
          <a:lstStyle/>
          <a:p>
            <a:pPr marL="0" indent="0" algn="just">
              <a:lnSpc>
                <a:spcPct val="11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Real-world </a:t>
            </a:r>
            <a:r>
              <a:rPr lang="en-US" sz="2200" dirty="0" smtClean="0">
                <a:solidFill>
                  <a:srgbClr val="00B050"/>
                </a:solidFill>
                <a:latin typeface="Times New Roman" pitchFamily="18" charset="0"/>
                <a:ea typeface="Microsoft Sans Serif" panose="020B0604020202020204" pitchFamily="34" charset="0"/>
                <a:cs typeface="Times New Roman" pitchFamily="18" charset="0"/>
              </a:rPr>
              <a:t>problems</a:t>
            </a:r>
            <a:r>
              <a:rPr lang="en-US" sz="2200" dirty="0" smtClean="0">
                <a:latin typeface="Times New Roman" pitchFamily="18" charset="0"/>
                <a:ea typeface="Microsoft Sans Serif" panose="020B0604020202020204" pitchFamily="34" charset="0"/>
                <a:cs typeface="Times New Roman" pitchFamily="18" charset="0"/>
              </a:rPr>
              <a:t> </a:t>
            </a:r>
          </a:p>
          <a:p>
            <a:pPr algn="just">
              <a:lnSpc>
                <a:spcPct val="11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Route-finding </a:t>
            </a:r>
            <a:r>
              <a:rPr lang="en-US" sz="2200" dirty="0">
                <a:latin typeface="Times New Roman" pitchFamily="18" charset="0"/>
                <a:ea typeface="Microsoft Sans Serif" panose="020B0604020202020204" pitchFamily="34" charset="0"/>
                <a:cs typeface="Times New Roman" pitchFamily="18" charset="0"/>
              </a:rPr>
              <a:t>algorithms are used in a variety of applications.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1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S</a:t>
            </a:r>
            <a:r>
              <a:rPr lang="en-US" sz="2200" dirty="0" smtClean="0">
                <a:latin typeface="Times New Roman" pitchFamily="18" charset="0"/>
                <a:ea typeface="Microsoft Sans Serif" panose="020B0604020202020204" pitchFamily="34" charset="0"/>
                <a:cs typeface="Times New Roman" pitchFamily="18" charset="0"/>
              </a:rPr>
              <a:t>uch </a:t>
            </a:r>
            <a:r>
              <a:rPr lang="en-US" sz="2200" dirty="0">
                <a:latin typeface="Times New Roman" pitchFamily="18" charset="0"/>
                <a:ea typeface="Microsoft Sans Serif" panose="020B0604020202020204" pitchFamily="34" charset="0"/>
                <a:cs typeface="Times New Roman" pitchFamily="18" charset="0"/>
              </a:rPr>
              <a:t>as routing video streams in computer networks, military operations planning, and airline travel-planning systems, involve much more complex specifications. Consider the airline travel problems that must be solved by a </a:t>
            </a:r>
            <a:r>
              <a:rPr lang="en-US" sz="2200" dirty="0">
                <a:solidFill>
                  <a:srgbClr val="002060"/>
                </a:solidFill>
                <a:latin typeface="Times New Roman" pitchFamily="18" charset="0"/>
                <a:ea typeface="Microsoft Sans Serif" panose="020B0604020202020204" pitchFamily="34" charset="0"/>
                <a:cs typeface="Times New Roman" pitchFamily="18" charset="0"/>
              </a:rPr>
              <a:t>travel-planning Web </a:t>
            </a:r>
            <a:r>
              <a:rPr lang="en-US" sz="2200" dirty="0" smtClean="0">
                <a:solidFill>
                  <a:srgbClr val="002060"/>
                </a:solidFill>
                <a:latin typeface="Times New Roman" pitchFamily="18" charset="0"/>
                <a:ea typeface="Microsoft Sans Serif" panose="020B0604020202020204" pitchFamily="34" charset="0"/>
                <a:cs typeface="Times New Roman" pitchFamily="18" charset="0"/>
              </a:rPr>
              <a:t>site.</a:t>
            </a:r>
          </a:p>
          <a:p>
            <a:pPr lvl="1" algn="just">
              <a:lnSpc>
                <a:spcPct val="11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States</a:t>
            </a:r>
            <a:r>
              <a:rPr lang="en-US" sz="2000" dirty="0">
                <a:latin typeface="Times New Roman" pitchFamily="18" charset="0"/>
                <a:ea typeface="Microsoft Sans Serif" panose="020B0604020202020204" pitchFamily="34" charset="0"/>
                <a:cs typeface="Times New Roman" pitchFamily="18" charset="0"/>
              </a:rPr>
              <a:t>: Each state obviously includes a location (e.g., an airport) and the current time. Furthermore, because the cost of an action (a flight segment) may depend on previous segments, their fare bases, and their status as domestic or international, the state must record extra information about these “historical” aspects. </a:t>
            </a:r>
            <a:endParaRPr lang="en-US" sz="2000" dirty="0" smtClean="0">
              <a:latin typeface="Times New Roman" pitchFamily="18" charset="0"/>
              <a:ea typeface="Microsoft Sans Serif" panose="020B0604020202020204" pitchFamily="34" charset="0"/>
              <a:cs typeface="Times New Roman" pitchFamily="18" charset="0"/>
            </a:endParaRPr>
          </a:p>
          <a:p>
            <a:pPr lvl="1" algn="just">
              <a:lnSpc>
                <a:spcPct val="11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Initial state: This is specified by the user’s query. </a:t>
            </a:r>
            <a:endParaRPr lang="en-US" sz="2000" dirty="0" smtClean="0">
              <a:latin typeface="Times New Roman" pitchFamily="18" charset="0"/>
              <a:ea typeface="Microsoft Sans Serif" panose="020B0604020202020204" pitchFamily="34" charset="0"/>
              <a:cs typeface="Times New Roman" pitchFamily="18" charset="0"/>
            </a:endParaRPr>
          </a:p>
          <a:p>
            <a:pPr lvl="1" algn="just">
              <a:lnSpc>
                <a:spcPct val="11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Actions: Take any flight from the current location, in any seat class, leaving after the current time, leaving enough time for within-airport transfer if </a:t>
            </a:r>
            <a:r>
              <a:rPr lang="en-US" sz="2000" dirty="0" smtClean="0">
                <a:latin typeface="Times New Roman" pitchFamily="18" charset="0"/>
                <a:ea typeface="Microsoft Sans Serif" panose="020B0604020202020204" pitchFamily="34" charset="0"/>
                <a:cs typeface="Times New Roman" pitchFamily="18" charset="0"/>
              </a:rPr>
              <a:t>needed.</a:t>
            </a:r>
          </a:p>
          <a:p>
            <a:pPr lvl="1" algn="just">
              <a:lnSpc>
                <a:spcPct val="11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Transition model: The state resulting from taking a flight will have the flight’s destination as the current location and the flight’s arrival time as the current time. </a:t>
            </a:r>
          </a:p>
          <a:p>
            <a:pPr lvl="1" algn="just">
              <a:lnSpc>
                <a:spcPct val="11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Goal test: Are we at the final destination specified by the user? </a:t>
            </a:r>
          </a:p>
          <a:p>
            <a:pPr lvl="1" algn="just">
              <a:lnSpc>
                <a:spcPct val="11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 </a:t>
            </a:r>
            <a:r>
              <a:rPr lang="en-US" sz="2000" dirty="0">
                <a:latin typeface="Times New Roman" pitchFamily="18" charset="0"/>
                <a:ea typeface="Microsoft Sans Serif" panose="020B0604020202020204" pitchFamily="34" charset="0"/>
                <a:cs typeface="Times New Roman" pitchFamily="18" charset="0"/>
              </a:rPr>
              <a:t>Path cost: This depends on monetary cost, waiting time, flight time, customs and immigration procedures, seat quality, time of day, type of airplane, frequent-flyer mileage awards, and so on</a:t>
            </a:r>
          </a:p>
          <a:p>
            <a:pPr marL="0" indent="0" algn="just">
              <a:lnSpc>
                <a:spcPct val="11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31856112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8010" y="300445"/>
            <a:ext cx="10935789" cy="5876517"/>
          </a:xfrm>
        </p:spPr>
        <p:txBody>
          <a:bodyPr>
            <a:normAutofit/>
          </a:bodyPr>
          <a:lstStyle/>
          <a:p>
            <a:pPr marL="0" indent="0" algn="just">
              <a:lnSpc>
                <a:spcPct val="150000"/>
              </a:lnSpc>
              <a:buNone/>
            </a:pPr>
            <a:r>
              <a:rPr lang="en-US" sz="2200" dirty="0" smtClean="0">
                <a:solidFill>
                  <a:srgbClr val="002060"/>
                </a:solidFill>
                <a:latin typeface="Times New Roman" pitchFamily="18" charset="0"/>
                <a:ea typeface="Microsoft Sans Serif" panose="020B0604020202020204" pitchFamily="34" charset="0"/>
                <a:cs typeface="Times New Roman" pitchFamily="18" charset="0"/>
              </a:rPr>
              <a:t>The </a:t>
            </a:r>
            <a:r>
              <a:rPr lang="en-US" sz="2200" dirty="0">
                <a:solidFill>
                  <a:srgbClr val="002060"/>
                </a:solidFill>
                <a:latin typeface="Times New Roman" pitchFamily="18" charset="0"/>
                <a:ea typeface="Microsoft Sans Serif" panose="020B0604020202020204" pitchFamily="34" charset="0"/>
                <a:cs typeface="Times New Roman" pitchFamily="18" charset="0"/>
              </a:rPr>
              <a:t>traveling salesperson problem (TSP) </a:t>
            </a:r>
            <a:r>
              <a:rPr lang="en-US" sz="2200" dirty="0">
                <a:latin typeface="Times New Roman" pitchFamily="18" charset="0"/>
                <a:ea typeface="Microsoft Sans Serif" panose="020B0604020202020204" pitchFamily="34" charset="0"/>
                <a:cs typeface="Times New Roman" pitchFamily="18" charset="0"/>
              </a:rPr>
              <a:t>is a touring problem in which each city </a:t>
            </a:r>
            <a:r>
              <a:rPr lang="en-US" sz="2200" dirty="0" smtClean="0">
                <a:latin typeface="Times New Roman" pitchFamily="18" charset="0"/>
                <a:ea typeface="Microsoft Sans Serif" panose="020B0604020202020204" pitchFamily="34" charset="0"/>
                <a:cs typeface="Times New Roman" pitchFamily="18" charset="0"/>
              </a:rPr>
              <a:t>must </a:t>
            </a:r>
            <a:r>
              <a:rPr lang="en-US" sz="2200" dirty="0">
                <a:latin typeface="Times New Roman" pitchFamily="18" charset="0"/>
                <a:ea typeface="Microsoft Sans Serif" panose="020B0604020202020204" pitchFamily="34" charset="0"/>
                <a:cs typeface="Times New Roman" pitchFamily="18" charset="0"/>
              </a:rPr>
              <a:t>be visited exactly once. The aim is to find the shortest tour.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problem is known to be NP-hard, but an enormous amount of effort has been expended to improve the capabilities of TSP algorithms.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In </a:t>
            </a:r>
            <a:r>
              <a:rPr lang="en-US" sz="2200" dirty="0">
                <a:latin typeface="Times New Roman" pitchFamily="18" charset="0"/>
                <a:ea typeface="Microsoft Sans Serif" panose="020B0604020202020204" pitchFamily="34" charset="0"/>
                <a:cs typeface="Times New Roman" pitchFamily="18" charset="0"/>
              </a:rPr>
              <a:t>addition to planning trips for traveling salespersons, these algorithms have been used for tasks such as planning movements of automatic circuit-board drills and of stocking machines on shop floors.</a:t>
            </a: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18565612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6" y="332509"/>
            <a:ext cx="11610110" cy="6373091"/>
          </a:xfrm>
        </p:spPr>
        <p:txBody>
          <a:bodyPr>
            <a:normAutofit fontScale="92500" lnSpcReduction="20000"/>
          </a:bodyPr>
          <a:lstStyle/>
          <a:p>
            <a:pPr marL="0" indent="0" algn="just">
              <a:lnSpc>
                <a:spcPct val="100000"/>
              </a:lnSpc>
              <a:buNone/>
            </a:pPr>
            <a:r>
              <a:rPr lang="en-US" sz="2200" dirty="0">
                <a:solidFill>
                  <a:srgbClr val="00B050"/>
                </a:solidFill>
                <a:latin typeface="Times New Roman" pitchFamily="18" charset="0"/>
                <a:ea typeface="Microsoft Sans Serif" panose="020B0604020202020204" pitchFamily="34" charset="0"/>
                <a:cs typeface="Times New Roman" pitchFamily="18" charset="0"/>
              </a:rPr>
              <a:t>A VLSI layout </a:t>
            </a:r>
            <a:r>
              <a:rPr lang="en-US" sz="2200" dirty="0" smtClean="0">
                <a:solidFill>
                  <a:srgbClr val="00B050"/>
                </a:solidFill>
                <a:latin typeface="Times New Roman" pitchFamily="18" charset="0"/>
                <a:ea typeface="Microsoft Sans Serif" panose="020B0604020202020204" pitchFamily="34" charset="0"/>
                <a:cs typeface="Times New Roman" pitchFamily="18" charset="0"/>
              </a:rPr>
              <a:t>problem</a:t>
            </a: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Requires </a:t>
            </a:r>
            <a:r>
              <a:rPr lang="en-US" sz="2200" dirty="0">
                <a:latin typeface="Times New Roman" pitchFamily="18" charset="0"/>
                <a:ea typeface="Microsoft Sans Serif" panose="020B0604020202020204" pitchFamily="34" charset="0"/>
                <a:cs typeface="Times New Roman" pitchFamily="18" charset="0"/>
              </a:rPr>
              <a:t>positioning millions of components and connections on a chip to minimize area, minimize circuit delays, minimize stray capacitances, and </a:t>
            </a:r>
            <a:r>
              <a:rPr lang="en-US" sz="2200" dirty="0" smtClean="0">
                <a:latin typeface="Times New Roman" pitchFamily="18" charset="0"/>
                <a:ea typeface="Microsoft Sans Serif" panose="020B0604020202020204" pitchFamily="34" charset="0"/>
                <a:cs typeface="Times New Roman" pitchFamily="18" charset="0"/>
              </a:rPr>
              <a:t>maximize </a:t>
            </a:r>
            <a:r>
              <a:rPr lang="en-US" sz="2200" dirty="0">
                <a:latin typeface="Times New Roman" pitchFamily="18" charset="0"/>
                <a:ea typeface="Microsoft Sans Serif" panose="020B0604020202020204" pitchFamily="34" charset="0"/>
                <a:cs typeface="Times New Roman" pitchFamily="18" charset="0"/>
              </a:rPr>
              <a:t>manufacturing yield.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layout problem comes after the logical design phase and is usually split into two parts: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err="1" smtClean="0">
                <a:latin typeface="Times New Roman" pitchFamily="18" charset="0"/>
                <a:ea typeface="Microsoft Sans Serif" panose="020B0604020202020204" pitchFamily="34" charset="0"/>
                <a:cs typeface="Times New Roman" pitchFamily="18" charset="0"/>
              </a:rPr>
              <a:t>i</a:t>
            </a:r>
            <a:r>
              <a:rPr lang="en-US" sz="2200" dirty="0" smtClean="0">
                <a:latin typeface="Times New Roman" pitchFamily="18" charset="0"/>
                <a:ea typeface="Microsoft Sans Serif" panose="020B0604020202020204" pitchFamily="34" charset="0"/>
                <a:cs typeface="Times New Roman" pitchFamily="18" charset="0"/>
              </a:rPr>
              <a:t>)cell layout 			ii)channel </a:t>
            </a:r>
            <a:r>
              <a:rPr lang="en-US" sz="2200" dirty="0">
                <a:latin typeface="Times New Roman" pitchFamily="18" charset="0"/>
                <a:ea typeface="Microsoft Sans Serif" panose="020B0604020202020204" pitchFamily="34" charset="0"/>
                <a:cs typeface="Times New Roman" pitchFamily="18" charset="0"/>
              </a:rPr>
              <a:t>routing.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In </a:t>
            </a:r>
            <a:r>
              <a:rPr lang="en-US" sz="2200" dirty="0">
                <a:latin typeface="Times New Roman" pitchFamily="18" charset="0"/>
                <a:ea typeface="Microsoft Sans Serif" panose="020B0604020202020204" pitchFamily="34" charset="0"/>
                <a:cs typeface="Times New Roman" pitchFamily="18" charset="0"/>
              </a:rPr>
              <a:t>cell layout, the primitive components of the circuit are grouped into cells, each of which performs some recognized function.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Each </a:t>
            </a:r>
            <a:r>
              <a:rPr lang="en-US" sz="2200" dirty="0">
                <a:latin typeface="Times New Roman" pitchFamily="18" charset="0"/>
                <a:ea typeface="Microsoft Sans Serif" panose="020B0604020202020204" pitchFamily="34" charset="0"/>
                <a:cs typeface="Times New Roman" pitchFamily="18" charset="0"/>
              </a:rPr>
              <a:t>cell has a fixed footprint (size and shape) and requires a certain number of connections to each of the other cells.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aim is to place the cells on the chip so that they do not overlap and so that there is room for the connecting wires to be placed between the cells.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Channel </a:t>
            </a:r>
            <a:r>
              <a:rPr lang="en-US" sz="2200" dirty="0">
                <a:latin typeface="Times New Roman" pitchFamily="18" charset="0"/>
                <a:ea typeface="Microsoft Sans Serif" panose="020B0604020202020204" pitchFamily="34" charset="0"/>
                <a:cs typeface="Times New Roman" pitchFamily="18" charset="0"/>
              </a:rPr>
              <a:t>routing finds a specific route for each wire through the gaps between the cells. These search problems are extremely complex, but definitely worth solving. </a:t>
            </a:r>
            <a:endParaRPr lang="en-US" sz="2200" dirty="0" smtClean="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551365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6473" y="471053"/>
            <a:ext cx="11263745" cy="4281055"/>
          </a:xfrm>
          <a:prstGeom prst="rect">
            <a:avLst/>
          </a:prstGeom>
        </p:spPr>
        <p:txBody>
          <a:bodyPr wrap="square">
            <a:spAutoFit/>
          </a:bodyPr>
          <a:lstStyle/>
          <a:p>
            <a:pPr algn="just">
              <a:lnSpc>
                <a:spcPct val="150000"/>
              </a:lnSpc>
            </a:pPr>
            <a:r>
              <a:rPr lang="en-US" sz="2200" dirty="0" smtClean="0">
                <a:solidFill>
                  <a:srgbClr val="00B050"/>
                </a:solidFill>
                <a:latin typeface="Times New Roman" pitchFamily="18" charset="0"/>
                <a:ea typeface="Microsoft Sans Serif" panose="020B0604020202020204" pitchFamily="34" charset="0"/>
                <a:cs typeface="Times New Roman" pitchFamily="18" charset="0"/>
              </a:rPr>
              <a:t>Robot navigation</a:t>
            </a:r>
          </a:p>
          <a:p>
            <a:pPr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It</a:t>
            </a:r>
            <a:r>
              <a:rPr lang="en-US" sz="2200" dirty="0" smtClean="0">
                <a:solidFill>
                  <a:srgbClr val="00B050"/>
                </a:solidFill>
                <a:latin typeface="Times New Roman" pitchFamily="18" charset="0"/>
                <a:ea typeface="Microsoft Sans Serif" panose="020B0604020202020204" pitchFamily="34" charset="0"/>
                <a:cs typeface="Times New Roman" pitchFamily="18" charset="0"/>
              </a:rPr>
              <a:t> </a:t>
            </a:r>
            <a:r>
              <a:rPr lang="en-US" sz="2200" dirty="0" smtClean="0">
                <a:latin typeface="Times New Roman" pitchFamily="18" charset="0"/>
                <a:ea typeface="Microsoft Sans Serif" panose="020B0604020202020204" pitchFamily="34" charset="0"/>
                <a:cs typeface="Times New Roman" pitchFamily="18" charset="0"/>
              </a:rPr>
              <a:t>is a generalization of the route-finding problem described earlier. </a:t>
            </a:r>
          </a:p>
          <a:p>
            <a:pPr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Rather than following a discrete set of routes, a robot can move in a continuous space with (in principle) an infinite set of possible actions and states. </a:t>
            </a:r>
          </a:p>
          <a:p>
            <a:pPr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For a circular robot moving on a flat surface, the space is essentially two-dimensional. </a:t>
            </a:r>
          </a:p>
          <a:p>
            <a:pPr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When the robot has arms and legs or wheels that must also be controlled, the search space becomes many-dimensional. </a:t>
            </a:r>
          </a:p>
          <a:p>
            <a:pPr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Advanced techniques are required just to make the search space finite.</a:t>
            </a: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17391264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926" y="277091"/>
            <a:ext cx="11416147" cy="6289964"/>
          </a:xfrm>
        </p:spPr>
        <p:txBody>
          <a:bodyPr>
            <a:normAutofit fontScale="85000" lnSpcReduction="20000"/>
          </a:bodyPr>
          <a:lstStyle/>
          <a:p>
            <a:pPr marL="0" indent="0" algn="just">
              <a:lnSpc>
                <a:spcPct val="100000"/>
              </a:lnSpc>
              <a:buNone/>
            </a:pPr>
            <a:r>
              <a:rPr lang="en-IN" sz="3100" b="1" dirty="0" smtClean="0">
                <a:solidFill>
                  <a:srgbClr val="FF0000"/>
                </a:solidFill>
                <a:latin typeface="Times New Roman" pitchFamily="18" charset="0"/>
                <a:ea typeface="Microsoft Sans Serif" panose="020B0604020202020204" pitchFamily="34" charset="0"/>
                <a:cs typeface="Times New Roman" pitchFamily="18" charset="0"/>
              </a:rPr>
              <a:t>1.11 Searching </a:t>
            </a:r>
            <a:r>
              <a:rPr lang="en-IN" sz="3100" b="1" dirty="0">
                <a:solidFill>
                  <a:srgbClr val="FF0000"/>
                </a:solidFill>
                <a:latin typeface="Times New Roman" pitchFamily="18" charset="0"/>
                <a:ea typeface="Microsoft Sans Serif" panose="020B0604020202020204" pitchFamily="34" charset="0"/>
                <a:cs typeface="Times New Roman" pitchFamily="18" charset="0"/>
              </a:rPr>
              <a:t>for </a:t>
            </a:r>
            <a:r>
              <a:rPr lang="en-IN" sz="3100" b="1" dirty="0" smtClean="0">
                <a:solidFill>
                  <a:srgbClr val="FF0000"/>
                </a:solidFill>
                <a:latin typeface="Times New Roman" pitchFamily="18" charset="0"/>
                <a:ea typeface="Microsoft Sans Serif" panose="020B0604020202020204" pitchFamily="34" charset="0"/>
                <a:cs typeface="Times New Roman" pitchFamily="18" charset="0"/>
              </a:rPr>
              <a:t>Solutions</a:t>
            </a:r>
          </a:p>
          <a:p>
            <a:pPr marL="0" indent="0" algn="just">
              <a:lnSpc>
                <a:spcPct val="150000"/>
              </a:lnSpc>
              <a:buFont typeface="Wingdings" pitchFamily="2" charset="2"/>
              <a:buChar char="v"/>
            </a:pPr>
            <a:r>
              <a:rPr lang="en-US" sz="2400" dirty="0">
                <a:latin typeface="Times New Roman" pitchFamily="18" charset="0"/>
                <a:ea typeface="Microsoft Sans Serif" panose="020B0604020202020204" pitchFamily="34" charset="0"/>
                <a:cs typeface="Times New Roman" pitchFamily="18" charset="0"/>
              </a:rPr>
              <a:t>A solution is an action sequence, so search algorithms work by considering various possible action sequences. </a:t>
            </a:r>
            <a:endParaRPr lang="en-US" sz="24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400" dirty="0" smtClean="0">
                <a:latin typeface="Times New Roman" pitchFamily="18" charset="0"/>
                <a:ea typeface="Microsoft Sans Serif" panose="020B0604020202020204" pitchFamily="34" charset="0"/>
                <a:cs typeface="Times New Roman" pitchFamily="18" charset="0"/>
              </a:rPr>
              <a:t>The possible </a:t>
            </a:r>
            <a:r>
              <a:rPr lang="en-US" sz="2400" dirty="0">
                <a:latin typeface="Times New Roman" pitchFamily="18" charset="0"/>
                <a:ea typeface="Microsoft Sans Serif" panose="020B0604020202020204" pitchFamily="34" charset="0"/>
                <a:cs typeface="Times New Roman" pitchFamily="18" charset="0"/>
              </a:rPr>
              <a:t>action sequences starting at the initial state form a search tree with the initial state </a:t>
            </a:r>
            <a:r>
              <a:rPr lang="en-US" sz="2400" dirty="0" smtClean="0">
                <a:latin typeface="Times New Roman" pitchFamily="18" charset="0"/>
                <a:ea typeface="Microsoft Sans Serif" panose="020B0604020202020204" pitchFamily="34" charset="0"/>
                <a:cs typeface="Times New Roman" pitchFamily="18" charset="0"/>
              </a:rPr>
              <a:t>at </a:t>
            </a:r>
            <a:r>
              <a:rPr lang="en-US" sz="2400" dirty="0">
                <a:latin typeface="Times New Roman" pitchFamily="18" charset="0"/>
                <a:ea typeface="Microsoft Sans Serif" panose="020B0604020202020204" pitchFamily="34" charset="0"/>
                <a:cs typeface="Times New Roman" pitchFamily="18" charset="0"/>
              </a:rPr>
              <a:t>the root; the branches are actions and the nodes correspond to states in the state space of the problem. </a:t>
            </a:r>
            <a:endParaRPr lang="en-US" sz="24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400" dirty="0" smtClean="0">
                <a:latin typeface="Times New Roman" pitchFamily="18" charset="0"/>
                <a:ea typeface="Microsoft Sans Serif" panose="020B0604020202020204" pitchFamily="34" charset="0"/>
                <a:cs typeface="Times New Roman" pitchFamily="18" charset="0"/>
              </a:rPr>
              <a:t>The </a:t>
            </a:r>
            <a:r>
              <a:rPr lang="en-US" sz="2400" dirty="0">
                <a:latin typeface="Times New Roman" pitchFamily="18" charset="0"/>
                <a:ea typeface="Microsoft Sans Serif" panose="020B0604020202020204" pitchFamily="34" charset="0"/>
                <a:cs typeface="Times New Roman" pitchFamily="18" charset="0"/>
              </a:rPr>
              <a:t>root node of the tree corresponds to the initial state, In(Arad). </a:t>
            </a:r>
            <a:endParaRPr lang="en-US" sz="24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400" dirty="0" smtClean="0">
                <a:latin typeface="Times New Roman" pitchFamily="18" charset="0"/>
                <a:ea typeface="Microsoft Sans Serif" panose="020B0604020202020204" pitchFamily="34" charset="0"/>
                <a:cs typeface="Times New Roman" pitchFamily="18" charset="0"/>
              </a:rPr>
              <a:t>The </a:t>
            </a:r>
            <a:r>
              <a:rPr lang="en-US" sz="2400" dirty="0">
                <a:latin typeface="Times New Roman" pitchFamily="18" charset="0"/>
                <a:ea typeface="Microsoft Sans Serif" panose="020B0604020202020204" pitchFamily="34" charset="0"/>
                <a:cs typeface="Times New Roman" pitchFamily="18" charset="0"/>
              </a:rPr>
              <a:t>first step is to test whether this is a goal state. (Clearly it is not, but it is important to check so that we can solve trick problems like “starting in Arad, get to Arad.”) </a:t>
            </a:r>
            <a:r>
              <a:rPr lang="en-US" sz="2400" dirty="0" smtClean="0">
                <a:latin typeface="Times New Roman" pitchFamily="18" charset="0"/>
                <a:ea typeface="Microsoft Sans Serif" panose="020B0604020202020204" pitchFamily="34" charset="0"/>
                <a:cs typeface="Times New Roman" pitchFamily="18" charset="0"/>
              </a:rPr>
              <a:t>Then </a:t>
            </a:r>
            <a:r>
              <a:rPr lang="en-US" sz="2400" dirty="0">
                <a:latin typeface="Times New Roman" pitchFamily="18" charset="0"/>
                <a:ea typeface="Microsoft Sans Serif" panose="020B0604020202020204" pitchFamily="34" charset="0"/>
                <a:cs typeface="Times New Roman" pitchFamily="18" charset="0"/>
              </a:rPr>
              <a:t>we </a:t>
            </a:r>
            <a:r>
              <a:rPr lang="en-US" sz="2400" dirty="0" smtClean="0">
                <a:latin typeface="Times New Roman" pitchFamily="18" charset="0"/>
                <a:ea typeface="Microsoft Sans Serif" panose="020B0604020202020204" pitchFamily="34" charset="0"/>
                <a:cs typeface="Times New Roman" pitchFamily="18" charset="0"/>
              </a:rPr>
              <a:t>need </a:t>
            </a:r>
            <a:r>
              <a:rPr lang="en-US" sz="2400" dirty="0">
                <a:latin typeface="Times New Roman" pitchFamily="18" charset="0"/>
                <a:ea typeface="Microsoft Sans Serif" panose="020B0604020202020204" pitchFamily="34" charset="0"/>
                <a:cs typeface="Times New Roman" pitchFamily="18" charset="0"/>
              </a:rPr>
              <a:t>to consider taking various actions. </a:t>
            </a:r>
            <a:endParaRPr lang="en-US" sz="24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400" dirty="0" smtClean="0">
                <a:latin typeface="Times New Roman" pitchFamily="18" charset="0"/>
                <a:ea typeface="Microsoft Sans Serif" panose="020B0604020202020204" pitchFamily="34" charset="0"/>
                <a:cs typeface="Times New Roman" pitchFamily="18" charset="0"/>
              </a:rPr>
              <a:t>We </a:t>
            </a:r>
            <a:r>
              <a:rPr lang="en-US" sz="2400" dirty="0">
                <a:latin typeface="Times New Roman" pitchFamily="18" charset="0"/>
                <a:ea typeface="Microsoft Sans Serif" panose="020B0604020202020204" pitchFamily="34" charset="0"/>
                <a:cs typeface="Times New Roman" pitchFamily="18" charset="0"/>
              </a:rPr>
              <a:t>do this by expanding the current state; that is, </a:t>
            </a:r>
            <a:r>
              <a:rPr lang="en-US" sz="2400" dirty="0" smtClean="0">
                <a:latin typeface="Times New Roman" pitchFamily="18" charset="0"/>
                <a:ea typeface="Microsoft Sans Serif" panose="020B0604020202020204" pitchFamily="34" charset="0"/>
                <a:cs typeface="Times New Roman" pitchFamily="18" charset="0"/>
              </a:rPr>
              <a:t>applying </a:t>
            </a:r>
            <a:r>
              <a:rPr lang="en-US" sz="2400" dirty="0">
                <a:latin typeface="Times New Roman" pitchFamily="18" charset="0"/>
                <a:ea typeface="Microsoft Sans Serif" panose="020B0604020202020204" pitchFamily="34" charset="0"/>
                <a:cs typeface="Times New Roman" pitchFamily="18" charset="0"/>
              </a:rPr>
              <a:t>each legal action to the current state, thereby generating a new set of states. </a:t>
            </a:r>
            <a:endParaRPr lang="en-US" sz="24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400" dirty="0" smtClean="0">
                <a:latin typeface="Times New Roman" pitchFamily="18" charset="0"/>
                <a:ea typeface="Microsoft Sans Serif" panose="020B0604020202020204" pitchFamily="34" charset="0"/>
                <a:cs typeface="Times New Roman" pitchFamily="18" charset="0"/>
              </a:rPr>
              <a:t>In this </a:t>
            </a:r>
            <a:r>
              <a:rPr lang="en-US" sz="2400" dirty="0">
                <a:latin typeface="Times New Roman" pitchFamily="18" charset="0"/>
                <a:ea typeface="Microsoft Sans Serif" panose="020B0604020202020204" pitchFamily="34" charset="0"/>
                <a:cs typeface="Times New Roman" pitchFamily="18" charset="0"/>
              </a:rPr>
              <a:t>case, we add three branches from the parent node In(Arad) leading to three new child </a:t>
            </a:r>
            <a:r>
              <a:rPr lang="en-US" sz="2400" dirty="0" smtClean="0">
                <a:latin typeface="Times New Roman" pitchFamily="18" charset="0"/>
                <a:ea typeface="Microsoft Sans Serif" panose="020B0604020202020204" pitchFamily="34" charset="0"/>
                <a:cs typeface="Times New Roman" pitchFamily="18" charset="0"/>
              </a:rPr>
              <a:t>nodes</a:t>
            </a:r>
            <a:r>
              <a:rPr lang="en-US" sz="2400" dirty="0">
                <a:latin typeface="Times New Roman" pitchFamily="18" charset="0"/>
                <a:ea typeface="Microsoft Sans Serif" panose="020B0604020202020204" pitchFamily="34" charset="0"/>
                <a:cs typeface="Times New Roman" pitchFamily="18" charset="0"/>
              </a:rPr>
              <a:t>: In(Sibiu), In(Timisoara), and In(</a:t>
            </a:r>
            <a:r>
              <a:rPr lang="en-US" sz="2400" dirty="0" err="1">
                <a:latin typeface="Times New Roman" pitchFamily="18" charset="0"/>
                <a:ea typeface="Microsoft Sans Serif" panose="020B0604020202020204" pitchFamily="34" charset="0"/>
                <a:cs typeface="Times New Roman" pitchFamily="18" charset="0"/>
              </a:rPr>
              <a:t>Zerind</a:t>
            </a:r>
            <a:r>
              <a:rPr lang="en-US" sz="2400" dirty="0">
                <a:latin typeface="Times New Roman" pitchFamily="18" charset="0"/>
                <a:ea typeface="Microsoft Sans Serif" panose="020B0604020202020204" pitchFamily="34" charset="0"/>
                <a:cs typeface="Times New Roman" pitchFamily="18" charset="0"/>
              </a:rPr>
              <a:t>). Now we must choose which of these three possibilities to consider further.</a:t>
            </a:r>
            <a:endParaRPr lang="en-IN" sz="24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1468047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764" y="471055"/>
            <a:ext cx="11263746" cy="6214416"/>
          </a:xfrm>
        </p:spPr>
        <p:txBody>
          <a:bodyPr>
            <a:normAutofit/>
          </a:bodyPr>
          <a:lstStyle/>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Loopy paths are a special case of the more general concept of redundant paths, which exist whenever there is more than one way to get from one state to another.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Consider </a:t>
            </a:r>
            <a:r>
              <a:rPr lang="en-US" sz="2200" dirty="0">
                <a:latin typeface="Times New Roman" pitchFamily="18" charset="0"/>
                <a:ea typeface="Microsoft Sans Serif" panose="020B0604020202020204" pitchFamily="34" charset="0"/>
                <a:cs typeface="Times New Roman" pitchFamily="18" charset="0"/>
              </a:rPr>
              <a:t>the paths Arad–Sibiu (140 km long) and Arad–</a:t>
            </a:r>
            <a:r>
              <a:rPr lang="en-US" sz="2200" dirty="0" err="1">
                <a:latin typeface="Times New Roman" pitchFamily="18" charset="0"/>
                <a:ea typeface="Microsoft Sans Serif" panose="020B0604020202020204" pitchFamily="34" charset="0"/>
                <a:cs typeface="Times New Roman" pitchFamily="18" charset="0"/>
              </a:rPr>
              <a:t>Zerind</a:t>
            </a:r>
            <a:r>
              <a:rPr lang="en-US" sz="2200" dirty="0">
                <a:latin typeface="Times New Roman" pitchFamily="18" charset="0"/>
                <a:ea typeface="Microsoft Sans Serif" panose="020B0604020202020204" pitchFamily="34" charset="0"/>
                <a:cs typeface="Times New Roman" pitchFamily="18" charset="0"/>
              </a:rPr>
              <a:t>–Oradea–Sibiu (297 km long). Obviously, the second path is redundant—it’s just a worse way to get to the same state.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If </a:t>
            </a:r>
            <a:r>
              <a:rPr lang="en-US" sz="2200" dirty="0">
                <a:latin typeface="Times New Roman" pitchFamily="18" charset="0"/>
                <a:ea typeface="Microsoft Sans Serif" panose="020B0604020202020204" pitchFamily="34" charset="0"/>
                <a:cs typeface="Times New Roman" pitchFamily="18" charset="0"/>
              </a:rPr>
              <a:t>you are concerned about reaching the goal, there’s never any reason to keep more than one path to any given state, because any goal state that is reachable by extending one path is also reachable by extending the </a:t>
            </a:r>
            <a:r>
              <a:rPr lang="en-US" sz="2200" dirty="0" smtClean="0">
                <a:latin typeface="Times New Roman" pitchFamily="18" charset="0"/>
                <a:ea typeface="Microsoft Sans Serif" panose="020B0604020202020204" pitchFamily="34" charset="0"/>
                <a:cs typeface="Times New Roman" pitchFamily="18" charset="0"/>
              </a:rPr>
              <a:t>other.</a:t>
            </a: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14136981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ow does node expansion work in a graph for AI search? - Computer Science  Stack Exchange"/>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5526" y="258905"/>
            <a:ext cx="11956473" cy="628043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0662639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218" y="360218"/>
            <a:ext cx="11540838" cy="6377011"/>
          </a:xfrm>
        </p:spPr>
        <p:txBody>
          <a:bodyPr>
            <a:normAutofit/>
          </a:bodyPr>
          <a:lstStyle/>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The way to avoid exploring redundant paths is to remember where one has been. To do this, we </a:t>
            </a:r>
            <a:r>
              <a:rPr lang="en-US" sz="2200" dirty="0" smtClean="0">
                <a:latin typeface="Times New Roman" pitchFamily="18" charset="0"/>
                <a:ea typeface="Microsoft Sans Serif" panose="020B0604020202020204" pitchFamily="34" charset="0"/>
                <a:cs typeface="Times New Roman" pitchFamily="18" charset="0"/>
              </a:rPr>
              <a:t>augment </a:t>
            </a:r>
            <a:r>
              <a:rPr lang="en-US" sz="2200" dirty="0">
                <a:latin typeface="Times New Roman" pitchFamily="18" charset="0"/>
                <a:ea typeface="Microsoft Sans Serif" panose="020B0604020202020204" pitchFamily="34" charset="0"/>
                <a:cs typeface="Times New Roman" pitchFamily="18" charset="0"/>
              </a:rPr>
              <a:t>the </a:t>
            </a:r>
            <a:r>
              <a:rPr lang="en-US" sz="2200" dirty="0" smtClean="0">
                <a:latin typeface="Times New Roman" pitchFamily="18" charset="0"/>
                <a:ea typeface="Microsoft Sans Serif" panose="020B0604020202020204" pitchFamily="34" charset="0"/>
                <a:cs typeface="Times New Roman" pitchFamily="18" charset="0"/>
              </a:rPr>
              <a:t>TREE-SEARCH algorithm </a:t>
            </a:r>
            <a:r>
              <a:rPr lang="en-US" sz="2200" dirty="0">
                <a:latin typeface="Times New Roman" pitchFamily="18" charset="0"/>
                <a:ea typeface="Microsoft Sans Serif" panose="020B0604020202020204" pitchFamily="34" charset="0"/>
                <a:cs typeface="Times New Roman" pitchFamily="18" charset="0"/>
              </a:rPr>
              <a:t>with a data structure called the explored set (also CLOSED LIST known as the closed list), which remembers every expanded node.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Newly </a:t>
            </a:r>
            <a:r>
              <a:rPr lang="en-US" sz="2200" dirty="0">
                <a:latin typeface="Times New Roman" pitchFamily="18" charset="0"/>
                <a:ea typeface="Microsoft Sans Serif" panose="020B0604020202020204" pitchFamily="34" charset="0"/>
                <a:cs typeface="Times New Roman" pitchFamily="18" charset="0"/>
              </a:rPr>
              <a:t>generated nodes that match previously generated nodes—ones in the explored set </a:t>
            </a:r>
            <a:r>
              <a:rPr lang="en-US" sz="2200" dirty="0" smtClean="0">
                <a:latin typeface="Times New Roman" pitchFamily="18" charset="0"/>
                <a:ea typeface="Microsoft Sans Serif" panose="020B0604020202020204" pitchFamily="34" charset="0"/>
                <a:cs typeface="Times New Roman" pitchFamily="18" charset="0"/>
              </a:rPr>
              <a:t>can </a:t>
            </a:r>
            <a:r>
              <a:rPr lang="en-US" sz="2200" dirty="0">
                <a:latin typeface="Times New Roman" pitchFamily="18" charset="0"/>
                <a:ea typeface="Microsoft Sans Serif" panose="020B0604020202020204" pitchFamily="34" charset="0"/>
                <a:cs typeface="Times New Roman" pitchFamily="18" charset="0"/>
              </a:rPr>
              <a:t>be </a:t>
            </a:r>
            <a:r>
              <a:rPr lang="en-US" sz="2200" dirty="0" smtClean="0">
                <a:latin typeface="Times New Roman" pitchFamily="18" charset="0"/>
                <a:ea typeface="Microsoft Sans Serif" panose="020B0604020202020204" pitchFamily="34" charset="0"/>
                <a:cs typeface="Times New Roman" pitchFamily="18" charset="0"/>
              </a:rPr>
              <a:t>discarded </a:t>
            </a:r>
            <a:r>
              <a:rPr lang="en-US" sz="2200" dirty="0">
                <a:latin typeface="Times New Roman" pitchFamily="18" charset="0"/>
                <a:ea typeface="Microsoft Sans Serif" panose="020B0604020202020204" pitchFamily="34" charset="0"/>
                <a:cs typeface="Times New Roman" pitchFamily="18" charset="0"/>
              </a:rPr>
              <a:t>instead of being added to the frontier.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new algorithm, called GRAPH-SEARCH, is shown informally in </a:t>
            </a:r>
            <a:r>
              <a:rPr lang="en-US" sz="2200" dirty="0" smtClean="0">
                <a:latin typeface="Times New Roman" pitchFamily="18" charset="0"/>
                <a:ea typeface="Microsoft Sans Serif" panose="020B0604020202020204" pitchFamily="34" charset="0"/>
                <a:cs typeface="Times New Roman" pitchFamily="18" charset="0"/>
              </a:rPr>
              <a:t>Figure. </a:t>
            </a:r>
          </a:p>
        </p:txBody>
      </p:sp>
    </p:spTree>
    <p:extLst>
      <p:ext uri="{BB962C8B-B14F-4D97-AF65-F5344CB8AC3E}">
        <p14:creationId xmlns:p14="http://schemas.microsoft.com/office/powerpoint/2010/main" xmlns="" val="9916904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onsider the search tree given below. The letter next | Chegg.co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5323" y="180109"/>
            <a:ext cx="11964790" cy="667789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533195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944" y="267418"/>
            <a:ext cx="11639387" cy="6659593"/>
          </a:xfrm>
        </p:spPr>
        <p:txBody>
          <a:bodyPr/>
          <a:lstStyle/>
          <a:p>
            <a:pPr marL="0" indent="0"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Clearly, the search tree constructed by the GRAPH-SEARCH algorithm contains at most one copy of each state, so we can think of it as growing a tree directly on the state-space graph, </a:t>
            </a:r>
            <a:r>
              <a:rPr lang="en-US" sz="2200" dirty="0" smtClean="0">
                <a:latin typeface="Times New Roman" pitchFamily="18" charset="0"/>
                <a:ea typeface="Microsoft Sans Serif" panose="020B0604020202020204" pitchFamily="34" charset="0"/>
                <a:cs typeface="Times New Roman" pitchFamily="18" charset="0"/>
              </a:rPr>
              <a:t>as </a:t>
            </a:r>
            <a:r>
              <a:rPr lang="en-US" sz="2200" dirty="0">
                <a:latin typeface="Times New Roman" pitchFamily="18" charset="0"/>
                <a:ea typeface="Microsoft Sans Serif" panose="020B0604020202020204" pitchFamily="34" charset="0"/>
                <a:cs typeface="Times New Roman" pitchFamily="18" charset="0"/>
              </a:rPr>
              <a:t>shown in Figure </a:t>
            </a:r>
            <a:r>
              <a:rPr lang="en-US" sz="2200" dirty="0" smtClean="0">
                <a:latin typeface="Times New Roman" pitchFamily="18" charset="0"/>
                <a:ea typeface="Microsoft Sans Serif" panose="020B0604020202020204" pitchFamily="34" charset="0"/>
                <a:cs typeface="Times New Roman" pitchFamily="18" charset="0"/>
              </a:rPr>
              <a:t>. </a:t>
            </a: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algorithm has another nice property: the frontier separates the state-space graph into the explored region and the unexplored region, so that every path from the initial state to an unexplored state has to pass through a state in </a:t>
            </a:r>
            <a:r>
              <a:rPr lang="en-US" sz="2200">
                <a:latin typeface="Times New Roman" pitchFamily="18" charset="0"/>
                <a:ea typeface="Microsoft Sans Serif" panose="020B0604020202020204" pitchFamily="34" charset="0"/>
                <a:cs typeface="Times New Roman" pitchFamily="18" charset="0"/>
              </a:rPr>
              <a:t>the </a:t>
            </a:r>
            <a:r>
              <a:rPr lang="en-US" sz="2200" smtClean="0">
                <a:latin typeface="Times New Roman" pitchFamily="18" charset="0"/>
                <a:ea typeface="Microsoft Sans Serif" panose="020B0604020202020204" pitchFamily="34" charset="0"/>
                <a:cs typeface="Times New Roman" pitchFamily="18" charset="0"/>
              </a:rPr>
              <a:t>frontier.</a:t>
            </a:r>
            <a:endParaRPr lang="en-US" sz="2200" dirty="0" smtClean="0">
              <a:latin typeface="Times New Roman" pitchFamily="18" charset="0"/>
              <a:ea typeface="Microsoft Sans Serif" panose="020B0604020202020204" pitchFamily="34" charset="0"/>
              <a:cs typeface="Times New Roman" pitchFamily="18" charset="0"/>
            </a:endParaRPr>
          </a:p>
          <a:p>
            <a:pPr marL="0" indent="0">
              <a:buNone/>
            </a:pPr>
            <a:endParaRPr lang="en-IN" dirty="0"/>
          </a:p>
        </p:txBody>
      </p:sp>
      <p:pic>
        <p:nvPicPr>
          <p:cNvPr id="3074" name="Picture 2" descr="Figure 3.8 from Solving Problems by Searching 3.1 Problem-solving Agents  3.1.1 Well-defined Problems and Solutions Problem-solving Agents 69 |  Semantic Schola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78873" y="3560618"/>
            <a:ext cx="10820498" cy="315073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165481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528" y="112143"/>
            <a:ext cx="11887200" cy="6607834"/>
          </a:xfrm>
        </p:spPr>
        <p:txBody>
          <a:bodyPr>
            <a:normAutofit/>
          </a:bodyPr>
          <a:lstStyle/>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As </a:t>
            </a:r>
            <a:r>
              <a:rPr lang="en-US" sz="2200" dirty="0">
                <a:latin typeface="Times New Roman" pitchFamily="18" charset="0"/>
                <a:ea typeface="Microsoft Sans Serif" panose="020B0604020202020204" pitchFamily="34" charset="0"/>
                <a:cs typeface="Times New Roman" pitchFamily="18" charset="0"/>
              </a:rPr>
              <a:t>every step moves a state from the frontier into the explored region while moving some states from the unexplored region into the frontier, we see that the algorithm is systematically examining the states in the state space, one by one, until it finds a solution</a:t>
            </a:r>
            <a:r>
              <a:rPr lang="en-US" sz="2200" dirty="0" smtClean="0">
                <a:latin typeface="Times New Roman" pitchFamily="18" charset="0"/>
                <a:ea typeface="Microsoft Sans Serif" panose="020B0604020202020204" pitchFamily="34" charset="0"/>
                <a:cs typeface="Times New Roman" pitchFamily="18" charset="0"/>
              </a:rPr>
              <a:t>.</a:t>
            </a: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pic>
        <p:nvPicPr>
          <p:cNvPr id="4098" name="Picture 2" descr="Solved Consider the unbounded version of the regular 2D grid | Chegg.co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98764" y="1731817"/>
            <a:ext cx="11097491" cy="459970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6097666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318655"/>
            <a:ext cx="11568546" cy="6317672"/>
          </a:xfrm>
        </p:spPr>
        <p:txBody>
          <a:bodyPr>
            <a:normAutofit/>
          </a:bodyPr>
          <a:lstStyle/>
          <a:p>
            <a:pPr marL="0" indent="0" algn="just">
              <a:lnSpc>
                <a:spcPct val="100000"/>
              </a:lnSpc>
              <a:buNone/>
            </a:pPr>
            <a:r>
              <a:rPr lang="en-US" sz="2600" dirty="0">
                <a:solidFill>
                  <a:srgbClr val="00B050"/>
                </a:solidFill>
                <a:latin typeface="Times New Roman" pitchFamily="18" charset="0"/>
                <a:ea typeface="Microsoft Sans Serif" panose="020B0604020202020204" pitchFamily="34" charset="0"/>
                <a:cs typeface="Times New Roman" pitchFamily="18" charset="0"/>
              </a:rPr>
              <a:t>Best-First Search </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Best-first search is based on expanding the best partial path from current node to goal node. Here forward motion is from the best open node so far in the partially developed tree. </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Best First Search is an informed search that uses an evaluation function to decide which adjacent is the most promising before it can continue to explore.</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The cost of partial paths is calculated using some heuristic.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If </a:t>
            </a:r>
            <a:r>
              <a:rPr lang="en-US" sz="2200" dirty="0">
                <a:latin typeface="Times New Roman" pitchFamily="18" charset="0"/>
                <a:ea typeface="Microsoft Sans Serif" panose="020B0604020202020204" pitchFamily="34" charset="0"/>
                <a:cs typeface="Times New Roman" pitchFamily="18" charset="0"/>
              </a:rPr>
              <a:t>the state has been generated earlier and new path is better than the previous one, then change the parent and update the cost.</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It </a:t>
            </a:r>
            <a:r>
              <a:rPr lang="en-US" sz="2200" dirty="0">
                <a:latin typeface="Times New Roman" pitchFamily="18" charset="0"/>
                <a:ea typeface="Microsoft Sans Serif" panose="020B0604020202020204" pitchFamily="34" charset="0"/>
                <a:cs typeface="Times New Roman" pitchFamily="18" charset="0"/>
              </a:rPr>
              <a:t>is not guaranteed to find an optimal solution, but generally it finds some solution faster than solution obtained from any other method.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performance varies directly with the accuracy of the heuristic evaluation function.</a:t>
            </a:r>
            <a:endParaRPr lang="en-IN"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200" dirty="0"/>
          </a:p>
        </p:txBody>
      </p:sp>
    </p:spTree>
    <p:extLst>
      <p:ext uri="{BB962C8B-B14F-4D97-AF65-F5344CB8AC3E}">
        <p14:creationId xmlns:p14="http://schemas.microsoft.com/office/powerpoint/2010/main" xmlns="" val="32598596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rotWithShape="1">
          <a:blip r:embed="rId2">
            <a:extLst>
              <a:ext uri="{28A0092B-C50C-407E-A947-70E740481C1C}">
                <a14:useLocalDpi xmlns:a14="http://schemas.microsoft.com/office/drawing/2010/main" xmlns="" val="0"/>
              </a:ext>
            </a:extLst>
          </a:blip>
          <a:srcRect l="4432" r="8750" b="14004"/>
          <a:stretch/>
        </p:blipFill>
        <p:spPr>
          <a:xfrm>
            <a:off x="0" y="0"/>
            <a:ext cx="12192000" cy="6957738"/>
          </a:xfrm>
        </p:spPr>
      </p:pic>
    </p:spTree>
    <p:extLst>
      <p:ext uri="{BB962C8B-B14F-4D97-AF65-F5344CB8AC3E}">
        <p14:creationId xmlns:p14="http://schemas.microsoft.com/office/powerpoint/2010/main" xmlns="" val="116237111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072" y="235527"/>
            <a:ext cx="11623963" cy="5915892"/>
          </a:xfrm>
        </p:spPr>
        <p:txBody>
          <a:bodyPr>
            <a:normAutofit lnSpcReduction="10000"/>
          </a:bodyPr>
          <a:lstStyle/>
          <a:p>
            <a:pPr marL="0" indent="0" algn="just">
              <a:lnSpc>
                <a:spcPct val="150000"/>
              </a:lnSpc>
              <a:buNone/>
            </a:pPr>
            <a:r>
              <a:rPr lang="en-US" sz="2400" dirty="0">
                <a:solidFill>
                  <a:srgbClr val="00B050"/>
                </a:solidFill>
                <a:latin typeface="Times New Roman" pitchFamily="18" charset="0"/>
                <a:ea typeface="Microsoft Sans Serif" panose="020B0604020202020204" pitchFamily="34" charset="0"/>
                <a:cs typeface="Times New Roman" pitchFamily="18" charset="0"/>
              </a:rPr>
              <a:t>Infrastructure for search algorithms </a:t>
            </a:r>
            <a:endParaRPr lang="en-US" sz="2400"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Search </a:t>
            </a:r>
            <a:r>
              <a:rPr lang="en-US" sz="2200" dirty="0">
                <a:latin typeface="Times New Roman" pitchFamily="18" charset="0"/>
                <a:ea typeface="Microsoft Sans Serif" panose="020B0604020202020204" pitchFamily="34" charset="0"/>
                <a:cs typeface="Times New Roman" pitchFamily="18" charset="0"/>
              </a:rPr>
              <a:t>algorithms require a data structure to keep track of the search tree that is being </a:t>
            </a:r>
            <a:r>
              <a:rPr lang="en-US" sz="2200" dirty="0" smtClean="0">
                <a:latin typeface="Times New Roman" pitchFamily="18" charset="0"/>
                <a:ea typeface="Microsoft Sans Serif" panose="020B0604020202020204" pitchFamily="34" charset="0"/>
                <a:cs typeface="Times New Roman" pitchFamily="18" charset="0"/>
              </a:rPr>
              <a:t>constructed</a:t>
            </a:r>
            <a:r>
              <a:rPr lang="en-US" sz="2200" dirty="0">
                <a:latin typeface="Times New Roman" pitchFamily="18" charset="0"/>
                <a:ea typeface="Microsoft Sans Serif" panose="020B0604020202020204" pitchFamily="34" charset="0"/>
                <a:cs typeface="Times New Roman" pitchFamily="18" charset="0"/>
              </a:rPr>
              <a:t>.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r>
              <a:rPr lang="en-US" sz="2200" dirty="0" smtClean="0">
                <a:latin typeface="Times New Roman" pitchFamily="18" charset="0"/>
                <a:ea typeface="Microsoft Sans Serif" panose="020B0604020202020204" pitchFamily="34" charset="0"/>
                <a:cs typeface="Times New Roman" pitchFamily="18" charset="0"/>
              </a:rPr>
              <a:t>For </a:t>
            </a:r>
            <a:r>
              <a:rPr lang="en-US" sz="2200" dirty="0">
                <a:latin typeface="Times New Roman" pitchFamily="18" charset="0"/>
                <a:ea typeface="Microsoft Sans Serif" panose="020B0604020202020204" pitchFamily="34" charset="0"/>
                <a:cs typeface="Times New Roman" pitchFamily="18" charset="0"/>
              </a:rPr>
              <a:t>each node n of the tree, we have a structure that contains four components: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Ø"/>
            </a:pPr>
            <a:r>
              <a:rPr lang="en-US" sz="2200" dirty="0" err="1" smtClean="0">
                <a:latin typeface="Times New Roman" pitchFamily="18" charset="0"/>
                <a:ea typeface="Microsoft Sans Serif" panose="020B0604020202020204" pitchFamily="34" charset="0"/>
                <a:cs typeface="Times New Roman" pitchFamily="18" charset="0"/>
              </a:rPr>
              <a:t>n.STATE</a:t>
            </a:r>
            <a:r>
              <a:rPr lang="en-US" sz="2200" dirty="0">
                <a:latin typeface="Times New Roman" pitchFamily="18" charset="0"/>
                <a:ea typeface="Microsoft Sans Serif" panose="020B0604020202020204" pitchFamily="34" charset="0"/>
                <a:cs typeface="Times New Roman" pitchFamily="18" charset="0"/>
              </a:rPr>
              <a:t>: the state in the state space to which the node corresponds;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Ø"/>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n.PARENT: the node in the search tree that generated this node;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Ø"/>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n.ACTION: the action that was applied to the parent to generate the node;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Ø"/>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n.PATH-COST: the cost, traditionally denoted by g(n), of the path from the initial state to the node, as indicated by the parent </a:t>
            </a:r>
            <a:r>
              <a:rPr lang="en-US" sz="2200" dirty="0" smtClean="0">
                <a:latin typeface="Times New Roman" pitchFamily="18" charset="0"/>
                <a:ea typeface="Microsoft Sans Serif" panose="020B0604020202020204" pitchFamily="34" charset="0"/>
                <a:cs typeface="Times New Roman" pitchFamily="18" charset="0"/>
              </a:rPr>
              <a:t>pointers</a:t>
            </a: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Given </a:t>
            </a:r>
            <a:r>
              <a:rPr lang="en-US" sz="2200" dirty="0">
                <a:latin typeface="Times New Roman" pitchFamily="18" charset="0"/>
                <a:ea typeface="Microsoft Sans Serif" panose="020B0604020202020204" pitchFamily="34" charset="0"/>
                <a:cs typeface="Times New Roman" pitchFamily="18" charset="0"/>
              </a:rPr>
              <a:t>the components for a parent node, it is easy to see how to compute the necessary components for a child node. </a:t>
            </a:r>
            <a:endParaRPr lang="en-US" sz="2200" dirty="0" smtClean="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38268204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7829" y="444137"/>
            <a:ext cx="11025051" cy="6244046"/>
          </a:xfrm>
        </p:spPr>
        <p:txBody>
          <a:bodyPr>
            <a:normAutofit fontScale="92500" lnSpcReduction="10000"/>
          </a:bodyPr>
          <a:lstStyle/>
          <a:p>
            <a:pPr marL="0" indent="0" algn="just">
              <a:lnSpc>
                <a:spcPct val="100000"/>
              </a:lnSpc>
              <a:buFont typeface="Wingdings" pitchFamily="2" charset="2"/>
              <a:buChar char="v"/>
            </a:pPr>
            <a:r>
              <a:rPr lang="en-US" sz="2400" dirty="0" smtClean="0">
                <a:latin typeface="Times New Roman" pitchFamily="18" charset="0"/>
                <a:ea typeface="Microsoft Sans Serif" panose="020B0604020202020204" pitchFamily="34" charset="0"/>
                <a:cs typeface="Times New Roman" pitchFamily="18" charset="0"/>
              </a:rPr>
              <a:t>The function CHILD-NODE takes a parent node and an action and returns the resulting child node:</a:t>
            </a:r>
          </a:p>
          <a:p>
            <a:pPr marL="457200" lvl="1" indent="0" algn="just">
              <a:lnSpc>
                <a:spcPct val="100000"/>
              </a:lnSpc>
              <a:buNone/>
            </a:pPr>
            <a:r>
              <a:rPr lang="en-US" sz="2000" i="1" dirty="0" smtClean="0">
                <a:solidFill>
                  <a:srgbClr val="FFC000"/>
                </a:solidFill>
              </a:rPr>
              <a:t>function CHILD-NODE(problem, parent, action) returns a node </a:t>
            </a:r>
          </a:p>
          <a:p>
            <a:pPr marL="457200" lvl="1" indent="0" algn="just">
              <a:lnSpc>
                <a:spcPct val="100000"/>
              </a:lnSpc>
              <a:buNone/>
            </a:pPr>
            <a:r>
              <a:rPr lang="en-US" sz="2000" i="1" dirty="0" smtClean="0">
                <a:solidFill>
                  <a:srgbClr val="FFC000"/>
                </a:solidFill>
              </a:rPr>
              <a:t>return a node with </a:t>
            </a:r>
          </a:p>
          <a:p>
            <a:pPr marL="457200" lvl="1" indent="0" algn="just">
              <a:lnSpc>
                <a:spcPct val="100000"/>
              </a:lnSpc>
              <a:buNone/>
            </a:pPr>
            <a:r>
              <a:rPr lang="en-US" sz="2000" i="1" dirty="0" smtClean="0">
                <a:solidFill>
                  <a:srgbClr val="FFC000"/>
                </a:solidFill>
              </a:rPr>
              <a:t>STATE = problem. RESULT(parent . STATE, action), </a:t>
            </a:r>
          </a:p>
          <a:p>
            <a:pPr marL="457200" lvl="1" indent="0" algn="just">
              <a:lnSpc>
                <a:spcPct val="100000"/>
              </a:lnSpc>
              <a:buNone/>
            </a:pPr>
            <a:r>
              <a:rPr lang="en-US" sz="2000" i="1" dirty="0" smtClean="0">
                <a:solidFill>
                  <a:srgbClr val="FFC000"/>
                </a:solidFill>
              </a:rPr>
              <a:t>PARENT = parent,</a:t>
            </a:r>
          </a:p>
          <a:p>
            <a:pPr marL="457200" lvl="1" indent="0" algn="just">
              <a:lnSpc>
                <a:spcPct val="100000"/>
              </a:lnSpc>
              <a:buNone/>
            </a:pPr>
            <a:r>
              <a:rPr lang="en-US" sz="2000" i="1" dirty="0" smtClean="0">
                <a:solidFill>
                  <a:srgbClr val="FFC000"/>
                </a:solidFill>
              </a:rPr>
              <a:t> ACTION = action, </a:t>
            </a:r>
          </a:p>
          <a:p>
            <a:pPr marL="457200" lvl="1" indent="0" algn="just">
              <a:lnSpc>
                <a:spcPct val="100000"/>
              </a:lnSpc>
              <a:buNone/>
            </a:pPr>
            <a:r>
              <a:rPr lang="en-US" sz="2000" i="1" dirty="0" smtClean="0">
                <a:solidFill>
                  <a:srgbClr val="FFC000"/>
                </a:solidFill>
              </a:rPr>
              <a:t>PATH-COST = parent. PATH-COST + problem. STEP-COST(parent . STATE, action</a:t>
            </a:r>
            <a:r>
              <a:rPr lang="en-US" sz="2000" dirty="0" smtClean="0">
                <a:solidFill>
                  <a:srgbClr val="FFC000"/>
                </a:solidFill>
              </a:rPr>
              <a:t>)</a:t>
            </a:r>
            <a:endParaRPr lang="en-US" sz="1800" dirty="0" smtClean="0">
              <a:solidFill>
                <a:srgbClr val="FFC000"/>
              </a:solidFill>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Now </a:t>
            </a:r>
            <a:r>
              <a:rPr lang="en-US" sz="2200" dirty="0">
                <a:latin typeface="Times New Roman" pitchFamily="18" charset="0"/>
                <a:ea typeface="Microsoft Sans Serif" panose="020B0604020202020204" pitchFamily="34" charset="0"/>
                <a:cs typeface="Times New Roman" pitchFamily="18" charset="0"/>
              </a:rPr>
              <a:t>that we have nodes, we need somewhere to put them.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frontier needs to be stored in such a way that the search algorithm can easily choose the next node to expand </a:t>
            </a:r>
            <a:r>
              <a:rPr lang="en-US" sz="2200" dirty="0" smtClean="0">
                <a:latin typeface="Times New Roman" pitchFamily="18" charset="0"/>
                <a:ea typeface="Microsoft Sans Serif" panose="020B0604020202020204" pitchFamily="34" charset="0"/>
                <a:cs typeface="Times New Roman" pitchFamily="18" charset="0"/>
              </a:rPr>
              <a:t>according </a:t>
            </a:r>
            <a:r>
              <a:rPr lang="en-US" sz="2200" dirty="0">
                <a:latin typeface="Times New Roman" pitchFamily="18" charset="0"/>
                <a:ea typeface="Microsoft Sans Serif" panose="020B0604020202020204" pitchFamily="34" charset="0"/>
                <a:cs typeface="Times New Roman" pitchFamily="18" charset="0"/>
              </a:rPr>
              <a:t>to its preferred strategy.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appropriate data structure for this is a queue. The operations on a queue are as follows: </a:t>
            </a:r>
            <a:endParaRPr lang="en-US" sz="2200" dirty="0" smtClean="0">
              <a:latin typeface="Times New Roman" pitchFamily="18" charset="0"/>
              <a:ea typeface="Microsoft Sans Serif" panose="020B0604020202020204" pitchFamily="34" charset="0"/>
              <a:cs typeface="Times New Roman" pitchFamily="18" charset="0"/>
            </a:endParaRPr>
          </a:p>
          <a:p>
            <a:pPr lvl="1" algn="just">
              <a:lnSpc>
                <a:spcPct val="15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EMPTY</a:t>
            </a:r>
            <a:r>
              <a:rPr lang="en-US" sz="2000" dirty="0">
                <a:latin typeface="Times New Roman" pitchFamily="18" charset="0"/>
                <a:ea typeface="Microsoft Sans Serif" panose="020B0604020202020204" pitchFamily="34" charset="0"/>
                <a:cs typeface="Times New Roman" pitchFamily="18" charset="0"/>
              </a:rPr>
              <a:t>?(queue) returns true only if there are no more elements in the queue. </a:t>
            </a:r>
            <a:endParaRPr lang="en-US" sz="2000" dirty="0" smtClean="0">
              <a:latin typeface="Times New Roman" pitchFamily="18" charset="0"/>
              <a:ea typeface="Microsoft Sans Serif" panose="020B0604020202020204" pitchFamily="34" charset="0"/>
              <a:cs typeface="Times New Roman" pitchFamily="18" charset="0"/>
            </a:endParaRPr>
          </a:p>
          <a:p>
            <a:pPr lvl="1" algn="just">
              <a:lnSpc>
                <a:spcPct val="15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POP(queue</a:t>
            </a:r>
            <a:r>
              <a:rPr lang="en-US" sz="2000" dirty="0">
                <a:latin typeface="Times New Roman" pitchFamily="18" charset="0"/>
                <a:ea typeface="Microsoft Sans Serif" panose="020B0604020202020204" pitchFamily="34" charset="0"/>
                <a:cs typeface="Times New Roman" pitchFamily="18" charset="0"/>
              </a:rPr>
              <a:t>) removes the first element of the queue and returns it. </a:t>
            </a:r>
            <a:endParaRPr lang="en-US" sz="2000" dirty="0" smtClean="0">
              <a:latin typeface="Times New Roman" pitchFamily="18" charset="0"/>
              <a:ea typeface="Microsoft Sans Serif" panose="020B0604020202020204" pitchFamily="34" charset="0"/>
              <a:cs typeface="Times New Roman" pitchFamily="18" charset="0"/>
            </a:endParaRPr>
          </a:p>
          <a:p>
            <a:pPr lvl="1" algn="just">
              <a:lnSpc>
                <a:spcPct val="150000"/>
              </a:lnSpc>
              <a:buFont typeface="Wingdings" panose="05000000000000000000" pitchFamily="2" charset="2"/>
              <a:buChar char="Ø"/>
            </a:pPr>
            <a:r>
              <a:rPr lang="en-US" sz="2000" dirty="0" smtClean="0">
                <a:latin typeface="Times New Roman" pitchFamily="18" charset="0"/>
                <a:ea typeface="Microsoft Sans Serif" panose="020B0604020202020204" pitchFamily="34" charset="0"/>
                <a:cs typeface="Times New Roman" pitchFamily="18" charset="0"/>
              </a:rPr>
              <a:t>INSERT(element</a:t>
            </a:r>
            <a:r>
              <a:rPr lang="en-US" sz="1800" dirty="0">
                <a:latin typeface="Times New Roman" pitchFamily="18" charset="0"/>
                <a:ea typeface="Microsoft Sans Serif" panose="020B0604020202020204" pitchFamily="34" charset="0"/>
                <a:cs typeface="Times New Roman" pitchFamily="18" charset="0"/>
              </a:rPr>
              <a:t>, queue) inserts an element and returns the resulting queue</a:t>
            </a:r>
            <a:endParaRPr lang="en-IN" sz="18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7629431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073" y="332509"/>
            <a:ext cx="11208327" cy="6396096"/>
          </a:xfrm>
        </p:spPr>
        <p:txBody>
          <a:bodyPr>
            <a:normAutofit/>
          </a:bodyPr>
          <a:lstStyle/>
          <a:p>
            <a:pPr marL="0" indent="0" algn="just">
              <a:lnSpc>
                <a:spcPct val="150000"/>
              </a:lnSpc>
              <a:buNone/>
            </a:pPr>
            <a:r>
              <a:rPr lang="en-IN" sz="2400" dirty="0">
                <a:solidFill>
                  <a:srgbClr val="00B050"/>
                </a:solidFill>
                <a:latin typeface="Times New Roman" pitchFamily="18" charset="0"/>
                <a:ea typeface="Microsoft Sans Serif" panose="020B0604020202020204" pitchFamily="34" charset="0"/>
                <a:cs typeface="Times New Roman" pitchFamily="18" charset="0"/>
              </a:rPr>
              <a:t>Measuring problem-solving </a:t>
            </a:r>
            <a:r>
              <a:rPr lang="en-IN" sz="2400" dirty="0" smtClean="0">
                <a:solidFill>
                  <a:srgbClr val="00B050"/>
                </a:solidFill>
                <a:latin typeface="Times New Roman" pitchFamily="18" charset="0"/>
                <a:ea typeface="Microsoft Sans Serif" panose="020B0604020202020204" pitchFamily="34" charset="0"/>
                <a:cs typeface="Times New Roman" pitchFamily="18" charset="0"/>
              </a:rPr>
              <a:t>performance</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Following are the four essential properties of search algorithms to compare the efficiency of these algorithms:</a:t>
            </a:r>
          </a:p>
          <a:p>
            <a:pPr lvl="2" algn="just">
              <a:lnSpc>
                <a:spcPct val="150000"/>
              </a:lnSpc>
              <a:buFont typeface="Wingdings" panose="05000000000000000000" pitchFamily="2" charset="2"/>
              <a:buChar char="ü"/>
            </a:pPr>
            <a:r>
              <a:rPr lang="en-US" b="1" dirty="0">
                <a:latin typeface="Times New Roman" pitchFamily="18" charset="0"/>
                <a:ea typeface="Microsoft Sans Serif" panose="020B0604020202020204" pitchFamily="34" charset="0"/>
                <a:cs typeface="Times New Roman" pitchFamily="18" charset="0"/>
              </a:rPr>
              <a:t>Completeness:</a:t>
            </a:r>
            <a:r>
              <a:rPr lang="en-US" dirty="0">
                <a:latin typeface="Times New Roman" pitchFamily="18" charset="0"/>
                <a:ea typeface="Microsoft Sans Serif" panose="020B0604020202020204" pitchFamily="34" charset="0"/>
                <a:cs typeface="Times New Roman" pitchFamily="18" charset="0"/>
              </a:rPr>
              <a:t> A search algorithm is said to be complete if it guarantees to return a solution if at least any solution exists for any random input</a:t>
            </a:r>
            <a:r>
              <a:rPr lang="en-US" dirty="0" smtClean="0">
                <a:latin typeface="Times New Roman" pitchFamily="18" charset="0"/>
                <a:ea typeface="Microsoft Sans Serif" panose="020B0604020202020204" pitchFamily="34" charset="0"/>
                <a:cs typeface="Times New Roman" pitchFamily="18" charset="0"/>
              </a:rPr>
              <a:t>.</a:t>
            </a:r>
          </a:p>
          <a:p>
            <a:pPr lvl="2" algn="just">
              <a:lnSpc>
                <a:spcPct val="150000"/>
              </a:lnSpc>
              <a:buFont typeface="Wingdings" panose="05000000000000000000" pitchFamily="2" charset="2"/>
              <a:buChar char="ü"/>
            </a:pPr>
            <a:r>
              <a:rPr lang="en-US" b="1" dirty="0">
                <a:latin typeface="Times New Roman" pitchFamily="18" charset="0"/>
                <a:ea typeface="Microsoft Sans Serif" panose="020B0604020202020204" pitchFamily="34" charset="0"/>
                <a:cs typeface="Times New Roman" pitchFamily="18" charset="0"/>
              </a:rPr>
              <a:t>Optimality:</a:t>
            </a:r>
            <a:r>
              <a:rPr lang="en-US" dirty="0">
                <a:latin typeface="Times New Roman" pitchFamily="18" charset="0"/>
                <a:ea typeface="Microsoft Sans Serif" panose="020B0604020202020204" pitchFamily="34" charset="0"/>
                <a:cs typeface="Times New Roman" pitchFamily="18" charset="0"/>
              </a:rPr>
              <a:t> If a solution found for an algorithm is guaranteed to be the best solution (lowest path cost) among all other solutions, then such a solution for is said to be an optimal solution.</a:t>
            </a:r>
          </a:p>
          <a:p>
            <a:pPr lvl="2" algn="just">
              <a:lnSpc>
                <a:spcPct val="150000"/>
              </a:lnSpc>
              <a:buFont typeface="Wingdings" panose="05000000000000000000" pitchFamily="2" charset="2"/>
              <a:buChar char="ü"/>
            </a:pPr>
            <a:r>
              <a:rPr lang="en-US" b="1" dirty="0">
                <a:latin typeface="Times New Roman" pitchFamily="18" charset="0"/>
                <a:ea typeface="Microsoft Sans Serif" panose="020B0604020202020204" pitchFamily="34" charset="0"/>
                <a:cs typeface="Times New Roman" pitchFamily="18" charset="0"/>
              </a:rPr>
              <a:t>Time Complexity:</a:t>
            </a:r>
            <a:r>
              <a:rPr lang="en-US" dirty="0">
                <a:latin typeface="Times New Roman" pitchFamily="18" charset="0"/>
                <a:ea typeface="Microsoft Sans Serif" panose="020B0604020202020204" pitchFamily="34" charset="0"/>
                <a:cs typeface="Times New Roman" pitchFamily="18" charset="0"/>
              </a:rPr>
              <a:t> Time complexity is a measure of time for an algorithm to complete its task.</a:t>
            </a:r>
          </a:p>
          <a:p>
            <a:pPr lvl="2" algn="just">
              <a:lnSpc>
                <a:spcPct val="150000"/>
              </a:lnSpc>
              <a:buFont typeface="Wingdings" panose="05000000000000000000" pitchFamily="2" charset="2"/>
              <a:buChar char="ü"/>
            </a:pPr>
            <a:r>
              <a:rPr lang="en-US" b="1" dirty="0">
                <a:latin typeface="Times New Roman" pitchFamily="18" charset="0"/>
                <a:ea typeface="Microsoft Sans Serif" panose="020B0604020202020204" pitchFamily="34" charset="0"/>
                <a:cs typeface="Times New Roman" pitchFamily="18" charset="0"/>
              </a:rPr>
              <a:t>Space Complexity:</a:t>
            </a:r>
            <a:r>
              <a:rPr lang="en-US" dirty="0">
                <a:latin typeface="Times New Roman" pitchFamily="18" charset="0"/>
                <a:ea typeface="Microsoft Sans Serif" panose="020B0604020202020204" pitchFamily="34" charset="0"/>
                <a:cs typeface="Times New Roman" pitchFamily="18" charset="0"/>
              </a:rPr>
              <a:t> It is the maximum storage space required at any point during the search, as the complexity of the problem.</a:t>
            </a:r>
          </a:p>
          <a:p>
            <a:pPr marL="0" indent="0" algn="just">
              <a:lnSpc>
                <a:spcPct val="15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21264931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927" y="332509"/>
            <a:ext cx="11416146" cy="6404720"/>
          </a:xfrm>
        </p:spPr>
        <p:txBody>
          <a:bodyPr>
            <a:normAutofit fontScale="92500" lnSpcReduction="10000"/>
          </a:bodyPr>
          <a:lstStyle/>
          <a:p>
            <a:pPr marL="0" indent="0" algn="just">
              <a:lnSpc>
                <a:spcPct val="100000"/>
              </a:lnSpc>
              <a:buNone/>
            </a:pPr>
            <a:r>
              <a:rPr lang="en-US" sz="2600" b="1" dirty="0" smtClean="0">
                <a:solidFill>
                  <a:srgbClr val="FF0000"/>
                </a:solidFill>
                <a:latin typeface="Times New Roman" pitchFamily="18" charset="0"/>
                <a:ea typeface="Microsoft Sans Serif" panose="020B0604020202020204" pitchFamily="34" charset="0"/>
                <a:cs typeface="Times New Roman" pitchFamily="18" charset="0"/>
              </a:rPr>
              <a:t>1.12 Uninformed </a:t>
            </a:r>
            <a:r>
              <a:rPr lang="en-US" sz="2600" b="1" dirty="0">
                <a:solidFill>
                  <a:srgbClr val="FF0000"/>
                </a:solidFill>
                <a:latin typeface="Times New Roman" pitchFamily="18" charset="0"/>
                <a:ea typeface="Microsoft Sans Serif" panose="020B0604020202020204" pitchFamily="34" charset="0"/>
                <a:cs typeface="Times New Roman" pitchFamily="18" charset="0"/>
              </a:rPr>
              <a:t>Search Algorithms</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Uninformed search algorithms do not have any domain knowledge. It works in a brute force manner and hence also called b</a:t>
            </a:r>
            <a:r>
              <a:rPr lang="en-US" sz="2200" dirty="0" smtClean="0">
                <a:latin typeface="Times New Roman" pitchFamily="18" charset="0"/>
                <a:ea typeface="Microsoft Sans Serif" panose="020B0604020202020204" pitchFamily="34" charset="0"/>
                <a:cs typeface="Times New Roman" pitchFamily="18" charset="0"/>
              </a:rPr>
              <a:t>rute force algorithms.</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It </a:t>
            </a:r>
            <a:r>
              <a:rPr lang="en-US" sz="2200" dirty="0">
                <a:latin typeface="Times New Roman" pitchFamily="18" charset="0"/>
                <a:ea typeface="Microsoft Sans Serif" panose="020B0604020202020204" pitchFamily="34" charset="0"/>
                <a:cs typeface="Times New Roman" pitchFamily="18" charset="0"/>
              </a:rPr>
              <a:t>has no knowledge about how far the goal node is, it only knows how to traverse and distinguish between a leaf node and goal node.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It </a:t>
            </a:r>
            <a:r>
              <a:rPr lang="en-US" sz="2200" dirty="0">
                <a:latin typeface="Times New Roman" pitchFamily="18" charset="0"/>
                <a:ea typeface="Microsoft Sans Serif" panose="020B0604020202020204" pitchFamily="34" charset="0"/>
                <a:cs typeface="Times New Roman" pitchFamily="18" charset="0"/>
              </a:rPr>
              <a:t>examines every node without any prior knowledge hence also called blind search algorithms.</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Following are the various types of uninformed search algorithms:</a:t>
            </a:r>
          </a:p>
          <a:p>
            <a:pPr lvl="8" algn="just">
              <a:lnSpc>
                <a:spcPct val="150000"/>
              </a:lnSpc>
              <a:buFont typeface="Wingdings" panose="05000000000000000000" pitchFamily="2" charset="2"/>
              <a:buChar char="Ø"/>
            </a:pPr>
            <a:r>
              <a:rPr lang="en-US" sz="2000" dirty="0">
                <a:latin typeface="Times New Roman" pitchFamily="18" charset="0"/>
                <a:ea typeface="Microsoft Sans Serif" panose="020B0604020202020204" pitchFamily="34" charset="0"/>
                <a:cs typeface="Times New Roman" pitchFamily="18" charset="0"/>
              </a:rPr>
              <a:t>Breadth-first Search</a:t>
            </a:r>
          </a:p>
          <a:p>
            <a:pPr lvl="8" algn="just">
              <a:lnSpc>
                <a:spcPct val="150000"/>
              </a:lnSpc>
              <a:buFont typeface="Wingdings" panose="05000000000000000000" pitchFamily="2" charset="2"/>
              <a:buChar char="Ø"/>
            </a:pPr>
            <a:r>
              <a:rPr lang="en-US" sz="2000" dirty="0">
                <a:latin typeface="Times New Roman" pitchFamily="18" charset="0"/>
                <a:ea typeface="Microsoft Sans Serif" panose="020B0604020202020204" pitchFamily="34" charset="0"/>
                <a:cs typeface="Times New Roman" pitchFamily="18" charset="0"/>
              </a:rPr>
              <a:t>Depth-first Search</a:t>
            </a:r>
          </a:p>
          <a:p>
            <a:pPr lvl="8" algn="just">
              <a:lnSpc>
                <a:spcPct val="150000"/>
              </a:lnSpc>
              <a:buFont typeface="Wingdings" panose="05000000000000000000" pitchFamily="2" charset="2"/>
              <a:buChar char="Ø"/>
            </a:pPr>
            <a:r>
              <a:rPr lang="en-US" sz="2000" dirty="0">
                <a:latin typeface="Times New Roman" pitchFamily="18" charset="0"/>
                <a:ea typeface="Microsoft Sans Serif" panose="020B0604020202020204" pitchFamily="34" charset="0"/>
                <a:cs typeface="Times New Roman" pitchFamily="18" charset="0"/>
              </a:rPr>
              <a:t>Depth-limited Search</a:t>
            </a:r>
          </a:p>
          <a:p>
            <a:pPr lvl="8" algn="just">
              <a:lnSpc>
                <a:spcPct val="150000"/>
              </a:lnSpc>
              <a:buFont typeface="Wingdings" panose="05000000000000000000" pitchFamily="2" charset="2"/>
              <a:buChar char="Ø"/>
            </a:pPr>
            <a:r>
              <a:rPr lang="en-US" sz="2000" dirty="0">
                <a:latin typeface="Times New Roman" pitchFamily="18" charset="0"/>
                <a:ea typeface="Microsoft Sans Serif" panose="020B0604020202020204" pitchFamily="34" charset="0"/>
                <a:cs typeface="Times New Roman" pitchFamily="18" charset="0"/>
              </a:rPr>
              <a:t>Iterative deepening depth-first search</a:t>
            </a:r>
          </a:p>
          <a:p>
            <a:pPr lvl="8" algn="just">
              <a:lnSpc>
                <a:spcPct val="150000"/>
              </a:lnSpc>
              <a:buFont typeface="Wingdings" panose="05000000000000000000" pitchFamily="2" charset="2"/>
              <a:buChar char="Ø"/>
            </a:pPr>
            <a:r>
              <a:rPr lang="en-US" sz="2000" dirty="0">
                <a:latin typeface="Times New Roman" pitchFamily="18" charset="0"/>
                <a:ea typeface="Microsoft Sans Serif" panose="020B0604020202020204" pitchFamily="34" charset="0"/>
                <a:cs typeface="Times New Roman" pitchFamily="18" charset="0"/>
              </a:rPr>
              <a:t>Uniform cost search</a:t>
            </a:r>
          </a:p>
          <a:p>
            <a:pPr lvl="8" algn="just">
              <a:lnSpc>
                <a:spcPct val="150000"/>
              </a:lnSpc>
              <a:buFont typeface="Wingdings" panose="05000000000000000000" pitchFamily="2" charset="2"/>
              <a:buChar char="Ø"/>
            </a:pPr>
            <a:r>
              <a:rPr lang="en-US" sz="2000" dirty="0">
                <a:latin typeface="Times New Roman" pitchFamily="18" charset="0"/>
                <a:ea typeface="Microsoft Sans Serif" panose="020B0604020202020204" pitchFamily="34" charset="0"/>
                <a:cs typeface="Times New Roman" pitchFamily="18" charset="0"/>
              </a:rPr>
              <a:t>Bidirectional Search</a:t>
            </a:r>
          </a:p>
          <a:p>
            <a:pPr marL="0" indent="0">
              <a:buNone/>
            </a:pPr>
            <a:endParaRPr lang="en-IN" dirty="0"/>
          </a:p>
        </p:txBody>
      </p:sp>
    </p:spTree>
    <p:extLst>
      <p:ext uri="{BB962C8B-B14F-4D97-AF65-F5344CB8AC3E}">
        <p14:creationId xmlns:p14="http://schemas.microsoft.com/office/powerpoint/2010/main" xmlns="" val="12313201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4950" y="300446"/>
            <a:ext cx="11430000" cy="6385025"/>
          </a:xfrm>
        </p:spPr>
        <p:txBody>
          <a:bodyPr>
            <a:normAutofit lnSpcReduction="10000"/>
          </a:bodyPr>
          <a:lstStyle/>
          <a:p>
            <a:pPr marL="0" indent="0" algn="just">
              <a:lnSpc>
                <a:spcPct val="150000"/>
              </a:lnSpc>
              <a:buNone/>
            </a:pPr>
            <a:r>
              <a:rPr lang="en-US" sz="2600" dirty="0">
                <a:solidFill>
                  <a:srgbClr val="00B050"/>
                </a:solidFill>
                <a:latin typeface="Times New Roman" pitchFamily="18" charset="0"/>
                <a:ea typeface="Microsoft Sans Serif" panose="020B0604020202020204" pitchFamily="34" charset="0"/>
                <a:cs typeface="Times New Roman" pitchFamily="18" charset="0"/>
              </a:rPr>
              <a:t>Breadth-first search </a:t>
            </a:r>
            <a:endParaRPr lang="en-US" sz="2600" dirty="0" smtClean="0">
              <a:solidFill>
                <a:srgbClr val="00B050"/>
              </a:solidFill>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Breadth-first </a:t>
            </a:r>
            <a:r>
              <a:rPr lang="en-US" sz="2200" dirty="0">
                <a:latin typeface="Times New Roman" pitchFamily="18" charset="0"/>
                <a:ea typeface="Microsoft Sans Serif" panose="020B0604020202020204" pitchFamily="34" charset="0"/>
                <a:cs typeface="Times New Roman" pitchFamily="18" charset="0"/>
              </a:rPr>
              <a:t>search is a simple strategy in which the root node is expanded first, then all the </a:t>
            </a:r>
            <a:r>
              <a:rPr lang="en-US" sz="2200" dirty="0" smtClean="0">
                <a:latin typeface="Times New Roman" pitchFamily="18" charset="0"/>
                <a:ea typeface="Microsoft Sans Serif" panose="020B0604020202020204" pitchFamily="34" charset="0"/>
                <a:cs typeface="Times New Roman" pitchFamily="18" charset="0"/>
              </a:rPr>
              <a:t>successors </a:t>
            </a:r>
            <a:r>
              <a:rPr lang="en-US" sz="2200" dirty="0">
                <a:latin typeface="Times New Roman" pitchFamily="18" charset="0"/>
                <a:ea typeface="Microsoft Sans Serif" panose="020B0604020202020204" pitchFamily="34" charset="0"/>
                <a:cs typeface="Times New Roman" pitchFamily="18" charset="0"/>
              </a:rPr>
              <a:t>of the root node are expanded next, then their successors, and so on.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In </a:t>
            </a:r>
            <a:r>
              <a:rPr lang="en-US" sz="2200" dirty="0">
                <a:latin typeface="Times New Roman" pitchFamily="18" charset="0"/>
                <a:ea typeface="Microsoft Sans Serif" panose="020B0604020202020204" pitchFamily="34" charset="0"/>
                <a:cs typeface="Times New Roman" pitchFamily="18" charset="0"/>
              </a:rPr>
              <a:t>general, all the nodes are expanded at a given depth in the search tree before any nodes at the next level are </a:t>
            </a:r>
            <a:r>
              <a:rPr lang="en-US" sz="2200" dirty="0" smtClean="0">
                <a:latin typeface="Times New Roman" pitchFamily="18" charset="0"/>
                <a:ea typeface="Microsoft Sans Serif" panose="020B0604020202020204" pitchFamily="34" charset="0"/>
                <a:cs typeface="Times New Roman" pitchFamily="18" charset="0"/>
              </a:rPr>
              <a:t>expanded</a:t>
            </a:r>
          </a:p>
          <a:p>
            <a:pPr algn="just">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Breadth-first search is an instance </a:t>
            </a:r>
            <a:r>
              <a:rPr lang="en-US" sz="2200" dirty="0" smtClean="0">
                <a:latin typeface="Times New Roman" pitchFamily="18" charset="0"/>
                <a:ea typeface="Microsoft Sans Serif" panose="020B0604020202020204" pitchFamily="34" charset="0"/>
                <a:cs typeface="Times New Roman" pitchFamily="18" charset="0"/>
              </a:rPr>
              <a:t>which uses a </a:t>
            </a:r>
            <a:r>
              <a:rPr lang="en-US" sz="2200" dirty="0">
                <a:latin typeface="Times New Roman" pitchFamily="18" charset="0"/>
                <a:ea typeface="Microsoft Sans Serif" panose="020B0604020202020204" pitchFamily="34" charset="0"/>
                <a:cs typeface="Times New Roman" pitchFamily="18" charset="0"/>
              </a:rPr>
              <a:t>FIFO queue for the frontier.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Thus</a:t>
            </a:r>
            <a:r>
              <a:rPr lang="en-US" sz="2200" dirty="0">
                <a:latin typeface="Times New Roman" pitchFamily="18" charset="0"/>
                <a:ea typeface="Microsoft Sans Serif" panose="020B0604020202020204" pitchFamily="34" charset="0"/>
                <a:cs typeface="Times New Roman" pitchFamily="18" charset="0"/>
              </a:rPr>
              <a:t>, new nodes (which are always deeper than their parents) go to the back of the queue, and old nodes, which are shallower than the new nodes, get expanded first.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There </a:t>
            </a:r>
            <a:r>
              <a:rPr lang="en-US" sz="2200" dirty="0">
                <a:latin typeface="Times New Roman" pitchFamily="18" charset="0"/>
                <a:ea typeface="Microsoft Sans Serif" panose="020B0604020202020204" pitchFamily="34" charset="0"/>
                <a:cs typeface="Times New Roman" pitchFamily="18" charset="0"/>
              </a:rPr>
              <a:t>is one slight tweak on the general graph-search algorithm, which is that the goal test is applied to each node when it is generated rather than when it is selected for expansion.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 It discards </a:t>
            </a:r>
            <a:r>
              <a:rPr lang="en-US" sz="2200" dirty="0">
                <a:latin typeface="Times New Roman" pitchFamily="18" charset="0"/>
                <a:ea typeface="Microsoft Sans Serif" panose="020B0604020202020204" pitchFamily="34" charset="0"/>
                <a:cs typeface="Times New Roman" pitchFamily="18" charset="0"/>
              </a:rPr>
              <a:t>any new path to a state </a:t>
            </a:r>
            <a:r>
              <a:rPr lang="en-US" sz="2200" dirty="0" smtClean="0">
                <a:latin typeface="Times New Roman" pitchFamily="18" charset="0"/>
                <a:ea typeface="Microsoft Sans Serif" panose="020B0604020202020204" pitchFamily="34" charset="0"/>
                <a:cs typeface="Times New Roman" pitchFamily="18" charset="0"/>
              </a:rPr>
              <a:t>which is already </a:t>
            </a:r>
            <a:r>
              <a:rPr lang="en-US" sz="2200" dirty="0">
                <a:latin typeface="Times New Roman" pitchFamily="18" charset="0"/>
                <a:ea typeface="Microsoft Sans Serif" panose="020B0604020202020204" pitchFamily="34" charset="0"/>
                <a:cs typeface="Times New Roman" pitchFamily="18" charset="0"/>
              </a:rPr>
              <a:t>in the frontier or explored </a:t>
            </a:r>
            <a:r>
              <a:rPr lang="en-US" sz="2200" dirty="0" smtClean="0">
                <a:latin typeface="Times New Roman" pitchFamily="18" charset="0"/>
                <a:ea typeface="Microsoft Sans Serif" panose="020B0604020202020204" pitchFamily="34" charset="0"/>
                <a:cs typeface="Times New Roman" pitchFamily="18" charset="0"/>
              </a:rPr>
              <a:t>set.</a:t>
            </a: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33810940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034" y="94891"/>
            <a:ext cx="11887200" cy="6659592"/>
          </a:xfrm>
        </p:spPr>
        <p:txBody>
          <a:bodyPr/>
          <a:lstStyle/>
          <a:p>
            <a:pPr marL="0" indent="0">
              <a:buNone/>
            </a:pPr>
            <a:r>
              <a:rPr lang="en-US" dirty="0">
                <a:latin typeface="Times New Roman" pitchFamily="18" charset="0"/>
                <a:ea typeface="Microsoft Sans Serif" panose="020B0604020202020204" pitchFamily="34" charset="0"/>
                <a:cs typeface="Times New Roman" pitchFamily="18" charset="0"/>
              </a:rPr>
              <a:t>Breadth-first search on a </a:t>
            </a:r>
            <a:r>
              <a:rPr lang="en-US" dirty="0" smtClean="0">
                <a:latin typeface="Times New Roman" pitchFamily="18" charset="0"/>
                <a:ea typeface="Microsoft Sans Serif" panose="020B0604020202020204" pitchFamily="34" charset="0"/>
                <a:cs typeface="Times New Roman" pitchFamily="18" charset="0"/>
              </a:rPr>
              <a:t>graph</a:t>
            </a:r>
          </a:p>
          <a:p>
            <a:pPr marL="0" indent="0">
              <a:buNone/>
            </a:pPr>
            <a:endParaRPr lang="en-IN" dirty="0"/>
          </a:p>
        </p:txBody>
      </p:sp>
      <p:pic>
        <p:nvPicPr>
          <p:cNvPr id="1026" name="Picture 2" descr="Figure 3.11 from Solving Problems by Searching 3.1 Problem-solving Agents  3.1.1 Well-defined Problems and Solutions Problem-solving Agents 69 |  Semantic Schola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19177" y="664235"/>
            <a:ext cx="11291978" cy="590763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3530596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138" y="248194"/>
            <a:ext cx="11273246" cy="6348550"/>
          </a:xfrm>
        </p:spPr>
        <p:txBody>
          <a:bodyPr>
            <a:normAutofit lnSpcReduction="10000"/>
          </a:bodyPr>
          <a:lstStyle/>
          <a:p>
            <a:pPr marL="0" indent="0" algn="just">
              <a:lnSpc>
                <a:spcPct val="100000"/>
              </a:lnSpc>
              <a:buNone/>
            </a:pPr>
            <a:r>
              <a:rPr lang="en-US" sz="2200" dirty="0" smtClean="0">
                <a:latin typeface="Times New Roman" pitchFamily="18" charset="0"/>
                <a:ea typeface="Microsoft Sans Serif" panose="020B0604020202020204" pitchFamily="34" charset="0"/>
                <a:cs typeface="Times New Roman" pitchFamily="18" charset="0"/>
              </a:rPr>
              <a:t>Figure shows </a:t>
            </a:r>
            <a:r>
              <a:rPr lang="en-US" sz="2200" dirty="0">
                <a:latin typeface="Times New Roman" pitchFamily="18" charset="0"/>
                <a:ea typeface="Microsoft Sans Serif" panose="020B0604020202020204" pitchFamily="34" charset="0"/>
                <a:cs typeface="Times New Roman" pitchFamily="18" charset="0"/>
              </a:rPr>
              <a:t>the progress of the search on a simple binary </a:t>
            </a:r>
            <a:r>
              <a:rPr lang="en-US" sz="2200" dirty="0" smtClean="0">
                <a:latin typeface="Times New Roman" pitchFamily="18" charset="0"/>
                <a:ea typeface="Microsoft Sans Serif" panose="020B0604020202020204" pitchFamily="34" charset="0"/>
                <a:cs typeface="Times New Roman" pitchFamily="18" charset="0"/>
              </a:rPr>
              <a:t>tree</a:t>
            </a: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US" sz="2200" b="1" dirty="0">
                <a:latin typeface="Times New Roman" pitchFamily="18" charset="0"/>
                <a:ea typeface="Microsoft Sans Serif" panose="020B0604020202020204" pitchFamily="34" charset="0"/>
                <a:cs typeface="Times New Roman" pitchFamily="18" charset="0"/>
              </a:rPr>
              <a:t>Advantages:</a:t>
            </a:r>
            <a:endParaRPr lang="en-US" sz="2200" dirty="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BFS will provide a solution if any solution exists.</a:t>
            </a:r>
          </a:p>
          <a:p>
            <a:pPr algn="just">
              <a:lnSpc>
                <a:spcPct val="10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If there are more than one solutions for a given problem, then BFS will provide the minimal solution which requires the least number of steps</a:t>
            </a:r>
            <a:r>
              <a:rPr lang="en-US" sz="2200" dirty="0" smtClean="0">
                <a:latin typeface="Times New Roman" pitchFamily="18" charset="0"/>
                <a:ea typeface="Microsoft Sans Serif" panose="020B0604020202020204" pitchFamily="34" charset="0"/>
                <a:cs typeface="Times New Roman" pitchFamily="18" charset="0"/>
              </a:rPr>
              <a:t>.</a:t>
            </a:r>
          </a:p>
          <a:p>
            <a:pPr marL="0" indent="0" algn="just">
              <a:lnSpc>
                <a:spcPct val="100000"/>
              </a:lnSpc>
              <a:buNone/>
            </a:pPr>
            <a:r>
              <a:rPr lang="en-IN" sz="2200" b="1" dirty="0">
                <a:latin typeface="Times New Roman" pitchFamily="18" charset="0"/>
                <a:ea typeface="Microsoft Sans Serif" panose="020B0604020202020204" pitchFamily="34" charset="0"/>
                <a:cs typeface="Times New Roman" pitchFamily="18" charset="0"/>
              </a:rPr>
              <a:t>Disadvantages:</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It requires lots of memory since each level of the tree must be saved into memory to expand the next level.</a:t>
            </a:r>
          </a:p>
          <a:p>
            <a:pPr algn="just">
              <a:lnSpc>
                <a:spcPct val="10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BFS needs lots of time if the solution is far away from the root node.</a:t>
            </a:r>
          </a:p>
          <a:p>
            <a:pPr algn="just">
              <a:lnSpc>
                <a:spcPct val="100000"/>
              </a:lnSpc>
            </a:pPr>
            <a:endParaRPr lang="en-US" sz="2400" dirty="0" smtClean="0">
              <a:latin typeface="Times New Roman" pitchFamily="18" charset="0"/>
              <a:ea typeface="Microsoft Sans Serif" panose="020B0604020202020204" pitchFamily="34" charset="0"/>
              <a:cs typeface="Times New Roman" pitchFamily="18" charset="0"/>
            </a:endParaRPr>
          </a:p>
          <a:p>
            <a:endParaRPr lang="en-US" dirty="0"/>
          </a:p>
          <a:p>
            <a:pPr marL="0" indent="0">
              <a:buNone/>
            </a:pPr>
            <a:endParaRPr lang="en-US" dirty="0" smtClean="0">
              <a:latin typeface="Times New Roman" pitchFamily="18" charset="0"/>
              <a:ea typeface="Microsoft Sans Serif" panose="020B0604020202020204" pitchFamily="34" charset="0"/>
              <a:cs typeface="Times New Roman" pitchFamily="18" charset="0"/>
            </a:endParaRPr>
          </a:p>
          <a:p>
            <a:pPr marL="0" indent="0">
              <a:buNone/>
            </a:pPr>
            <a:endParaRPr lang="en-IN" dirty="0"/>
          </a:p>
        </p:txBody>
      </p:sp>
      <p:pic>
        <p:nvPicPr>
          <p:cNvPr id="4" name="Picture 4" descr="Figure 3.16 from Solving Problems by Searching 3.1 Problem-solving Agents  3.1.1 Well-defined Problems and Solutions Problem-solving Agents 69 |  Semantic Schola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45825" y="658482"/>
            <a:ext cx="10706100" cy="250272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047389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6389" y="404949"/>
            <a:ext cx="11260182" cy="6392666"/>
          </a:xfrm>
        </p:spPr>
        <p:txBody>
          <a:bodyPr>
            <a:normAutofit/>
          </a:bodyPr>
          <a:lstStyle/>
          <a:p>
            <a:pPr algn="just">
              <a:lnSpc>
                <a:spcPct val="150000"/>
              </a:lnSpc>
              <a:buFont typeface="Wingdings" panose="05000000000000000000" pitchFamily="2" charset="2"/>
              <a:buChar char="v"/>
            </a:pPr>
            <a:r>
              <a:rPr lang="en-US" sz="2200" b="1" dirty="0">
                <a:latin typeface="Times New Roman" pitchFamily="18" charset="0"/>
                <a:ea typeface="Microsoft Sans Serif" panose="020B0604020202020204" pitchFamily="34" charset="0"/>
                <a:cs typeface="Times New Roman" pitchFamily="18" charset="0"/>
              </a:rPr>
              <a:t>Time Complexity:</a:t>
            </a:r>
            <a:r>
              <a:rPr lang="en-US" sz="2200" dirty="0">
                <a:latin typeface="Times New Roman" pitchFamily="18" charset="0"/>
                <a:ea typeface="Microsoft Sans Serif" panose="020B0604020202020204" pitchFamily="34" charset="0"/>
                <a:cs typeface="Times New Roman" pitchFamily="18" charset="0"/>
              </a:rPr>
              <a:t> Time Complexity of BFS algorithm can be obtained by the number of nodes traversed in BFS until the shallowest Node. Where the d= depth of </a:t>
            </a:r>
            <a:r>
              <a:rPr lang="en-US" sz="2200" dirty="0" smtClean="0">
                <a:latin typeface="Times New Roman" pitchFamily="18" charset="0"/>
                <a:ea typeface="Microsoft Sans Serif" panose="020B0604020202020204" pitchFamily="34" charset="0"/>
                <a:cs typeface="Times New Roman" pitchFamily="18" charset="0"/>
              </a:rPr>
              <a:t>a node(solution) </a:t>
            </a:r>
            <a:r>
              <a:rPr lang="en-US" sz="2200" dirty="0">
                <a:latin typeface="Times New Roman" pitchFamily="18" charset="0"/>
                <a:ea typeface="Microsoft Sans Serif" panose="020B0604020202020204" pitchFamily="34" charset="0"/>
                <a:cs typeface="Times New Roman" pitchFamily="18" charset="0"/>
              </a:rPr>
              <a:t>and b is a </a:t>
            </a:r>
            <a:r>
              <a:rPr lang="en-US" sz="2200" dirty="0" smtClean="0">
                <a:latin typeface="Times New Roman" pitchFamily="18" charset="0"/>
                <a:ea typeface="Microsoft Sans Serif" panose="020B0604020202020204" pitchFamily="34" charset="0"/>
                <a:cs typeface="Times New Roman" pitchFamily="18" charset="0"/>
              </a:rPr>
              <a:t>branching factor.</a:t>
            </a: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r>
              <a:rPr lang="en-US" sz="2200" b="1" dirty="0" smtClean="0">
                <a:latin typeface="Times New Roman" pitchFamily="18" charset="0"/>
                <a:ea typeface="Microsoft Sans Serif" panose="020B0604020202020204" pitchFamily="34" charset="0"/>
                <a:cs typeface="Times New Roman" pitchFamily="18" charset="0"/>
              </a:rPr>
              <a:t>			T </a:t>
            </a:r>
            <a:r>
              <a:rPr lang="en-US" sz="2200" b="1" dirty="0">
                <a:latin typeface="Times New Roman" pitchFamily="18" charset="0"/>
                <a:ea typeface="Microsoft Sans Serif" panose="020B0604020202020204" pitchFamily="34" charset="0"/>
                <a:cs typeface="Times New Roman" pitchFamily="18" charset="0"/>
              </a:rPr>
              <a:t>(b) </a:t>
            </a:r>
            <a:r>
              <a:rPr lang="en-US" sz="2200" b="1" dirty="0" smtClean="0">
                <a:latin typeface="Times New Roman" pitchFamily="18" charset="0"/>
                <a:ea typeface="Microsoft Sans Serif" panose="020B0604020202020204" pitchFamily="34" charset="0"/>
                <a:cs typeface="Times New Roman" pitchFamily="18" charset="0"/>
              </a:rPr>
              <a:t>= </a:t>
            </a:r>
            <a:r>
              <a:rPr lang="en-US" sz="2200" b="1" dirty="0">
                <a:latin typeface="Times New Roman" pitchFamily="18" charset="0"/>
                <a:ea typeface="Microsoft Sans Serif" panose="020B0604020202020204" pitchFamily="34" charset="0"/>
                <a:cs typeface="Times New Roman" pitchFamily="18" charset="0"/>
              </a:rPr>
              <a:t>O (</a:t>
            </a:r>
            <a:r>
              <a:rPr lang="en-US" sz="2200" b="1" dirty="0" err="1">
                <a:latin typeface="Times New Roman" pitchFamily="18" charset="0"/>
                <a:ea typeface="Microsoft Sans Serif" panose="020B0604020202020204" pitchFamily="34" charset="0"/>
                <a:cs typeface="Times New Roman" pitchFamily="18" charset="0"/>
              </a:rPr>
              <a:t>b</a:t>
            </a:r>
            <a:r>
              <a:rPr lang="en-US" sz="2200" b="1" baseline="30000" dirty="0" err="1">
                <a:latin typeface="Times New Roman" pitchFamily="18" charset="0"/>
                <a:ea typeface="Microsoft Sans Serif" panose="020B0604020202020204" pitchFamily="34" charset="0"/>
                <a:cs typeface="Times New Roman" pitchFamily="18" charset="0"/>
              </a:rPr>
              <a:t>d</a:t>
            </a:r>
            <a:r>
              <a:rPr lang="en-US" sz="2200" b="1" dirty="0">
                <a:latin typeface="Times New Roman" pitchFamily="18" charset="0"/>
                <a:ea typeface="Microsoft Sans Serif" panose="020B0604020202020204" pitchFamily="34" charset="0"/>
                <a:cs typeface="Times New Roman" pitchFamily="18" charset="0"/>
              </a:rPr>
              <a:t>)</a:t>
            </a:r>
            <a:endParaRPr lang="en-US" sz="2200" dirty="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b="1" dirty="0">
                <a:latin typeface="Times New Roman" pitchFamily="18" charset="0"/>
                <a:ea typeface="Microsoft Sans Serif" panose="020B0604020202020204" pitchFamily="34" charset="0"/>
                <a:cs typeface="Times New Roman" pitchFamily="18" charset="0"/>
              </a:rPr>
              <a:t>Space Complexity:</a:t>
            </a:r>
            <a:r>
              <a:rPr lang="en-US" sz="2200" dirty="0">
                <a:latin typeface="Times New Roman" pitchFamily="18" charset="0"/>
                <a:ea typeface="Microsoft Sans Serif" panose="020B0604020202020204" pitchFamily="34" charset="0"/>
                <a:cs typeface="Times New Roman" pitchFamily="18" charset="0"/>
              </a:rPr>
              <a:t> Space complexity of BFS algorithm is given by the Memory size of frontier which is O(</a:t>
            </a:r>
            <a:r>
              <a:rPr lang="en-US" sz="2200" dirty="0" err="1">
                <a:latin typeface="Times New Roman" pitchFamily="18" charset="0"/>
                <a:ea typeface="Microsoft Sans Serif" panose="020B0604020202020204" pitchFamily="34" charset="0"/>
                <a:cs typeface="Times New Roman" pitchFamily="18" charset="0"/>
              </a:rPr>
              <a:t>b</a:t>
            </a:r>
            <a:r>
              <a:rPr lang="en-US" sz="2200" baseline="30000" dirty="0" err="1">
                <a:latin typeface="Times New Roman" pitchFamily="18" charset="0"/>
                <a:ea typeface="Microsoft Sans Serif" panose="020B0604020202020204" pitchFamily="34" charset="0"/>
                <a:cs typeface="Times New Roman" pitchFamily="18" charset="0"/>
              </a:rPr>
              <a:t>d</a:t>
            </a:r>
            <a:r>
              <a:rPr lang="en-US" sz="2200" dirty="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anose="05000000000000000000" pitchFamily="2" charset="2"/>
              <a:buChar char="v"/>
            </a:pPr>
            <a:r>
              <a:rPr lang="en-US" sz="2200" b="1" dirty="0">
                <a:latin typeface="Times New Roman" pitchFamily="18" charset="0"/>
                <a:ea typeface="Microsoft Sans Serif" panose="020B0604020202020204" pitchFamily="34" charset="0"/>
                <a:cs typeface="Times New Roman" pitchFamily="18" charset="0"/>
              </a:rPr>
              <a:t>Completeness:</a:t>
            </a:r>
            <a:r>
              <a:rPr lang="en-US" sz="2200" dirty="0">
                <a:latin typeface="Times New Roman" pitchFamily="18" charset="0"/>
                <a:ea typeface="Microsoft Sans Serif" panose="020B0604020202020204" pitchFamily="34" charset="0"/>
                <a:cs typeface="Times New Roman" pitchFamily="18" charset="0"/>
              </a:rPr>
              <a:t> BFS is complete, which means if the shallowest goal node is at some finite depth, then BFS will find a solution.</a:t>
            </a:r>
          </a:p>
          <a:p>
            <a:pPr algn="just">
              <a:lnSpc>
                <a:spcPct val="150000"/>
              </a:lnSpc>
              <a:buFont typeface="Wingdings" panose="05000000000000000000" pitchFamily="2" charset="2"/>
              <a:buChar char="v"/>
            </a:pPr>
            <a:r>
              <a:rPr lang="en-US" sz="2200" b="1" dirty="0">
                <a:latin typeface="Times New Roman" pitchFamily="18" charset="0"/>
                <a:ea typeface="Microsoft Sans Serif" panose="020B0604020202020204" pitchFamily="34" charset="0"/>
                <a:cs typeface="Times New Roman" pitchFamily="18" charset="0"/>
              </a:rPr>
              <a:t>Optimality:</a:t>
            </a:r>
            <a:r>
              <a:rPr lang="en-US" sz="2200" dirty="0">
                <a:latin typeface="Times New Roman" pitchFamily="18" charset="0"/>
                <a:ea typeface="Microsoft Sans Serif" panose="020B0604020202020204" pitchFamily="34" charset="0"/>
                <a:cs typeface="Times New Roman" pitchFamily="18" charset="0"/>
              </a:rPr>
              <a:t> BFS is optimal if path cost is a non-decreasing function of the depth of the node.</a:t>
            </a:r>
          </a:p>
          <a:p>
            <a:pPr marL="0" indent="0" algn="just">
              <a:lnSpc>
                <a:spcPct val="15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4855757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4" y="343331"/>
            <a:ext cx="11234057" cy="6112887"/>
          </a:xfrm>
        </p:spPr>
        <p:txBody>
          <a:bodyPr>
            <a:normAutofit fontScale="92500" lnSpcReduction="10000"/>
          </a:bodyPr>
          <a:lstStyle/>
          <a:p>
            <a:pPr marL="0" indent="0" algn="just" fontAlgn="base">
              <a:lnSpc>
                <a:spcPct val="100000"/>
              </a:lnSpc>
              <a:buNone/>
            </a:pPr>
            <a:r>
              <a:rPr lang="en-IN" sz="2600" dirty="0">
                <a:solidFill>
                  <a:srgbClr val="00B050"/>
                </a:solidFill>
                <a:latin typeface="Times New Roman" panose="02020603050405020304" pitchFamily="18" charset="0"/>
                <a:cs typeface="Times New Roman" panose="02020603050405020304" pitchFamily="18" charset="0"/>
              </a:rPr>
              <a:t>Uniform-cost search</a:t>
            </a:r>
            <a:endParaRPr lang="en-US" sz="2600" dirty="0">
              <a:solidFill>
                <a:srgbClr val="00B050"/>
              </a:solidFill>
              <a:latin typeface="Times New Roman" panose="02020603050405020304" pitchFamily="18" charset="0"/>
              <a:cs typeface="Times New Roman" panose="02020603050405020304" pitchFamily="18" charset="0"/>
            </a:endParaRPr>
          </a:p>
          <a:p>
            <a:pPr algn="just" fontAlgn="base">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Unlike </a:t>
            </a:r>
            <a:r>
              <a:rPr lang="en-US" sz="2200" dirty="0">
                <a:latin typeface="Times New Roman" pitchFamily="18" charset="0"/>
                <a:ea typeface="Microsoft Sans Serif" panose="020B0604020202020204" pitchFamily="34" charset="0"/>
                <a:cs typeface="Times New Roman" pitchFamily="18" charset="0"/>
              </a:rPr>
              <a:t>BFS, this uninformed search explores nodes based on their path cost from the root node. </a:t>
            </a:r>
            <a:endParaRPr lang="en-US" sz="2200" dirty="0" smtClean="0">
              <a:latin typeface="Times New Roman" pitchFamily="18" charset="0"/>
              <a:ea typeface="Microsoft Sans Serif" panose="020B0604020202020204" pitchFamily="34" charset="0"/>
              <a:cs typeface="Times New Roman" pitchFamily="18" charset="0"/>
            </a:endParaRPr>
          </a:p>
          <a:p>
            <a:pPr algn="just" fontAlgn="base">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It </a:t>
            </a:r>
            <a:r>
              <a:rPr lang="en-US" sz="2200" dirty="0">
                <a:latin typeface="Times New Roman" pitchFamily="18" charset="0"/>
                <a:ea typeface="Microsoft Sans Serif" panose="020B0604020202020204" pitchFamily="34" charset="0"/>
                <a:cs typeface="Times New Roman" pitchFamily="18" charset="0"/>
              </a:rPr>
              <a:t>expands a node n having the lowest path cost g(n), where g(n) is the total cost from a root node to node n. </a:t>
            </a:r>
            <a:endParaRPr lang="en-US" sz="2200" dirty="0" smtClean="0">
              <a:latin typeface="Times New Roman" pitchFamily="18" charset="0"/>
              <a:ea typeface="Microsoft Sans Serif" panose="020B0604020202020204" pitchFamily="34" charset="0"/>
              <a:cs typeface="Times New Roman" pitchFamily="18" charset="0"/>
            </a:endParaRPr>
          </a:p>
          <a:p>
            <a:pPr algn="just" fontAlgn="base">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Uniform-cost </a:t>
            </a:r>
            <a:r>
              <a:rPr lang="en-US" sz="2200" dirty="0">
                <a:latin typeface="Times New Roman" pitchFamily="18" charset="0"/>
                <a:ea typeface="Microsoft Sans Serif" panose="020B0604020202020204" pitchFamily="34" charset="0"/>
                <a:cs typeface="Times New Roman" pitchFamily="18" charset="0"/>
              </a:rPr>
              <a:t>search is significantly different from the breadth-first search because of the following two reasons:</a:t>
            </a:r>
          </a:p>
          <a:p>
            <a:pPr lvl="1" algn="just" fontAlgn="base">
              <a:lnSpc>
                <a:spcPct val="150000"/>
              </a:lnSpc>
              <a:buFont typeface="Wingdings" panose="05000000000000000000" pitchFamily="2" charset="2"/>
              <a:buChar char="Ø"/>
            </a:pPr>
            <a:r>
              <a:rPr lang="en-US" sz="2200" dirty="0">
                <a:latin typeface="Times New Roman" pitchFamily="18" charset="0"/>
                <a:ea typeface="Microsoft Sans Serif" panose="020B0604020202020204" pitchFamily="34" charset="0"/>
                <a:cs typeface="Times New Roman" pitchFamily="18" charset="0"/>
              </a:rPr>
              <a:t>First, the goal test is applied to a node only when it is selected for expansion </a:t>
            </a:r>
            <a:r>
              <a:rPr lang="en-US" sz="2200" b="1" dirty="0">
                <a:latin typeface="Times New Roman" pitchFamily="18" charset="0"/>
                <a:ea typeface="Microsoft Sans Serif" panose="020B0604020202020204" pitchFamily="34" charset="0"/>
                <a:cs typeface="Times New Roman" pitchFamily="18" charset="0"/>
              </a:rPr>
              <a:t>not when it is first generated</a:t>
            </a:r>
            <a:r>
              <a:rPr lang="en-US" sz="2200" dirty="0">
                <a:latin typeface="Times New Roman" pitchFamily="18" charset="0"/>
                <a:ea typeface="Microsoft Sans Serif" panose="020B0604020202020204" pitchFamily="34" charset="0"/>
                <a:cs typeface="Times New Roman" pitchFamily="18" charset="0"/>
              </a:rPr>
              <a:t> because the first goal node which is generated may be on a suboptimal path.</a:t>
            </a:r>
          </a:p>
          <a:p>
            <a:pPr lvl="1" algn="just" fontAlgn="base">
              <a:lnSpc>
                <a:spcPct val="150000"/>
              </a:lnSpc>
              <a:buFont typeface="Wingdings" panose="05000000000000000000" pitchFamily="2" charset="2"/>
              <a:buChar char="Ø"/>
            </a:pPr>
            <a:r>
              <a:rPr lang="en-US" sz="2200" dirty="0">
                <a:latin typeface="Times New Roman" pitchFamily="18" charset="0"/>
                <a:ea typeface="Microsoft Sans Serif" panose="020B0604020202020204" pitchFamily="34" charset="0"/>
                <a:cs typeface="Times New Roman" pitchFamily="18" charset="0"/>
              </a:rPr>
              <a:t>Secondly, a goal test is added to a node, only when a better/ optimal path is found.</a:t>
            </a:r>
          </a:p>
          <a:p>
            <a:pPr algn="just" fontAlgn="base">
              <a:lnSpc>
                <a:spcPct val="150000"/>
              </a:lnSpc>
              <a:buFont typeface="Wingdings" panose="05000000000000000000" pitchFamily="2" charset="2"/>
              <a:buChar char="v"/>
            </a:pPr>
            <a:r>
              <a:rPr lang="en-US" sz="2200" dirty="0">
                <a:latin typeface="Times New Roman" pitchFamily="18" charset="0"/>
                <a:ea typeface="Microsoft Sans Serif" panose="020B0604020202020204" pitchFamily="34" charset="0"/>
                <a:cs typeface="Times New Roman" pitchFamily="18" charset="0"/>
              </a:rPr>
              <a:t>Thus, uniform-cost search expands nodes in a sequence of their </a:t>
            </a:r>
            <a:r>
              <a:rPr lang="en-US" sz="2200" b="1" dirty="0">
                <a:latin typeface="Times New Roman" pitchFamily="18" charset="0"/>
                <a:ea typeface="Microsoft Sans Serif" panose="020B0604020202020204" pitchFamily="34" charset="0"/>
                <a:cs typeface="Times New Roman" pitchFamily="18" charset="0"/>
              </a:rPr>
              <a:t>optimal path cost</a:t>
            </a:r>
            <a:r>
              <a:rPr lang="en-US" sz="2200" dirty="0">
                <a:latin typeface="Times New Roman" pitchFamily="18" charset="0"/>
                <a:ea typeface="Microsoft Sans Serif" panose="020B0604020202020204" pitchFamily="34" charset="0"/>
                <a:cs typeface="Times New Roman" pitchFamily="18" charset="0"/>
              </a:rPr>
              <a:t> because before exploring any node, it searches the optimal path. </a:t>
            </a:r>
            <a:endParaRPr lang="en-US" sz="2200" dirty="0" smtClean="0">
              <a:latin typeface="Times New Roman" pitchFamily="18" charset="0"/>
              <a:ea typeface="Microsoft Sans Serif" panose="020B0604020202020204" pitchFamily="34" charset="0"/>
              <a:cs typeface="Times New Roman" pitchFamily="18" charset="0"/>
            </a:endParaRPr>
          </a:p>
          <a:p>
            <a:pPr algn="just" fontAlgn="base">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Also</a:t>
            </a:r>
            <a:r>
              <a:rPr lang="en-US" sz="2200" dirty="0">
                <a:latin typeface="Times New Roman" pitchFamily="18" charset="0"/>
                <a:ea typeface="Microsoft Sans Serif" panose="020B0604020202020204" pitchFamily="34" charset="0"/>
                <a:cs typeface="Times New Roman" pitchFamily="18" charset="0"/>
              </a:rPr>
              <a:t>, the step cost is positive so, paths never get shorter when a new node is added in the search.</a:t>
            </a:r>
          </a:p>
        </p:txBody>
      </p:sp>
    </p:spTree>
    <p:extLst>
      <p:ext uri="{BB962C8B-B14F-4D97-AF65-F5344CB8AC3E}">
        <p14:creationId xmlns:p14="http://schemas.microsoft.com/office/powerpoint/2010/main" xmlns="" val="38808264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olved Use Uniform Cost Search algorithm to find the | Chegg.com"/>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569343" y="180585"/>
            <a:ext cx="11464506" cy="657389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7366317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236" y="193963"/>
            <a:ext cx="11679382" cy="6526013"/>
          </a:xfrm>
        </p:spPr>
        <p:txBody>
          <a:bodyPr>
            <a:normAutofit/>
          </a:bodyPr>
          <a:lstStyle/>
          <a:p>
            <a:pPr marL="0" indent="0" algn="just">
              <a:lnSpc>
                <a:spcPct val="150000"/>
              </a:lnSpc>
              <a:buFont typeface="Wingdings" pitchFamily="2" charset="2"/>
              <a:buChar char="v"/>
            </a:pPr>
            <a:r>
              <a:rPr lang="en-US" sz="2000" dirty="0">
                <a:latin typeface="Times New Roman" pitchFamily="18" charset="0"/>
                <a:ea typeface="Microsoft Sans Serif" panose="020B0604020202020204" pitchFamily="34" charset="0"/>
                <a:cs typeface="Times New Roman" pitchFamily="18" charset="0"/>
              </a:rPr>
              <a:t>W</a:t>
            </a:r>
            <a:r>
              <a:rPr lang="en-US" sz="2000" dirty="0" smtClean="0">
                <a:latin typeface="Times New Roman" pitchFamily="18" charset="0"/>
                <a:ea typeface="Microsoft Sans Serif" panose="020B0604020202020204" pitchFamily="34" charset="0"/>
                <a:cs typeface="Times New Roman" pitchFamily="18" charset="0"/>
              </a:rPr>
              <a:t>here </a:t>
            </a:r>
            <a:r>
              <a:rPr lang="en-US" sz="2000" dirty="0">
                <a:latin typeface="Times New Roman" pitchFamily="18" charset="0"/>
                <a:ea typeface="Microsoft Sans Serif" panose="020B0604020202020204" pitchFamily="34" charset="0"/>
                <a:cs typeface="Times New Roman" pitchFamily="18" charset="0"/>
              </a:rPr>
              <a:t>the problem is to get from Sibiu to Bucharest. The successors of Sibiu are </a:t>
            </a:r>
            <a:r>
              <a:rPr lang="en-US" sz="2000" dirty="0" err="1">
                <a:latin typeface="Times New Roman" pitchFamily="18" charset="0"/>
                <a:ea typeface="Microsoft Sans Serif" panose="020B0604020202020204" pitchFamily="34" charset="0"/>
                <a:cs typeface="Times New Roman" pitchFamily="18" charset="0"/>
              </a:rPr>
              <a:t>Rimnicu</a:t>
            </a:r>
            <a:r>
              <a:rPr lang="en-US" sz="2000" dirty="0">
                <a:latin typeface="Times New Roman" pitchFamily="18" charset="0"/>
                <a:ea typeface="Microsoft Sans Serif" panose="020B0604020202020204" pitchFamily="34" charset="0"/>
                <a:cs typeface="Times New Roman" pitchFamily="18" charset="0"/>
              </a:rPr>
              <a:t> </a:t>
            </a:r>
            <a:r>
              <a:rPr lang="en-US" sz="2000" dirty="0" err="1">
                <a:latin typeface="Times New Roman" pitchFamily="18" charset="0"/>
                <a:ea typeface="Microsoft Sans Serif" panose="020B0604020202020204" pitchFamily="34" charset="0"/>
                <a:cs typeface="Times New Roman" pitchFamily="18" charset="0"/>
              </a:rPr>
              <a:t>Vilcea</a:t>
            </a:r>
            <a:r>
              <a:rPr lang="en-US" sz="2000" dirty="0">
                <a:latin typeface="Times New Roman" pitchFamily="18" charset="0"/>
                <a:ea typeface="Microsoft Sans Serif" panose="020B0604020202020204" pitchFamily="34" charset="0"/>
                <a:cs typeface="Times New Roman" pitchFamily="18" charset="0"/>
              </a:rPr>
              <a:t> and </a:t>
            </a:r>
            <a:r>
              <a:rPr lang="en-US" sz="2000" dirty="0" err="1">
                <a:latin typeface="Times New Roman" pitchFamily="18" charset="0"/>
                <a:ea typeface="Microsoft Sans Serif" panose="020B0604020202020204" pitchFamily="34" charset="0"/>
                <a:cs typeface="Times New Roman" pitchFamily="18" charset="0"/>
              </a:rPr>
              <a:t>Fagaras</a:t>
            </a:r>
            <a:r>
              <a:rPr lang="en-US" sz="2000" dirty="0">
                <a:latin typeface="Times New Roman" pitchFamily="18" charset="0"/>
                <a:ea typeface="Microsoft Sans Serif" panose="020B0604020202020204" pitchFamily="34" charset="0"/>
                <a:cs typeface="Times New Roman" pitchFamily="18" charset="0"/>
              </a:rPr>
              <a:t>, with costs 80 and 99, respectively.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The </a:t>
            </a:r>
            <a:r>
              <a:rPr lang="en-US" sz="2000" dirty="0">
                <a:latin typeface="Times New Roman" pitchFamily="18" charset="0"/>
                <a:ea typeface="Microsoft Sans Serif" panose="020B0604020202020204" pitchFamily="34" charset="0"/>
                <a:cs typeface="Times New Roman" pitchFamily="18" charset="0"/>
              </a:rPr>
              <a:t>least-cost node, </a:t>
            </a:r>
            <a:r>
              <a:rPr lang="en-US" sz="2000" dirty="0" err="1">
                <a:latin typeface="Times New Roman" pitchFamily="18" charset="0"/>
                <a:ea typeface="Microsoft Sans Serif" panose="020B0604020202020204" pitchFamily="34" charset="0"/>
                <a:cs typeface="Times New Roman" pitchFamily="18" charset="0"/>
              </a:rPr>
              <a:t>Rimnicu</a:t>
            </a:r>
            <a:r>
              <a:rPr lang="en-US" sz="2000" dirty="0">
                <a:latin typeface="Times New Roman" pitchFamily="18" charset="0"/>
                <a:ea typeface="Microsoft Sans Serif" panose="020B0604020202020204" pitchFamily="34" charset="0"/>
                <a:cs typeface="Times New Roman" pitchFamily="18" charset="0"/>
              </a:rPr>
              <a:t> </a:t>
            </a:r>
            <a:r>
              <a:rPr lang="en-US" sz="2000" dirty="0" err="1">
                <a:latin typeface="Times New Roman" pitchFamily="18" charset="0"/>
                <a:ea typeface="Microsoft Sans Serif" panose="020B0604020202020204" pitchFamily="34" charset="0"/>
                <a:cs typeface="Times New Roman" pitchFamily="18" charset="0"/>
              </a:rPr>
              <a:t>Vilcea</a:t>
            </a:r>
            <a:r>
              <a:rPr lang="en-US" sz="2000" dirty="0">
                <a:latin typeface="Times New Roman" pitchFamily="18" charset="0"/>
                <a:ea typeface="Microsoft Sans Serif" panose="020B0604020202020204" pitchFamily="34" charset="0"/>
                <a:cs typeface="Times New Roman" pitchFamily="18" charset="0"/>
              </a:rPr>
              <a:t>, is expanded next,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r>
              <a:rPr lang="en-US" sz="2000" dirty="0" smtClean="0">
                <a:latin typeface="Times New Roman" pitchFamily="18" charset="0"/>
                <a:ea typeface="Microsoft Sans Serif" panose="020B0604020202020204" pitchFamily="34" charset="0"/>
                <a:cs typeface="Times New Roman" pitchFamily="18" charset="0"/>
              </a:rPr>
              <a:t>adding Pitesti  with </a:t>
            </a:r>
            <a:r>
              <a:rPr lang="en-US" sz="2000" dirty="0">
                <a:latin typeface="Times New Roman" pitchFamily="18" charset="0"/>
                <a:ea typeface="Microsoft Sans Serif" panose="020B0604020202020204" pitchFamily="34" charset="0"/>
                <a:cs typeface="Times New Roman" pitchFamily="18" charset="0"/>
              </a:rPr>
              <a:t>cost 80 + 97 = 177.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The </a:t>
            </a:r>
            <a:r>
              <a:rPr lang="en-US" sz="2000" dirty="0">
                <a:latin typeface="Times New Roman" pitchFamily="18" charset="0"/>
                <a:ea typeface="Microsoft Sans Serif" panose="020B0604020202020204" pitchFamily="34" charset="0"/>
                <a:cs typeface="Times New Roman" pitchFamily="18" charset="0"/>
              </a:rPr>
              <a:t>least-cost node is now </a:t>
            </a:r>
            <a:r>
              <a:rPr lang="en-US" sz="2000" dirty="0" err="1">
                <a:latin typeface="Times New Roman" pitchFamily="18" charset="0"/>
                <a:ea typeface="Microsoft Sans Serif" panose="020B0604020202020204" pitchFamily="34" charset="0"/>
                <a:cs typeface="Times New Roman" pitchFamily="18" charset="0"/>
              </a:rPr>
              <a:t>Fagaras</a:t>
            </a:r>
            <a:r>
              <a:rPr lang="en-US" sz="2000" dirty="0">
                <a:latin typeface="Times New Roman" pitchFamily="18" charset="0"/>
                <a:ea typeface="Microsoft Sans Serif" panose="020B0604020202020204" pitchFamily="34" charset="0"/>
                <a:cs typeface="Times New Roman" pitchFamily="18" charset="0"/>
              </a:rPr>
              <a:t>, so it is </a:t>
            </a:r>
            <a:r>
              <a:rPr lang="en-US" sz="2000" dirty="0" smtClean="0">
                <a:latin typeface="Times New Roman" pitchFamily="18" charset="0"/>
                <a:ea typeface="Microsoft Sans Serif" panose="020B0604020202020204" pitchFamily="34" charset="0"/>
                <a:cs typeface="Times New Roman" pitchFamily="18" charset="0"/>
              </a:rPr>
              <a:t>expanded, </a:t>
            </a:r>
          </a:p>
          <a:p>
            <a:pPr marL="0" indent="0" algn="just">
              <a:lnSpc>
                <a:spcPct val="150000"/>
              </a:lnSpc>
              <a:buNone/>
            </a:pPr>
            <a:r>
              <a:rPr lang="en-US" sz="2000" dirty="0">
                <a:latin typeface="Times New Roman" pitchFamily="18" charset="0"/>
                <a:ea typeface="Microsoft Sans Serif" panose="020B0604020202020204" pitchFamily="34" charset="0"/>
                <a:cs typeface="Times New Roman" pitchFamily="18" charset="0"/>
              </a:rPr>
              <a:t>a</a:t>
            </a:r>
            <a:r>
              <a:rPr lang="en-US" sz="2000" dirty="0" smtClean="0">
                <a:latin typeface="Times New Roman" pitchFamily="18" charset="0"/>
                <a:ea typeface="Microsoft Sans Serif" panose="020B0604020202020204" pitchFamily="34" charset="0"/>
                <a:cs typeface="Times New Roman" pitchFamily="18" charset="0"/>
              </a:rPr>
              <a:t>dding Bucharest  with </a:t>
            </a:r>
            <a:r>
              <a:rPr lang="en-US" sz="2000" dirty="0">
                <a:latin typeface="Times New Roman" pitchFamily="18" charset="0"/>
                <a:ea typeface="Microsoft Sans Serif" panose="020B0604020202020204" pitchFamily="34" charset="0"/>
                <a:cs typeface="Times New Roman" pitchFamily="18" charset="0"/>
              </a:rPr>
              <a:t>cost 99 + 211 = 310.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Now </a:t>
            </a:r>
            <a:r>
              <a:rPr lang="en-US" sz="2000" dirty="0">
                <a:latin typeface="Times New Roman" pitchFamily="18" charset="0"/>
                <a:ea typeface="Microsoft Sans Serif" panose="020B0604020202020204" pitchFamily="34" charset="0"/>
                <a:cs typeface="Times New Roman" pitchFamily="18" charset="0"/>
              </a:rPr>
              <a:t>a goal node has been generated, but uniform-cost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None/>
            </a:pPr>
            <a:r>
              <a:rPr lang="en-US" sz="2000" dirty="0" smtClean="0">
                <a:latin typeface="Times New Roman" pitchFamily="18" charset="0"/>
                <a:ea typeface="Microsoft Sans Serif" panose="020B0604020202020204" pitchFamily="34" charset="0"/>
                <a:cs typeface="Times New Roman" pitchFamily="18" charset="0"/>
              </a:rPr>
              <a:t>search </a:t>
            </a:r>
            <a:r>
              <a:rPr lang="en-US" sz="2000" dirty="0">
                <a:latin typeface="Times New Roman" pitchFamily="18" charset="0"/>
                <a:ea typeface="Microsoft Sans Serif" panose="020B0604020202020204" pitchFamily="34" charset="0"/>
                <a:cs typeface="Times New Roman" pitchFamily="18" charset="0"/>
              </a:rPr>
              <a:t>keeps </a:t>
            </a:r>
            <a:r>
              <a:rPr lang="en-US" sz="2000" dirty="0" smtClean="0">
                <a:latin typeface="Times New Roman" pitchFamily="18" charset="0"/>
                <a:ea typeface="Microsoft Sans Serif" panose="020B0604020202020204" pitchFamily="34" charset="0"/>
                <a:cs typeface="Times New Roman" pitchFamily="18" charset="0"/>
              </a:rPr>
              <a:t>going</a:t>
            </a:r>
            <a:r>
              <a:rPr lang="en-US" sz="2000" dirty="0">
                <a:latin typeface="Times New Roman" pitchFamily="18" charset="0"/>
                <a:ea typeface="Microsoft Sans Serif" panose="020B0604020202020204" pitchFamily="34" charset="0"/>
                <a:cs typeface="Times New Roman" pitchFamily="18" charset="0"/>
              </a:rPr>
              <a:t>, choosing Pitesti for expansion </a:t>
            </a:r>
            <a:r>
              <a:rPr lang="en-US" sz="2000" dirty="0" smtClean="0">
                <a:latin typeface="Times New Roman" pitchFamily="18" charset="0"/>
                <a:ea typeface="Microsoft Sans Serif" panose="020B0604020202020204" pitchFamily="34" charset="0"/>
                <a:cs typeface="Times New Roman" pitchFamily="18" charset="0"/>
              </a:rPr>
              <a:t>and </a:t>
            </a:r>
          </a:p>
          <a:p>
            <a:pPr marL="0" indent="0" algn="just">
              <a:lnSpc>
                <a:spcPct val="150000"/>
              </a:lnSpc>
              <a:buNone/>
            </a:pPr>
            <a:r>
              <a:rPr lang="en-US" sz="2000" dirty="0" smtClean="0">
                <a:latin typeface="Times New Roman" pitchFamily="18" charset="0"/>
                <a:ea typeface="Microsoft Sans Serif" panose="020B0604020202020204" pitchFamily="34" charset="0"/>
                <a:cs typeface="Times New Roman" pitchFamily="18" charset="0"/>
              </a:rPr>
              <a:t>adding </a:t>
            </a:r>
            <a:r>
              <a:rPr lang="en-US" sz="2000" dirty="0">
                <a:latin typeface="Times New Roman" pitchFamily="18" charset="0"/>
                <a:ea typeface="Microsoft Sans Serif" panose="020B0604020202020204" pitchFamily="34" charset="0"/>
                <a:cs typeface="Times New Roman" pitchFamily="18" charset="0"/>
              </a:rPr>
              <a:t>a second path </a:t>
            </a:r>
            <a:r>
              <a:rPr lang="en-US" sz="2000" dirty="0" smtClean="0">
                <a:latin typeface="Times New Roman" pitchFamily="18" charset="0"/>
                <a:ea typeface="Microsoft Sans Serif" panose="020B0604020202020204" pitchFamily="34" charset="0"/>
                <a:cs typeface="Times New Roman" pitchFamily="18" charset="0"/>
              </a:rPr>
              <a:t>to Bucharest with </a:t>
            </a:r>
            <a:r>
              <a:rPr lang="en-US" sz="2000" dirty="0">
                <a:latin typeface="Times New Roman" pitchFamily="18" charset="0"/>
                <a:ea typeface="Microsoft Sans Serif" panose="020B0604020202020204" pitchFamily="34" charset="0"/>
                <a:cs typeface="Times New Roman" pitchFamily="18" charset="0"/>
              </a:rPr>
              <a:t>cost 80+ 97+ 101 = 278. </a:t>
            </a:r>
            <a:endParaRPr lang="en-US" sz="20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Now </a:t>
            </a:r>
            <a:r>
              <a:rPr lang="en-US" sz="2000" dirty="0">
                <a:latin typeface="Times New Roman" pitchFamily="18" charset="0"/>
                <a:ea typeface="Microsoft Sans Serif" panose="020B0604020202020204" pitchFamily="34" charset="0"/>
                <a:cs typeface="Times New Roman" pitchFamily="18" charset="0"/>
              </a:rPr>
              <a:t>the algorithm checks to see if this new path is better than the old one; it is, so the old one is discarded. Bucharest, now with g-cost 278, is selected for expansion and the solution is </a:t>
            </a:r>
            <a:r>
              <a:rPr lang="en-US" sz="2000" dirty="0" smtClean="0">
                <a:latin typeface="Times New Roman" pitchFamily="18" charset="0"/>
                <a:ea typeface="Microsoft Sans Serif" panose="020B0604020202020204" pitchFamily="34" charset="0"/>
                <a:cs typeface="Times New Roman" pitchFamily="18" charset="0"/>
              </a:rPr>
              <a:t>returned.</a:t>
            </a: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pic>
        <p:nvPicPr>
          <p:cNvPr id="1028" name="Picture 4" descr="Figure 3.3 from Solving Problems by Searching 3.1 Problem-solving Agents  3.1.1 Well-defined Problems and Solutions Problem-solving Agents 69 |  Semantic Scholar"/>
          <p:cNvPicPr>
            <a:picLocks noChangeAspect="1" noChangeArrowheads="1"/>
          </p:cNvPicPr>
          <p:nvPr/>
        </p:nvPicPr>
        <p:blipFill rotWithShape="1">
          <a:blip r:embed="rId2">
            <a:extLst>
              <a:ext uri="{28A0092B-C50C-407E-A947-70E740481C1C}">
                <a14:useLocalDpi xmlns:a14="http://schemas.microsoft.com/office/drawing/2010/main" xmlns="" val="0"/>
              </a:ext>
            </a:extLst>
          </a:blip>
          <a:srcRect l="27701" t="14260" r="23318" b="17426"/>
          <a:stretch/>
        </p:blipFill>
        <p:spPr bwMode="auto">
          <a:xfrm>
            <a:off x="6311839" y="803564"/>
            <a:ext cx="5630779" cy="374072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5280953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109" y="290945"/>
            <a:ext cx="11651673" cy="6373092"/>
          </a:xfrm>
        </p:spPr>
        <p:txBody>
          <a:bodyPr>
            <a:normAutofit fontScale="92500" lnSpcReduction="20000"/>
          </a:bodyPr>
          <a:lstStyle/>
          <a:p>
            <a:pPr marL="0" indent="0" algn="just">
              <a:lnSpc>
                <a:spcPct val="100000"/>
              </a:lnSpc>
              <a:buNone/>
            </a:pPr>
            <a:r>
              <a:rPr lang="en-US" sz="2600" dirty="0">
                <a:solidFill>
                  <a:srgbClr val="00B050"/>
                </a:solidFill>
                <a:latin typeface="Times New Roman" pitchFamily="18" charset="0"/>
                <a:ea typeface="Microsoft Sans Serif" panose="020B0604020202020204" pitchFamily="34" charset="0"/>
                <a:cs typeface="Times New Roman" pitchFamily="18" charset="0"/>
              </a:rPr>
              <a:t>Depth-first search </a:t>
            </a:r>
            <a:endParaRPr lang="en-US" sz="2600" dirty="0" smtClean="0">
              <a:solidFill>
                <a:srgbClr val="00B050"/>
              </a:solidFill>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Depth-first </a:t>
            </a:r>
            <a:r>
              <a:rPr lang="en-US" sz="2200" dirty="0">
                <a:latin typeface="Times New Roman" pitchFamily="18" charset="0"/>
                <a:ea typeface="Microsoft Sans Serif" panose="020B0604020202020204" pitchFamily="34" charset="0"/>
                <a:cs typeface="Times New Roman" pitchFamily="18" charset="0"/>
              </a:rPr>
              <a:t>search always expands the deepest node in the current frontier of the search tree.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search proceeds immediately to the deepest level of the search tree, where the nodes have no successors.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As </a:t>
            </a:r>
            <a:r>
              <a:rPr lang="en-US" sz="2200" dirty="0">
                <a:latin typeface="Times New Roman" pitchFamily="18" charset="0"/>
                <a:ea typeface="Microsoft Sans Serif" panose="020B0604020202020204" pitchFamily="34" charset="0"/>
                <a:cs typeface="Times New Roman" pitchFamily="18" charset="0"/>
              </a:rPr>
              <a:t>those nodes are expanded, they are dropped from the frontier, so then the search “backs up” to the next deepest node that still has unexplored successors.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breadth-first-search </a:t>
            </a:r>
            <a:r>
              <a:rPr lang="en-US" sz="2200" dirty="0">
                <a:latin typeface="Times New Roman" pitchFamily="18" charset="0"/>
                <a:ea typeface="Microsoft Sans Serif" panose="020B0604020202020204" pitchFamily="34" charset="0"/>
                <a:cs typeface="Times New Roman" pitchFamily="18" charset="0"/>
              </a:rPr>
              <a:t>uses a FIFO queue, depth-first search uses a LIFO queue.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A </a:t>
            </a:r>
            <a:r>
              <a:rPr lang="en-US" sz="2200" dirty="0">
                <a:latin typeface="Times New Roman" pitchFamily="18" charset="0"/>
                <a:ea typeface="Microsoft Sans Serif" panose="020B0604020202020204" pitchFamily="34" charset="0"/>
                <a:cs typeface="Times New Roman" pitchFamily="18" charset="0"/>
              </a:rPr>
              <a:t>LIFO queue means that the most recently generated node is chosen for expansion.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This </a:t>
            </a:r>
            <a:r>
              <a:rPr lang="en-US" sz="2200" dirty="0">
                <a:latin typeface="Times New Roman" pitchFamily="18" charset="0"/>
                <a:ea typeface="Microsoft Sans Serif" panose="020B0604020202020204" pitchFamily="34" charset="0"/>
                <a:cs typeface="Times New Roman" pitchFamily="18" charset="0"/>
              </a:rPr>
              <a:t>must be the deepest unexpanded node because it is one deeper than its parent—which, in turn, was the deepest unexpanded node when it was selected.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properties of depth-first search depend strongly on whether the graph-search or tree-search version is used. </a:t>
            </a:r>
            <a:endParaRPr lang="en-US" sz="2200" dirty="0" smtClean="0">
              <a:latin typeface="Times New Roman" pitchFamily="18" charset="0"/>
              <a:ea typeface="Microsoft Sans Serif" panose="020B0604020202020204" pitchFamily="34" charset="0"/>
              <a:cs typeface="Times New Roman" pitchFamily="18" charset="0"/>
            </a:endParaRPr>
          </a:p>
          <a:p>
            <a:pPr marL="0" indent="0"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graph-search version, which avoids repeated states and </a:t>
            </a:r>
            <a:r>
              <a:rPr lang="en-US" sz="2200" dirty="0" smtClean="0">
                <a:latin typeface="Times New Roman" pitchFamily="18" charset="0"/>
                <a:ea typeface="Microsoft Sans Serif" panose="020B0604020202020204" pitchFamily="34" charset="0"/>
                <a:cs typeface="Times New Roman" pitchFamily="18" charset="0"/>
              </a:rPr>
              <a:t>redundant </a:t>
            </a:r>
            <a:r>
              <a:rPr lang="en-US" sz="2200" dirty="0">
                <a:latin typeface="Times New Roman" pitchFamily="18" charset="0"/>
                <a:ea typeface="Microsoft Sans Serif" panose="020B0604020202020204" pitchFamily="34" charset="0"/>
                <a:cs typeface="Times New Roman" pitchFamily="18" charset="0"/>
              </a:rPr>
              <a:t>paths, is complete in finite state spaces because it will eventually expand every node.</a:t>
            </a: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41987530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igure 3.16 from Solving Problems by Searching 3.1 Problem-solving Agents  3.1.1 Well-defined Problems and Solutions Problem-solving Agents 69 |  Semantic Scholar"/>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431321" y="138113"/>
            <a:ext cx="11205713" cy="65817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724891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18655"/>
            <a:ext cx="11416146" cy="6068290"/>
          </a:xfrm>
        </p:spPr>
        <p:txBody>
          <a:bodyPr>
            <a:normAutofit/>
          </a:bodyPr>
          <a:lstStyle/>
          <a:p>
            <a:pPr marL="0" indent="0" algn="just">
              <a:lnSpc>
                <a:spcPct val="100000"/>
              </a:lnSpc>
              <a:buNone/>
            </a:pPr>
            <a:r>
              <a:rPr lang="en-US" sz="2200" b="1" dirty="0">
                <a:latin typeface="Times New Roman" pitchFamily="18" charset="0"/>
                <a:ea typeface="Microsoft Sans Serif" panose="020B0604020202020204" pitchFamily="34" charset="0"/>
                <a:cs typeface="Times New Roman" pitchFamily="18" charset="0"/>
              </a:rPr>
              <a:t>Advantage:</a:t>
            </a:r>
            <a:endParaRPr lang="en-US" sz="2200" dirty="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DFS requires very less memory as it only needs to store a stack of the nodes on the path from root node to the current node.</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It takes less time to reach to the goal node than BFS algorithm (if it traverses in the right path</a:t>
            </a:r>
            <a:r>
              <a:rPr lang="en-US" sz="2200" dirty="0" smtClean="0">
                <a:latin typeface="Times New Roman" pitchFamily="18" charset="0"/>
                <a:ea typeface="Microsoft Sans Serif" panose="020B0604020202020204" pitchFamily="34" charset="0"/>
                <a:cs typeface="Times New Roman" pitchFamily="18" charset="0"/>
              </a:rPr>
              <a:t>).</a:t>
            </a:r>
          </a:p>
          <a:p>
            <a:pPr marL="0" indent="0" algn="just">
              <a:lnSpc>
                <a:spcPct val="150000"/>
              </a:lnSpc>
              <a:buNone/>
            </a:pPr>
            <a:r>
              <a:rPr lang="en-IN" sz="2200" b="1" dirty="0">
                <a:latin typeface="Times New Roman" pitchFamily="18" charset="0"/>
                <a:ea typeface="Microsoft Sans Serif" panose="020B0604020202020204" pitchFamily="34" charset="0"/>
                <a:cs typeface="Times New Roman" pitchFamily="18" charset="0"/>
              </a:rPr>
              <a:t>Disadvantage:</a:t>
            </a:r>
            <a:endParaRPr lang="en-US" sz="2200" dirty="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There </a:t>
            </a:r>
            <a:r>
              <a:rPr lang="en-US" sz="2200" dirty="0">
                <a:latin typeface="Times New Roman" pitchFamily="18" charset="0"/>
                <a:ea typeface="Microsoft Sans Serif" panose="020B0604020202020204" pitchFamily="34" charset="0"/>
                <a:cs typeface="Times New Roman" pitchFamily="18" charset="0"/>
              </a:rPr>
              <a:t>is the possibility that many states keep re-occurring, and there is no guarantee of finding the solution.</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DFS algorithm goes for deep down searching and sometime it may go to the infinite loop.</a:t>
            </a: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28398004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1782" y="526473"/>
            <a:ext cx="11319163" cy="5791200"/>
          </a:xfrm>
        </p:spPr>
        <p:txBody>
          <a:bodyPr/>
          <a:lstStyle/>
          <a:p>
            <a:pPr marL="0" indent="0" algn="just" fontAlgn="base">
              <a:lnSpc>
                <a:spcPct val="100000"/>
              </a:lnSpc>
              <a:buNone/>
            </a:pPr>
            <a:r>
              <a:rPr lang="en-US" sz="2400" dirty="0">
                <a:solidFill>
                  <a:srgbClr val="00B050"/>
                </a:solidFill>
                <a:latin typeface="Times New Roman" pitchFamily="18" charset="0"/>
                <a:ea typeface="Microsoft Sans Serif" panose="020B0604020202020204" pitchFamily="34" charset="0"/>
                <a:cs typeface="Times New Roman" pitchFamily="18" charset="0"/>
              </a:rPr>
              <a:t>Depth-limited search</a:t>
            </a:r>
          </a:p>
          <a:p>
            <a:pPr algn="just" fontAlgn="base">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This search strategy is similar to DFS with a little difference</a:t>
            </a:r>
            <a:r>
              <a:rPr lang="en-US" sz="2200" dirty="0" smtClean="0">
                <a:latin typeface="Times New Roman" pitchFamily="18" charset="0"/>
                <a:ea typeface="Microsoft Sans Serif" panose="020B0604020202020204" pitchFamily="34" charset="0"/>
                <a:cs typeface="Times New Roman" pitchFamily="18" charset="0"/>
              </a:rPr>
              <a:t>.</a:t>
            </a:r>
          </a:p>
          <a:p>
            <a:pPr algn="just" fontAlgn="base">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The difference is that in depth-limited search, we limit the search by imposing a </a:t>
            </a:r>
            <a:r>
              <a:rPr lang="en-US" sz="2200" b="1" dirty="0">
                <a:latin typeface="Times New Roman" pitchFamily="18" charset="0"/>
                <a:ea typeface="Microsoft Sans Serif" panose="020B0604020202020204" pitchFamily="34" charset="0"/>
                <a:cs typeface="Times New Roman" pitchFamily="18" charset="0"/>
              </a:rPr>
              <a:t>depth limit </a:t>
            </a:r>
            <a:r>
              <a:rPr lang="en-US" sz="2200" b="1" i="1" dirty="0">
                <a:latin typeface="Times New Roman" pitchFamily="18" charset="0"/>
                <a:ea typeface="Microsoft Sans Serif" panose="020B0604020202020204" pitchFamily="34" charset="0"/>
                <a:cs typeface="Times New Roman" pitchFamily="18" charset="0"/>
              </a:rPr>
              <a:t>l</a:t>
            </a:r>
            <a:r>
              <a:rPr lang="en-US" sz="2200" dirty="0">
                <a:latin typeface="Times New Roman" pitchFamily="18" charset="0"/>
                <a:ea typeface="Microsoft Sans Serif" panose="020B0604020202020204" pitchFamily="34" charset="0"/>
                <a:cs typeface="Times New Roman" pitchFamily="18" charset="0"/>
              </a:rPr>
              <a:t> to the depth of the search tree. </a:t>
            </a:r>
            <a:endParaRPr lang="en-US" sz="2200" dirty="0" smtClean="0">
              <a:latin typeface="Times New Roman" pitchFamily="18" charset="0"/>
              <a:ea typeface="Microsoft Sans Serif" panose="020B0604020202020204" pitchFamily="34" charset="0"/>
              <a:cs typeface="Times New Roman" pitchFamily="18" charset="0"/>
            </a:endParaRPr>
          </a:p>
          <a:p>
            <a:pPr algn="just" fontAlgn="base">
              <a:lnSpc>
                <a:spcPct val="150000"/>
              </a:lnSpc>
              <a:buFont typeface="Wingdings" pitchFamily="2" charset="2"/>
              <a:buChar char="v"/>
            </a:pPr>
            <a:r>
              <a:rPr lang="en-US" sz="2200" dirty="0" smtClean="0">
                <a:latin typeface="Times New Roman" pitchFamily="18" charset="0"/>
                <a:ea typeface="Microsoft Sans Serif" panose="020B0604020202020204" pitchFamily="34" charset="0"/>
                <a:cs typeface="Times New Roman" pitchFamily="18" charset="0"/>
              </a:rPr>
              <a:t>It </a:t>
            </a:r>
            <a:r>
              <a:rPr lang="en-US" sz="2200" dirty="0">
                <a:latin typeface="Times New Roman" pitchFamily="18" charset="0"/>
                <a:ea typeface="Microsoft Sans Serif" panose="020B0604020202020204" pitchFamily="34" charset="0"/>
                <a:cs typeface="Times New Roman" pitchFamily="18" charset="0"/>
              </a:rPr>
              <a:t>does not need to explore till infinity. As a result, the </a:t>
            </a:r>
            <a:r>
              <a:rPr lang="en-US" sz="2200" b="1" dirty="0">
                <a:latin typeface="Times New Roman" pitchFamily="18" charset="0"/>
                <a:ea typeface="Microsoft Sans Serif" panose="020B0604020202020204" pitchFamily="34" charset="0"/>
                <a:cs typeface="Times New Roman" pitchFamily="18" charset="0"/>
              </a:rPr>
              <a:t>depth-first search is a special case of depth-limited search.</a:t>
            </a:r>
            <a:r>
              <a:rPr lang="en-US" sz="2200" dirty="0">
                <a:latin typeface="Times New Roman" pitchFamily="18" charset="0"/>
                <a:ea typeface="Microsoft Sans Serif" panose="020B0604020202020204" pitchFamily="34" charset="0"/>
                <a:cs typeface="Times New Roman" pitchFamily="18" charset="0"/>
              </a:rPr>
              <a:t> when the limit l is infinite</a:t>
            </a:r>
            <a:r>
              <a:rPr lang="en-US" sz="2200" dirty="0" smtClean="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Depth-limited search can be halted in two cases:</a:t>
            </a:r>
          </a:p>
          <a:p>
            <a:pPr lvl="1" algn="just">
              <a:lnSpc>
                <a:spcPct val="150000"/>
              </a:lnSpc>
              <a:buFont typeface="Wingdings" pitchFamily="2" charset="2"/>
              <a:buChar char="Ø"/>
            </a:pPr>
            <a:r>
              <a:rPr lang="en-US" sz="2200" b="1" dirty="0">
                <a:latin typeface="Times New Roman" pitchFamily="18" charset="0"/>
                <a:ea typeface="Microsoft Sans Serif" panose="020B0604020202020204" pitchFamily="34" charset="0"/>
                <a:cs typeface="Times New Roman" pitchFamily="18" charset="0"/>
              </a:rPr>
              <a:t>SFV:</a:t>
            </a:r>
            <a:r>
              <a:rPr lang="en-US" sz="2200" dirty="0">
                <a:latin typeface="Times New Roman" pitchFamily="18" charset="0"/>
                <a:ea typeface="Microsoft Sans Serif" panose="020B0604020202020204" pitchFamily="34" charset="0"/>
                <a:cs typeface="Times New Roman" pitchFamily="18" charset="0"/>
              </a:rPr>
              <a:t> The Standard </a:t>
            </a:r>
            <a:r>
              <a:rPr lang="en-US" sz="2200" dirty="0" smtClean="0">
                <a:latin typeface="Times New Roman" pitchFamily="18" charset="0"/>
                <a:ea typeface="Microsoft Sans Serif" panose="020B0604020202020204" pitchFamily="34" charset="0"/>
                <a:cs typeface="Times New Roman" pitchFamily="18" charset="0"/>
              </a:rPr>
              <a:t>Failure </a:t>
            </a:r>
            <a:r>
              <a:rPr lang="en-US" sz="2200" dirty="0">
                <a:latin typeface="Times New Roman" pitchFamily="18" charset="0"/>
                <a:ea typeface="Microsoft Sans Serif" panose="020B0604020202020204" pitchFamily="34" charset="0"/>
                <a:cs typeface="Times New Roman" pitchFamily="18" charset="0"/>
              </a:rPr>
              <a:t>V</a:t>
            </a:r>
            <a:r>
              <a:rPr lang="en-US" sz="2200" dirty="0" smtClean="0">
                <a:latin typeface="Times New Roman" pitchFamily="18" charset="0"/>
                <a:ea typeface="Microsoft Sans Serif" panose="020B0604020202020204" pitchFamily="34" charset="0"/>
                <a:cs typeface="Times New Roman" pitchFamily="18" charset="0"/>
              </a:rPr>
              <a:t>alue </a:t>
            </a:r>
            <a:r>
              <a:rPr lang="en-US" sz="2200" dirty="0">
                <a:latin typeface="Times New Roman" pitchFamily="18" charset="0"/>
                <a:ea typeface="Microsoft Sans Serif" panose="020B0604020202020204" pitchFamily="34" charset="0"/>
                <a:cs typeface="Times New Roman" pitchFamily="18" charset="0"/>
              </a:rPr>
              <a:t>which tells that there is no solution to the problem.</a:t>
            </a:r>
          </a:p>
          <a:p>
            <a:pPr lvl="1" algn="just">
              <a:lnSpc>
                <a:spcPct val="150000"/>
              </a:lnSpc>
              <a:buFont typeface="Wingdings" pitchFamily="2" charset="2"/>
              <a:buChar char="Ø"/>
            </a:pPr>
            <a:r>
              <a:rPr lang="en-US" sz="2200" b="1" dirty="0">
                <a:latin typeface="Times New Roman" pitchFamily="18" charset="0"/>
                <a:ea typeface="Microsoft Sans Serif" panose="020B0604020202020204" pitchFamily="34" charset="0"/>
                <a:cs typeface="Times New Roman" pitchFamily="18" charset="0"/>
              </a:rPr>
              <a:t>CFV:</a:t>
            </a:r>
            <a:r>
              <a:rPr lang="en-US" sz="2200" dirty="0">
                <a:latin typeface="Times New Roman" pitchFamily="18" charset="0"/>
                <a:ea typeface="Microsoft Sans Serif" panose="020B0604020202020204" pitchFamily="34" charset="0"/>
                <a:cs typeface="Times New Roman" pitchFamily="18" charset="0"/>
              </a:rPr>
              <a:t> The Cutoff </a:t>
            </a:r>
            <a:r>
              <a:rPr lang="en-US" sz="2200" dirty="0" smtClean="0">
                <a:latin typeface="Times New Roman" pitchFamily="18" charset="0"/>
                <a:ea typeface="Microsoft Sans Serif" panose="020B0604020202020204" pitchFamily="34" charset="0"/>
                <a:cs typeface="Times New Roman" pitchFamily="18" charset="0"/>
              </a:rPr>
              <a:t>Failure </a:t>
            </a:r>
            <a:r>
              <a:rPr lang="en-US" sz="2200" dirty="0">
                <a:latin typeface="Times New Roman" pitchFamily="18" charset="0"/>
                <a:ea typeface="Microsoft Sans Serif" panose="020B0604020202020204" pitchFamily="34" charset="0"/>
                <a:cs typeface="Times New Roman" pitchFamily="18" charset="0"/>
              </a:rPr>
              <a:t>V</a:t>
            </a:r>
            <a:r>
              <a:rPr lang="en-US" sz="2200" dirty="0" smtClean="0">
                <a:latin typeface="Times New Roman" pitchFamily="18" charset="0"/>
                <a:ea typeface="Microsoft Sans Serif" panose="020B0604020202020204" pitchFamily="34" charset="0"/>
                <a:cs typeface="Times New Roman" pitchFamily="18" charset="0"/>
              </a:rPr>
              <a:t>alue </a:t>
            </a:r>
            <a:r>
              <a:rPr lang="en-US" sz="2200" dirty="0">
                <a:latin typeface="Times New Roman" pitchFamily="18" charset="0"/>
                <a:ea typeface="Microsoft Sans Serif" panose="020B0604020202020204" pitchFamily="34" charset="0"/>
                <a:cs typeface="Times New Roman" pitchFamily="18" charset="0"/>
              </a:rPr>
              <a:t>tells that there is no solution within the given depth.</a:t>
            </a:r>
          </a:p>
          <a:p>
            <a:pPr algn="just" fontAlgn="base">
              <a:lnSpc>
                <a:spcPct val="100000"/>
              </a:lnSpc>
            </a:pPr>
            <a:endParaRPr lang="en-US" sz="2200" dirty="0">
              <a:latin typeface="Times New Roman" pitchFamily="18" charset="0"/>
              <a:ea typeface="Microsoft Sans Serif" panose="020B0604020202020204" pitchFamily="34" charset="0"/>
              <a:cs typeface="Times New Roman" pitchFamily="18" charset="0"/>
            </a:endParaRPr>
          </a:p>
          <a:p>
            <a:pPr marL="0" indent="0">
              <a:buNone/>
            </a:pPr>
            <a:endParaRPr lang="en-IN" dirty="0"/>
          </a:p>
        </p:txBody>
      </p:sp>
    </p:spTree>
    <p:extLst>
      <p:ext uri="{BB962C8B-B14F-4D97-AF65-F5344CB8AC3E}">
        <p14:creationId xmlns:p14="http://schemas.microsoft.com/office/powerpoint/2010/main" xmlns="" val="272797143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Use Depth limited search algorithm to | Chegg.co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84909" y="221673"/>
            <a:ext cx="11374582" cy="663632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082318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4909" y="134847"/>
            <a:ext cx="10764982" cy="6556240"/>
          </a:xfrm>
        </p:spPr>
        <p:txBody>
          <a:bodyPr>
            <a:normAutofit/>
          </a:bodyPr>
          <a:lstStyle/>
          <a:p>
            <a:pPr marL="0" indent="0" algn="just">
              <a:lnSpc>
                <a:spcPct val="100000"/>
              </a:lnSpc>
              <a:buNone/>
            </a:pPr>
            <a:endParaRPr lang="en-US" sz="2200" b="1"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r>
              <a:rPr lang="en-US" sz="2200" b="1" dirty="0" smtClean="0">
                <a:latin typeface="Times New Roman" pitchFamily="18" charset="0"/>
                <a:ea typeface="Microsoft Sans Serif" panose="020B0604020202020204" pitchFamily="34" charset="0"/>
                <a:cs typeface="Times New Roman" pitchFamily="18" charset="0"/>
              </a:rPr>
              <a:t>Advantages</a:t>
            </a:r>
            <a:r>
              <a:rPr lang="en-US" sz="2200" b="1" dirty="0">
                <a:latin typeface="Times New Roman" pitchFamily="18" charset="0"/>
                <a:ea typeface="Microsoft Sans Serif" panose="020B0604020202020204" pitchFamily="34" charset="0"/>
                <a:cs typeface="Times New Roman" pitchFamily="18" charset="0"/>
              </a:rPr>
              <a:t>:</a:t>
            </a:r>
            <a:endParaRPr lang="en-US" sz="2200" dirty="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Depth-limited search is Memory efficient.</a:t>
            </a:r>
          </a:p>
          <a:p>
            <a:pPr marL="0" indent="0" algn="just">
              <a:lnSpc>
                <a:spcPct val="100000"/>
              </a:lnSpc>
              <a:buNone/>
            </a:pPr>
            <a:r>
              <a:rPr lang="en-US" sz="2200" b="1" dirty="0">
                <a:latin typeface="Times New Roman" pitchFamily="18" charset="0"/>
                <a:ea typeface="Microsoft Sans Serif" panose="020B0604020202020204" pitchFamily="34" charset="0"/>
                <a:cs typeface="Times New Roman" pitchFamily="18" charset="0"/>
              </a:rPr>
              <a:t>Disadvantages:</a:t>
            </a:r>
            <a:endParaRPr lang="en-US" sz="2200" dirty="0">
              <a:latin typeface="Times New Roman" pitchFamily="18" charset="0"/>
              <a:ea typeface="Microsoft Sans Serif" panose="020B0604020202020204" pitchFamily="34" charset="0"/>
              <a:cs typeface="Times New Roman" pitchFamily="18" charset="0"/>
            </a:endParaRPr>
          </a:p>
          <a:p>
            <a:pPr algn="just">
              <a:lnSpc>
                <a:spcPct val="10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Depth-limited search also has a disadvantage of incompleteness.</a:t>
            </a:r>
          </a:p>
          <a:p>
            <a:pPr algn="just">
              <a:lnSpc>
                <a:spcPct val="100000"/>
              </a:lnSpc>
              <a:buFont typeface="Wingdings" pitchFamily="2" charset="2"/>
              <a:buChar char="v"/>
            </a:pPr>
            <a:r>
              <a:rPr lang="en-US" sz="2200" dirty="0">
                <a:latin typeface="Times New Roman" pitchFamily="18" charset="0"/>
                <a:ea typeface="Microsoft Sans Serif" panose="020B0604020202020204" pitchFamily="34" charset="0"/>
                <a:cs typeface="Times New Roman" pitchFamily="18" charset="0"/>
              </a:rPr>
              <a:t>It may not be optimal if the problem has more than one solution.</a:t>
            </a:r>
          </a:p>
          <a:p>
            <a:pPr marL="0" indent="0" algn="just">
              <a:lnSpc>
                <a:spcPct val="100000"/>
              </a:lnSpc>
              <a:buFont typeface="Wingdings" pitchFamily="2" charset="2"/>
              <a:buChar char="v"/>
            </a:pPr>
            <a:endParaRPr lang="en-IN" sz="2200" dirty="0">
              <a:latin typeface="Times New Roman" pitchFamily="18" charset="0"/>
              <a:ea typeface="Microsoft Sans Serif" panose="020B0604020202020204" pitchFamily="34" charset="0"/>
              <a:cs typeface="Times New Roman" pitchFamily="18" charset="0"/>
            </a:endParaRPr>
          </a:p>
        </p:txBody>
      </p:sp>
      <p:pic>
        <p:nvPicPr>
          <p:cNvPr id="4" name="Picture 2" descr="Uninformed Search Algorithms"/>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819889" y="193965"/>
            <a:ext cx="6007929" cy="423135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13950509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32510" y="249382"/>
            <a:ext cx="11637818" cy="6608618"/>
          </a:xfrm>
        </p:spPr>
        <p:txBody>
          <a:bodyPr>
            <a:normAutofit fontScale="77500" lnSpcReduction="20000"/>
          </a:bodyPr>
          <a:lstStyle/>
          <a:p>
            <a:pPr marL="0" indent="0" algn="just" fontAlgn="base">
              <a:lnSpc>
                <a:spcPct val="100000"/>
              </a:lnSpc>
              <a:buNone/>
            </a:pPr>
            <a:r>
              <a:rPr lang="en-US" sz="3100" dirty="0" smtClean="0">
                <a:solidFill>
                  <a:srgbClr val="00B050"/>
                </a:solidFill>
                <a:latin typeface="Times New Roman" pitchFamily="18" charset="0"/>
                <a:ea typeface="Microsoft Sans Serif" panose="020B0604020202020204" pitchFamily="34" charset="0"/>
                <a:cs typeface="Times New Roman" pitchFamily="18" charset="0"/>
              </a:rPr>
              <a:t>Iterative Deepening Depth-first Search</a:t>
            </a:r>
          </a:p>
          <a:p>
            <a:pPr algn="just" fontAlgn="base">
              <a:lnSpc>
                <a:spcPct val="170000"/>
              </a:lnSpc>
              <a:buFont typeface="Wingdings" pitchFamily="2" charset="2"/>
              <a:buChar char="v"/>
            </a:pPr>
            <a:r>
              <a:rPr lang="en-US" sz="2600" dirty="0" smtClean="0">
                <a:latin typeface="Times New Roman" pitchFamily="18" charset="0"/>
                <a:ea typeface="Microsoft Sans Serif" panose="020B0604020202020204" pitchFamily="34" charset="0"/>
                <a:cs typeface="Times New Roman" pitchFamily="18" charset="0"/>
              </a:rPr>
              <a:t>A </a:t>
            </a:r>
            <a:r>
              <a:rPr lang="en-US" sz="2600" dirty="0">
                <a:latin typeface="Times New Roman" pitchFamily="18" charset="0"/>
                <a:ea typeface="Microsoft Sans Serif" panose="020B0604020202020204" pitchFamily="34" charset="0"/>
                <a:cs typeface="Times New Roman" pitchFamily="18" charset="0"/>
              </a:rPr>
              <a:t>combination of DFS and BFS algorithms, </a:t>
            </a:r>
            <a:r>
              <a:rPr lang="en-US" sz="2600" b="1" dirty="0">
                <a:latin typeface="Times New Roman" pitchFamily="18" charset="0"/>
                <a:ea typeface="Microsoft Sans Serif" panose="020B0604020202020204" pitchFamily="34" charset="0"/>
                <a:cs typeface="Times New Roman" pitchFamily="18" charset="0"/>
              </a:rPr>
              <a:t>Iterative Deepening Depth-First Search</a:t>
            </a:r>
            <a:r>
              <a:rPr lang="en-US" sz="2600" dirty="0">
                <a:latin typeface="Times New Roman" pitchFamily="18" charset="0"/>
                <a:ea typeface="Microsoft Sans Serif" panose="020B0604020202020204" pitchFamily="34" charset="0"/>
                <a:cs typeface="Times New Roman" pitchFamily="18" charset="0"/>
              </a:rPr>
              <a:t> identifies the best depth limit, by gradually increasing the limit until the goal is achieved. </a:t>
            </a:r>
            <a:endParaRPr lang="en-US" sz="2600" dirty="0" smtClean="0">
              <a:latin typeface="Times New Roman" pitchFamily="18" charset="0"/>
              <a:ea typeface="Microsoft Sans Serif" panose="020B0604020202020204" pitchFamily="34" charset="0"/>
              <a:cs typeface="Times New Roman" pitchFamily="18" charset="0"/>
            </a:endParaRPr>
          </a:p>
          <a:p>
            <a:pPr algn="just" fontAlgn="base">
              <a:lnSpc>
                <a:spcPct val="170000"/>
              </a:lnSpc>
              <a:buFont typeface="Wingdings" pitchFamily="2" charset="2"/>
              <a:buChar char="v"/>
            </a:pPr>
            <a:r>
              <a:rPr lang="en-US" sz="2600" dirty="0">
                <a:latin typeface="Times New Roman" pitchFamily="18" charset="0"/>
                <a:ea typeface="Microsoft Sans Serif" panose="020B0604020202020204" pitchFamily="34" charset="0"/>
                <a:cs typeface="Times New Roman" pitchFamily="18" charset="0"/>
              </a:rPr>
              <a:t>Iterative deepening search (or iterative deepening depth-first search) is a general strategy, ITERATIVE DEEPENING SEARCH often used in combination with depth-first tree search, that finds the best depth limit. </a:t>
            </a:r>
            <a:endParaRPr lang="en-US" sz="2600" dirty="0" smtClean="0">
              <a:latin typeface="Times New Roman" pitchFamily="18" charset="0"/>
              <a:ea typeface="Microsoft Sans Serif" panose="020B0604020202020204" pitchFamily="34" charset="0"/>
              <a:cs typeface="Times New Roman" pitchFamily="18" charset="0"/>
            </a:endParaRPr>
          </a:p>
          <a:p>
            <a:pPr algn="just" fontAlgn="base">
              <a:lnSpc>
                <a:spcPct val="170000"/>
              </a:lnSpc>
              <a:buFont typeface="Wingdings" pitchFamily="2" charset="2"/>
              <a:buChar char="v"/>
            </a:pPr>
            <a:r>
              <a:rPr lang="en-US" sz="2600" dirty="0" smtClean="0">
                <a:latin typeface="Times New Roman" pitchFamily="18" charset="0"/>
                <a:ea typeface="Microsoft Sans Serif" panose="020B0604020202020204" pitchFamily="34" charset="0"/>
                <a:cs typeface="Times New Roman" pitchFamily="18" charset="0"/>
              </a:rPr>
              <a:t>It </a:t>
            </a:r>
            <a:r>
              <a:rPr lang="en-US" sz="2600" dirty="0">
                <a:latin typeface="Times New Roman" pitchFamily="18" charset="0"/>
                <a:ea typeface="Microsoft Sans Serif" panose="020B0604020202020204" pitchFamily="34" charset="0"/>
                <a:cs typeface="Times New Roman" pitchFamily="18" charset="0"/>
              </a:rPr>
              <a:t>does this by gradually increasing the limit—first 0, then 1, then 2, and so on—until a goal is found. </a:t>
            </a:r>
            <a:endParaRPr lang="en-US" sz="2600" dirty="0" smtClean="0">
              <a:latin typeface="Times New Roman" pitchFamily="18" charset="0"/>
              <a:ea typeface="Microsoft Sans Serif" panose="020B0604020202020204" pitchFamily="34" charset="0"/>
              <a:cs typeface="Times New Roman" pitchFamily="18" charset="0"/>
            </a:endParaRPr>
          </a:p>
          <a:p>
            <a:pPr algn="just" fontAlgn="base">
              <a:lnSpc>
                <a:spcPct val="170000"/>
              </a:lnSpc>
              <a:buFont typeface="Wingdings" pitchFamily="2" charset="2"/>
              <a:buChar char="v"/>
            </a:pPr>
            <a:r>
              <a:rPr lang="en-US" sz="2600" dirty="0" smtClean="0">
                <a:latin typeface="Times New Roman" pitchFamily="18" charset="0"/>
                <a:ea typeface="Microsoft Sans Serif" panose="020B0604020202020204" pitchFamily="34" charset="0"/>
                <a:cs typeface="Times New Roman" pitchFamily="18" charset="0"/>
              </a:rPr>
              <a:t>This </a:t>
            </a:r>
            <a:r>
              <a:rPr lang="en-US" sz="2600" dirty="0">
                <a:latin typeface="Times New Roman" pitchFamily="18" charset="0"/>
                <a:ea typeface="Microsoft Sans Serif" panose="020B0604020202020204" pitchFamily="34" charset="0"/>
                <a:cs typeface="Times New Roman" pitchFamily="18" charset="0"/>
              </a:rPr>
              <a:t>will occur when the depth limit reaches d, the depth of the shallowest goal node. </a:t>
            </a:r>
            <a:endParaRPr lang="en-US" sz="2600" dirty="0" smtClean="0">
              <a:latin typeface="Times New Roman" pitchFamily="18" charset="0"/>
              <a:ea typeface="Microsoft Sans Serif" panose="020B0604020202020204" pitchFamily="34" charset="0"/>
              <a:cs typeface="Times New Roman" pitchFamily="18" charset="0"/>
            </a:endParaRPr>
          </a:p>
          <a:p>
            <a:pPr algn="just" fontAlgn="base">
              <a:lnSpc>
                <a:spcPct val="170000"/>
              </a:lnSpc>
              <a:buFont typeface="Wingdings" pitchFamily="2" charset="2"/>
              <a:buChar char="v"/>
            </a:pPr>
            <a:r>
              <a:rPr lang="en-US" sz="2600" dirty="0" smtClean="0">
                <a:latin typeface="Times New Roman" pitchFamily="18" charset="0"/>
                <a:ea typeface="Microsoft Sans Serif" panose="020B0604020202020204" pitchFamily="34" charset="0"/>
                <a:cs typeface="Times New Roman" pitchFamily="18" charset="0"/>
              </a:rPr>
              <a:t>This </a:t>
            </a:r>
            <a:r>
              <a:rPr lang="en-US" sz="2600" dirty="0">
                <a:latin typeface="Times New Roman" pitchFamily="18" charset="0"/>
                <a:ea typeface="Microsoft Sans Serif" panose="020B0604020202020204" pitchFamily="34" charset="0"/>
                <a:cs typeface="Times New Roman" pitchFamily="18" charset="0"/>
              </a:rPr>
              <a:t>searching strategy is extremely beneficial, as it combines the benefits of both Breadth-First Search and Depth-First Search. </a:t>
            </a:r>
            <a:endParaRPr lang="en-US" sz="2600" dirty="0" smtClean="0">
              <a:latin typeface="Times New Roman" pitchFamily="18" charset="0"/>
              <a:ea typeface="Microsoft Sans Serif" panose="020B0604020202020204" pitchFamily="34" charset="0"/>
              <a:cs typeface="Times New Roman" pitchFamily="18" charset="0"/>
            </a:endParaRPr>
          </a:p>
          <a:p>
            <a:pPr algn="just" fontAlgn="base">
              <a:lnSpc>
                <a:spcPct val="170000"/>
              </a:lnSpc>
              <a:buFont typeface="Wingdings" pitchFamily="2" charset="2"/>
              <a:buChar char="v"/>
            </a:pPr>
            <a:r>
              <a:rPr lang="en-US" sz="2600" dirty="0" smtClean="0">
                <a:latin typeface="Times New Roman" pitchFamily="18" charset="0"/>
                <a:ea typeface="Microsoft Sans Serif" panose="020B0604020202020204" pitchFamily="34" charset="0"/>
                <a:cs typeface="Times New Roman" pitchFamily="18" charset="0"/>
              </a:rPr>
              <a:t>The </a:t>
            </a:r>
            <a:r>
              <a:rPr lang="en-US" sz="2600" dirty="0">
                <a:latin typeface="Times New Roman" pitchFamily="18" charset="0"/>
                <a:ea typeface="Microsoft Sans Serif" panose="020B0604020202020204" pitchFamily="34" charset="0"/>
                <a:cs typeface="Times New Roman" pitchFamily="18" charset="0"/>
              </a:rPr>
              <a:t>only drawback associated with this method is that it performs the search and work of previous stages</a:t>
            </a:r>
            <a:r>
              <a:rPr lang="en-US" sz="2600" dirty="0" smtClean="0">
                <a:latin typeface="Times New Roman" pitchFamily="18" charset="0"/>
                <a:ea typeface="Microsoft Sans Serif" panose="020B0604020202020204" pitchFamily="34" charset="0"/>
                <a:cs typeface="Times New Roman" pitchFamily="18" charset="0"/>
              </a:rPr>
              <a:t>.</a:t>
            </a:r>
          </a:p>
          <a:p>
            <a:pPr fontAlgn="base">
              <a:lnSpc>
                <a:spcPct val="170000"/>
              </a:lnSpc>
              <a:buFont typeface="Wingdings" pitchFamily="2" charset="2"/>
              <a:buChar char="v"/>
            </a:pPr>
            <a:r>
              <a:rPr lang="en-US" sz="2600" dirty="0">
                <a:latin typeface="Times New Roman" pitchFamily="18" charset="0"/>
                <a:ea typeface="Microsoft Sans Serif" panose="020B0604020202020204" pitchFamily="34" charset="0"/>
                <a:cs typeface="Times New Roman" pitchFamily="18" charset="0"/>
              </a:rPr>
              <a:t>The algorithm is shown in Figure. Iterative deepening combines the benefits of depth-first and breadth-first search. </a:t>
            </a:r>
          </a:p>
          <a:p>
            <a:pPr algn="just" fontAlgn="base">
              <a:lnSpc>
                <a:spcPct val="100000"/>
              </a:lnSpc>
            </a:pP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2701201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1782" y="554182"/>
            <a:ext cx="11360728" cy="6174422"/>
          </a:xfrm>
        </p:spPr>
        <p:txBody>
          <a:bodyPr>
            <a:normAutofit fontScale="77500" lnSpcReduction="20000"/>
          </a:bodyPr>
          <a:lstStyle/>
          <a:p>
            <a:pPr marL="457200" indent="-457200" algn="just" fontAlgn="base">
              <a:lnSpc>
                <a:spcPct val="160000"/>
              </a:lnSpc>
              <a:buFont typeface="Wingdings" pitchFamily="2" charset="2"/>
              <a:buChar char="v"/>
            </a:pPr>
            <a:r>
              <a:rPr lang="en-US" sz="2700" dirty="0" smtClean="0">
                <a:latin typeface="Times New Roman" pitchFamily="18" charset="0"/>
                <a:ea typeface="Microsoft Sans Serif" panose="020B0604020202020204" pitchFamily="34" charset="0"/>
                <a:cs typeface="Times New Roman" pitchFamily="18" charset="0"/>
              </a:rPr>
              <a:t>Like breadth-first search, it is complete when the branching factor is finite and optimal when the path cost is a non decreasing function of the depth of the node. </a:t>
            </a:r>
          </a:p>
          <a:p>
            <a:pPr marL="457200" indent="-457200" algn="just" fontAlgn="base">
              <a:lnSpc>
                <a:spcPct val="160000"/>
              </a:lnSpc>
              <a:buFont typeface="Wingdings" pitchFamily="2" charset="2"/>
              <a:buChar char="v"/>
            </a:pPr>
            <a:r>
              <a:rPr lang="en-US" sz="2700" dirty="0" smtClean="0">
                <a:latin typeface="Times New Roman" pitchFamily="18" charset="0"/>
                <a:ea typeface="Microsoft Sans Serif" panose="020B0604020202020204" pitchFamily="34" charset="0"/>
                <a:cs typeface="Times New Roman" pitchFamily="18" charset="0"/>
              </a:rPr>
              <a:t>Iterative </a:t>
            </a:r>
            <a:r>
              <a:rPr lang="en-US" sz="2700" dirty="0">
                <a:latin typeface="Times New Roman" pitchFamily="18" charset="0"/>
                <a:ea typeface="Microsoft Sans Serif" panose="020B0604020202020204" pitchFamily="34" charset="0"/>
                <a:cs typeface="Times New Roman" pitchFamily="18" charset="0"/>
              </a:rPr>
              <a:t>deepening search may seem wasteful because states are generated multiple times. </a:t>
            </a:r>
            <a:endParaRPr lang="en-US" sz="2700" dirty="0" smtClean="0">
              <a:latin typeface="Times New Roman" pitchFamily="18" charset="0"/>
              <a:ea typeface="Microsoft Sans Serif" panose="020B0604020202020204" pitchFamily="34" charset="0"/>
              <a:cs typeface="Times New Roman" pitchFamily="18" charset="0"/>
            </a:endParaRPr>
          </a:p>
          <a:p>
            <a:pPr marL="457200" indent="-457200" algn="just" fontAlgn="base">
              <a:lnSpc>
                <a:spcPct val="160000"/>
              </a:lnSpc>
              <a:buFont typeface="Wingdings" pitchFamily="2" charset="2"/>
              <a:buChar char="v"/>
            </a:pPr>
            <a:r>
              <a:rPr lang="en-US" sz="2700" dirty="0" smtClean="0">
                <a:latin typeface="Times New Roman" pitchFamily="18" charset="0"/>
                <a:ea typeface="Microsoft Sans Serif" panose="020B0604020202020204" pitchFamily="34" charset="0"/>
                <a:cs typeface="Times New Roman" pitchFamily="18" charset="0"/>
              </a:rPr>
              <a:t>It </a:t>
            </a:r>
            <a:r>
              <a:rPr lang="en-US" sz="2700" dirty="0">
                <a:latin typeface="Times New Roman" pitchFamily="18" charset="0"/>
                <a:ea typeface="Microsoft Sans Serif" panose="020B0604020202020204" pitchFamily="34" charset="0"/>
                <a:cs typeface="Times New Roman" pitchFamily="18" charset="0"/>
              </a:rPr>
              <a:t>turns out this is not too costly. The reason is that in a search tree with the same (or nearly the same) branching factor at each level, most of the nodes are in the bottom level, so it does not matter much that the upper levels are generated multiple times. </a:t>
            </a:r>
            <a:endParaRPr lang="en-US" sz="2700" dirty="0" smtClean="0">
              <a:latin typeface="Times New Roman" pitchFamily="18" charset="0"/>
              <a:ea typeface="Microsoft Sans Serif" panose="020B0604020202020204" pitchFamily="34" charset="0"/>
              <a:cs typeface="Times New Roman" pitchFamily="18" charset="0"/>
            </a:endParaRPr>
          </a:p>
          <a:p>
            <a:pPr marL="457200" indent="-457200" algn="just" fontAlgn="base">
              <a:lnSpc>
                <a:spcPct val="160000"/>
              </a:lnSpc>
              <a:buFont typeface="Wingdings" pitchFamily="2" charset="2"/>
              <a:buChar char="v"/>
            </a:pPr>
            <a:r>
              <a:rPr lang="en-US" sz="2700" dirty="0" smtClean="0">
                <a:latin typeface="Times New Roman" pitchFamily="18" charset="0"/>
                <a:ea typeface="Microsoft Sans Serif" panose="020B0604020202020204" pitchFamily="34" charset="0"/>
                <a:cs typeface="Times New Roman" pitchFamily="18" charset="0"/>
              </a:rPr>
              <a:t>In </a:t>
            </a:r>
            <a:r>
              <a:rPr lang="en-US" sz="2700" dirty="0">
                <a:latin typeface="Times New Roman" pitchFamily="18" charset="0"/>
                <a:ea typeface="Microsoft Sans Serif" panose="020B0604020202020204" pitchFamily="34" charset="0"/>
                <a:cs typeface="Times New Roman" pitchFamily="18" charset="0"/>
              </a:rPr>
              <a:t>an iterative deepening search, the nodes on the bottom level (depth d) are generated once, those on the </a:t>
            </a:r>
            <a:r>
              <a:rPr lang="en-US" sz="2700" dirty="0" smtClean="0">
                <a:latin typeface="Times New Roman" pitchFamily="18" charset="0"/>
                <a:ea typeface="Microsoft Sans Serif" panose="020B0604020202020204" pitchFamily="34" charset="0"/>
                <a:cs typeface="Times New Roman" pitchFamily="18" charset="0"/>
              </a:rPr>
              <a:t>unlike </a:t>
            </a:r>
            <a:r>
              <a:rPr lang="en-US" sz="2700" dirty="0">
                <a:latin typeface="Times New Roman" pitchFamily="18" charset="0"/>
                <a:ea typeface="Microsoft Sans Serif" panose="020B0604020202020204" pitchFamily="34" charset="0"/>
                <a:cs typeface="Times New Roman" pitchFamily="18" charset="0"/>
              </a:rPr>
              <a:t>the other two search algorithms, IDDFS is complete and is used to perform iterations of depth-limited searches while increasing the expected runtime. </a:t>
            </a:r>
            <a:endParaRPr lang="en-US" sz="2700" dirty="0" smtClean="0">
              <a:latin typeface="Times New Roman" pitchFamily="18" charset="0"/>
              <a:ea typeface="Microsoft Sans Serif" panose="020B0604020202020204" pitchFamily="34" charset="0"/>
              <a:cs typeface="Times New Roman" pitchFamily="18" charset="0"/>
            </a:endParaRPr>
          </a:p>
          <a:p>
            <a:pPr marL="457200" indent="-457200" algn="just" fontAlgn="base">
              <a:lnSpc>
                <a:spcPct val="160000"/>
              </a:lnSpc>
              <a:buFont typeface="Wingdings" pitchFamily="2" charset="2"/>
              <a:buChar char="v"/>
            </a:pPr>
            <a:r>
              <a:rPr lang="en-US" sz="2700" dirty="0" smtClean="0">
                <a:latin typeface="Times New Roman" pitchFamily="18" charset="0"/>
                <a:ea typeface="Microsoft Sans Serif" panose="020B0604020202020204" pitchFamily="34" charset="0"/>
                <a:cs typeface="Times New Roman" pitchFamily="18" charset="0"/>
              </a:rPr>
              <a:t>Moreover</a:t>
            </a:r>
            <a:r>
              <a:rPr lang="en-US" sz="2700" dirty="0">
                <a:latin typeface="Times New Roman" pitchFamily="18" charset="0"/>
                <a:ea typeface="Microsoft Sans Serif" panose="020B0604020202020204" pitchFamily="34" charset="0"/>
                <a:cs typeface="Times New Roman" pitchFamily="18" charset="0"/>
              </a:rPr>
              <a:t>, if a solution exists, IDDFS will find a solution path with the fewest arcs</a:t>
            </a:r>
            <a:r>
              <a:rPr lang="en-US" sz="2700" dirty="0" smtClean="0">
                <a:latin typeface="Times New Roman" pitchFamily="18" charset="0"/>
                <a:ea typeface="Microsoft Sans Serif" panose="020B0604020202020204" pitchFamily="34" charset="0"/>
                <a:cs typeface="Times New Roman" pitchFamily="18" charset="0"/>
              </a:rPr>
              <a:t>.</a:t>
            </a:r>
          </a:p>
          <a:p>
            <a:pPr algn="just" fontAlgn="base">
              <a:lnSpc>
                <a:spcPct val="100000"/>
              </a:lnSpc>
            </a:pPr>
            <a:endParaRPr lang="en-US" sz="2200" dirty="0">
              <a:latin typeface="Times New Roman" pitchFamily="18" charset="0"/>
              <a:ea typeface="Microsoft Sans Serif" panose="020B0604020202020204" pitchFamily="34" charset="0"/>
              <a:cs typeface="Times New Roman" pitchFamily="18" charset="0"/>
            </a:endParaRPr>
          </a:p>
          <a:p>
            <a:pPr marL="0" indent="0" algn="just" fontAlgn="base">
              <a:lnSpc>
                <a:spcPct val="100000"/>
              </a:lnSpc>
              <a:buNone/>
            </a:pPr>
            <a:r>
              <a:rPr lang="en-US" sz="2200" dirty="0">
                <a:latin typeface="Times New Roman" pitchFamily="18" charset="0"/>
                <a:ea typeface="Microsoft Sans Serif" panose="020B0604020202020204" pitchFamily="34" charset="0"/>
                <a:cs typeface="Times New Roman" pitchFamily="18" charset="0"/>
              </a:rPr>
              <a:t/>
            </a:r>
            <a:br>
              <a:rPr lang="en-US" sz="2200" dirty="0">
                <a:latin typeface="Times New Roman" pitchFamily="18" charset="0"/>
                <a:ea typeface="Microsoft Sans Serif" panose="020B0604020202020204" pitchFamily="34" charset="0"/>
                <a:cs typeface="Times New Roman" pitchFamily="18" charset="0"/>
              </a:rPr>
            </a:br>
            <a:endParaRPr lang="en-IN"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18080833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Figure 3.19 from Solving Problems by Searching 3.1 Problem-solving Agents  3.1.1 Well-defined Problems and Solutions Problem-solving Agents 69 |  Semantic Scholar"/>
          <p:cNvPicPr>
            <a:picLocks noGrp="1" noChangeAspect="1" noChangeArrowheads="1"/>
          </p:cNvPicPr>
          <p:nvPr>
            <p:ph idx="1"/>
          </p:nvPr>
        </p:nvPicPr>
        <p:blipFill>
          <a:blip r:embed="rId2">
            <a:extLst>
              <a:ext uri="{28A0092B-C50C-407E-A947-70E740481C1C}">
                <a14:useLocalDpi xmlns:a14="http://schemas.microsoft.com/office/drawing/2010/main" xmlns="" val="0"/>
              </a:ext>
            </a:extLst>
          </a:blip>
          <a:srcRect/>
          <a:stretch>
            <a:fillRect/>
          </a:stretch>
        </p:blipFill>
        <p:spPr bwMode="auto">
          <a:xfrm>
            <a:off x="465364" y="276225"/>
            <a:ext cx="11560629" cy="6581775"/>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31729188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Figure 3.18 from Solving Problems by Searching 3.1 Problem-solving Agents  3.1.1 Well-defined Problems and Solutions Problem-solving Agents 69 |  Semantic Schola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87927" y="263237"/>
            <a:ext cx="11551030" cy="347749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Rectangle 2"/>
          <p:cNvSpPr/>
          <p:nvPr/>
        </p:nvSpPr>
        <p:spPr>
          <a:xfrm>
            <a:off x="623455" y="3990109"/>
            <a:ext cx="10986654" cy="2400657"/>
          </a:xfrm>
          <a:prstGeom prst="rect">
            <a:avLst/>
          </a:prstGeom>
        </p:spPr>
        <p:txBody>
          <a:bodyPr wrap="square">
            <a:spAutoFit/>
          </a:bodyPr>
          <a:lstStyle/>
          <a:p>
            <a:pPr algn="just">
              <a:lnSpc>
                <a:spcPct val="150000"/>
              </a:lnSpc>
            </a:pPr>
            <a:r>
              <a:rPr lang="en-US" sz="2000" b="1" dirty="0" smtClean="0">
                <a:latin typeface="Times New Roman" pitchFamily="18" charset="0"/>
                <a:ea typeface="Microsoft Sans Serif" panose="020B0604020202020204" pitchFamily="34" charset="0"/>
                <a:cs typeface="Times New Roman" pitchFamily="18" charset="0"/>
              </a:rPr>
              <a:t>Advantages:</a:t>
            </a:r>
            <a:endParaRPr lang="en-US" sz="20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It combines the benefits of BFS and DFS search algorithm in terms of fast search and memory efficiency.</a:t>
            </a:r>
          </a:p>
          <a:p>
            <a:pPr algn="just">
              <a:lnSpc>
                <a:spcPct val="150000"/>
              </a:lnSpc>
            </a:pPr>
            <a:r>
              <a:rPr lang="en-US" sz="2000" b="1" dirty="0" smtClean="0">
                <a:latin typeface="Times New Roman" pitchFamily="18" charset="0"/>
                <a:ea typeface="Microsoft Sans Serif" panose="020B0604020202020204" pitchFamily="34" charset="0"/>
                <a:cs typeface="Times New Roman" pitchFamily="18" charset="0"/>
              </a:rPr>
              <a:t>Disadvantages:</a:t>
            </a:r>
            <a:endParaRPr lang="en-US" sz="20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itchFamily="2" charset="2"/>
              <a:buChar char="v"/>
            </a:pPr>
            <a:r>
              <a:rPr lang="en-US" sz="2000" dirty="0" smtClean="0">
                <a:latin typeface="Times New Roman" pitchFamily="18" charset="0"/>
                <a:ea typeface="Microsoft Sans Serif" panose="020B0604020202020204" pitchFamily="34" charset="0"/>
                <a:cs typeface="Times New Roman" pitchFamily="18" charset="0"/>
              </a:rPr>
              <a:t>The main drawback of IDDFS is that it repeats all the work of the previous phase</a:t>
            </a:r>
            <a:r>
              <a:rPr lang="en-US" dirty="0" smtClean="0">
                <a:latin typeface="Times New Roman" pitchFamily="18" charset="0"/>
                <a:ea typeface="Microsoft Sans Serif" panose="020B0604020202020204" pitchFamily="34" charset="0"/>
                <a:cs typeface="Times New Roman" pitchFamily="18" charset="0"/>
              </a:rPr>
              <a:t>.</a:t>
            </a:r>
          </a:p>
        </p:txBody>
      </p:sp>
    </p:spTree>
    <p:extLst>
      <p:ext uri="{BB962C8B-B14F-4D97-AF65-F5344CB8AC3E}">
        <p14:creationId xmlns:p14="http://schemas.microsoft.com/office/powerpoint/2010/main" xmlns="" val="94076571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6364" y="166254"/>
            <a:ext cx="11513128" cy="6802582"/>
          </a:xfrm>
        </p:spPr>
        <p:txBody>
          <a:bodyPr>
            <a:normAutofit fontScale="55000" lnSpcReduction="20000"/>
          </a:bodyPr>
          <a:lstStyle/>
          <a:p>
            <a:pPr marL="0" indent="0" algn="just">
              <a:lnSpc>
                <a:spcPct val="160000"/>
              </a:lnSpc>
              <a:buNone/>
            </a:pPr>
            <a:r>
              <a:rPr lang="en-US" sz="4400" dirty="0" smtClean="0">
                <a:solidFill>
                  <a:srgbClr val="00B050"/>
                </a:solidFill>
                <a:latin typeface="Times New Roman" pitchFamily="18" charset="0"/>
                <a:ea typeface="Microsoft Sans Serif" panose="020B0604020202020204" pitchFamily="34" charset="0"/>
                <a:cs typeface="Times New Roman" pitchFamily="18" charset="0"/>
              </a:rPr>
              <a:t>Bidirectional Search</a:t>
            </a:r>
          </a:p>
          <a:p>
            <a:pPr marL="0" indent="0" algn="just">
              <a:lnSpc>
                <a:spcPct val="160000"/>
              </a:lnSpc>
              <a:buFont typeface="Wingdings" pitchFamily="2" charset="2"/>
              <a:buChar char="v"/>
            </a:pPr>
            <a:r>
              <a:rPr lang="en-US" sz="3600" dirty="0" smtClean="0">
                <a:latin typeface="Times New Roman" pitchFamily="18" charset="0"/>
                <a:ea typeface="Microsoft Sans Serif" panose="020B0604020202020204" pitchFamily="34" charset="0"/>
                <a:cs typeface="Times New Roman" pitchFamily="18" charset="0"/>
              </a:rPr>
              <a:t>The </a:t>
            </a:r>
            <a:r>
              <a:rPr lang="en-US" sz="3600" dirty="0">
                <a:latin typeface="Times New Roman" pitchFamily="18" charset="0"/>
                <a:ea typeface="Microsoft Sans Serif" panose="020B0604020202020204" pitchFamily="34" charset="0"/>
                <a:cs typeface="Times New Roman" pitchFamily="18" charset="0"/>
              </a:rPr>
              <a:t>idea behind bidirectional search is to run two simultaneous searches—one forward from the initial state and the other backward from the goal—hoping that the two searches meet in the </a:t>
            </a:r>
            <a:r>
              <a:rPr lang="en-US" sz="3600" dirty="0" smtClean="0">
                <a:latin typeface="Times New Roman" pitchFamily="18" charset="0"/>
                <a:ea typeface="Microsoft Sans Serif" panose="020B0604020202020204" pitchFamily="34" charset="0"/>
                <a:cs typeface="Times New Roman" pitchFamily="18" charset="0"/>
              </a:rPr>
              <a:t>middle.</a:t>
            </a:r>
          </a:p>
          <a:p>
            <a:pPr marL="0" indent="0" algn="just">
              <a:lnSpc>
                <a:spcPct val="160000"/>
              </a:lnSpc>
              <a:buFont typeface="Wingdings" pitchFamily="2" charset="2"/>
              <a:buChar char="v"/>
            </a:pPr>
            <a:r>
              <a:rPr lang="en-US" sz="3600" dirty="0" smtClean="0">
                <a:latin typeface="Times New Roman" pitchFamily="18" charset="0"/>
                <a:ea typeface="Microsoft Sans Serif" panose="020B0604020202020204" pitchFamily="34" charset="0"/>
                <a:cs typeface="Times New Roman" pitchFamily="18" charset="0"/>
              </a:rPr>
              <a:t>Bidirectional </a:t>
            </a:r>
            <a:r>
              <a:rPr lang="en-US" sz="3600" dirty="0">
                <a:latin typeface="Times New Roman" pitchFamily="18" charset="0"/>
                <a:ea typeface="Microsoft Sans Serif" panose="020B0604020202020204" pitchFamily="34" charset="0"/>
                <a:cs typeface="Times New Roman" pitchFamily="18" charset="0"/>
              </a:rPr>
              <a:t>search is implemented by replacing the goal test with a check to see whether the frontiers of the two searches intersect; if they do, a solution has been found</a:t>
            </a:r>
            <a:r>
              <a:rPr lang="en-US" sz="3600" dirty="0" smtClean="0">
                <a:latin typeface="Times New Roman" pitchFamily="18" charset="0"/>
                <a:ea typeface="Microsoft Sans Serif" panose="020B0604020202020204" pitchFamily="34" charset="0"/>
                <a:cs typeface="Times New Roman" pitchFamily="18" charset="0"/>
              </a:rPr>
              <a:t>.</a:t>
            </a:r>
          </a:p>
          <a:p>
            <a:pPr marL="0" indent="0" algn="just">
              <a:lnSpc>
                <a:spcPct val="160000"/>
              </a:lnSpc>
              <a:buFont typeface="Wingdings" pitchFamily="2" charset="2"/>
              <a:buChar char="v"/>
            </a:pPr>
            <a:r>
              <a:rPr lang="en-US" sz="3600" dirty="0" smtClean="0">
                <a:latin typeface="Times New Roman" pitchFamily="18" charset="0"/>
                <a:ea typeface="Microsoft Sans Serif" panose="020B0604020202020204" pitchFamily="34" charset="0"/>
                <a:cs typeface="Times New Roman" pitchFamily="18" charset="0"/>
              </a:rPr>
              <a:t> It </a:t>
            </a:r>
            <a:r>
              <a:rPr lang="en-US" sz="3600" dirty="0">
                <a:latin typeface="Times New Roman" pitchFamily="18" charset="0"/>
                <a:ea typeface="Microsoft Sans Serif" panose="020B0604020202020204" pitchFamily="34" charset="0"/>
                <a:cs typeface="Times New Roman" pitchFamily="18" charset="0"/>
              </a:rPr>
              <a:t>is important to realize that the first such solution found may not be optimal, even if the two searches are both breadth-first; some additional search is required to make sure there isn’t another short-cut across the gap</a:t>
            </a:r>
            <a:r>
              <a:rPr lang="en-US" sz="3600" dirty="0" smtClean="0">
                <a:latin typeface="Times New Roman" pitchFamily="18" charset="0"/>
                <a:ea typeface="Microsoft Sans Serif" panose="020B0604020202020204" pitchFamily="34" charset="0"/>
                <a:cs typeface="Times New Roman" pitchFamily="18" charset="0"/>
              </a:rPr>
              <a:t>.</a:t>
            </a:r>
          </a:p>
          <a:p>
            <a:pPr marL="0" indent="0" algn="just">
              <a:lnSpc>
                <a:spcPct val="160000"/>
              </a:lnSpc>
              <a:buFont typeface="Wingdings" pitchFamily="2" charset="2"/>
              <a:buChar char="v"/>
            </a:pPr>
            <a:r>
              <a:rPr lang="en-US" sz="3600" dirty="0" smtClean="0">
                <a:latin typeface="Times New Roman" pitchFamily="18" charset="0"/>
                <a:ea typeface="Microsoft Sans Serif" panose="020B0604020202020204" pitchFamily="34" charset="0"/>
                <a:cs typeface="Times New Roman" pitchFamily="18" charset="0"/>
              </a:rPr>
              <a:t>The </a:t>
            </a:r>
            <a:r>
              <a:rPr lang="en-US" sz="3600" dirty="0">
                <a:latin typeface="Times New Roman" pitchFamily="18" charset="0"/>
                <a:ea typeface="Microsoft Sans Serif" panose="020B0604020202020204" pitchFamily="34" charset="0"/>
                <a:cs typeface="Times New Roman" pitchFamily="18" charset="0"/>
              </a:rPr>
              <a:t>check can be done when each node is generated or selected for expansion and, with a hash table, will take constant time</a:t>
            </a:r>
            <a:r>
              <a:rPr lang="en-US" sz="3600" dirty="0" smtClean="0">
                <a:latin typeface="Times New Roman" pitchFamily="18" charset="0"/>
                <a:ea typeface="Microsoft Sans Serif" panose="020B0604020202020204" pitchFamily="34" charset="0"/>
                <a:cs typeface="Times New Roman" pitchFamily="18" charset="0"/>
              </a:rPr>
              <a:t>.</a:t>
            </a:r>
          </a:p>
          <a:p>
            <a:pPr marL="0" indent="0" algn="just">
              <a:lnSpc>
                <a:spcPct val="160000"/>
              </a:lnSpc>
              <a:buNone/>
            </a:pPr>
            <a:r>
              <a:rPr lang="en-US" sz="3600" b="1" dirty="0">
                <a:latin typeface="Times New Roman" pitchFamily="18" charset="0"/>
                <a:ea typeface="Microsoft Sans Serif" panose="020B0604020202020204" pitchFamily="34" charset="0"/>
                <a:cs typeface="Times New Roman" pitchFamily="18" charset="0"/>
              </a:rPr>
              <a:t>Advantages:				</a:t>
            </a:r>
            <a:r>
              <a:rPr lang="en-US" sz="3600" b="1" dirty="0" smtClean="0">
                <a:latin typeface="Times New Roman" pitchFamily="18" charset="0"/>
                <a:ea typeface="Microsoft Sans Serif" panose="020B0604020202020204" pitchFamily="34" charset="0"/>
                <a:cs typeface="Times New Roman" pitchFamily="18" charset="0"/>
              </a:rPr>
              <a:t>        Disadvantages:</a:t>
            </a:r>
            <a:endParaRPr lang="en-US" sz="3600" dirty="0">
              <a:latin typeface="Times New Roman" pitchFamily="18" charset="0"/>
              <a:ea typeface="Microsoft Sans Serif" panose="020B0604020202020204" pitchFamily="34" charset="0"/>
              <a:cs typeface="Times New Roman" pitchFamily="18" charset="0"/>
            </a:endParaRPr>
          </a:p>
          <a:p>
            <a:pPr marL="0" indent="0" algn="just">
              <a:lnSpc>
                <a:spcPct val="160000"/>
              </a:lnSpc>
              <a:buNone/>
            </a:pPr>
            <a:r>
              <a:rPr lang="en-US" sz="3600" dirty="0" smtClean="0">
                <a:latin typeface="Times New Roman" pitchFamily="18" charset="0"/>
                <a:ea typeface="Microsoft Sans Serif" panose="020B0604020202020204" pitchFamily="34" charset="0"/>
                <a:cs typeface="Times New Roman" pitchFamily="18" charset="0"/>
              </a:rPr>
              <a:t>* Bidirectional </a:t>
            </a:r>
            <a:r>
              <a:rPr lang="en-US" sz="3600" dirty="0">
                <a:latin typeface="Times New Roman" pitchFamily="18" charset="0"/>
                <a:ea typeface="Microsoft Sans Serif" panose="020B0604020202020204" pitchFamily="34" charset="0"/>
                <a:cs typeface="Times New Roman" pitchFamily="18" charset="0"/>
              </a:rPr>
              <a:t>search is fast.		</a:t>
            </a:r>
            <a:r>
              <a:rPr lang="en-US" sz="3600" dirty="0" smtClean="0">
                <a:latin typeface="Times New Roman" pitchFamily="18" charset="0"/>
                <a:ea typeface="Microsoft Sans Serif" panose="020B0604020202020204" pitchFamily="34" charset="0"/>
                <a:cs typeface="Times New Roman" pitchFamily="18" charset="0"/>
              </a:rPr>
              <a:t>         * Implementation </a:t>
            </a:r>
            <a:r>
              <a:rPr lang="en-US" sz="3600" dirty="0">
                <a:latin typeface="Times New Roman" pitchFamily="18" charset="0"/>
                <a:ea typeface="Microsoft Sans Serif" panose="020B0604020202020204" pitchFamily="34" charset="0"/>
                <a:cs typeface="Times New Roman" pitchFamily="18" charset="0"/>
              </a:rPr>
              <a:t>of the bidirectional search tree </a:t>
            </a:r>
            <a:r>
              <a:rPr lang="en-US" sz="3600" dirty="0" smtClean="0">
                <a:latin typeface="Times New Roman" pitchFamily="18" charset="0"/>
                <a:ea typeface="Microsoft Sans Serif" panose="020B0604020202020204" pitchFamily="34" charset="0"/>
                <a:cs typeface="Times New Roman" pitchFamily="18" charset="0"/>
              </a:rPr>
              <a:t>is </a:t>
            </a:r>
            <a:r>
              <a:rPr lang="en-US" sz="3600" dirty="0">
                <a:latin typeface="Times New Roman" pitchFamily="18" charset="0"/>
                <a:ea typeface="Microsoft Sans Serif" panose="020B0604020202020204" pitchFamily="34" charset="0"/>
                <a:cs typeface="Times New Roman" pitchFamily="18" charset="0"/>
              </a:rPr>
              <a:t>difficult</a:t>
            </a:r>
            <a:r>
              <a:rPr lang="en-US" sz="3600" dirty="0" smtClean="0">
                <a:latin typeface="Times New Roman" pitchFamily="18" charset="0"/>
                <a:ea typeface="Microsoft Sans Serif" panose="020B0604020202020204" pitchFamily="34" charset="0"/>
                <a:cs typeface="Times New Roman" pitchFamily="18" charset="0"/>
              </a:rPr>
              <a:t>.</a:t>
            </a:r>
            <a:endParaRPr lang="en-US" sz="3600" dirty="0">
              <a:latin typeface="Times New Roman" pitchFamily="18" charset="0"/>
              <a:ea typeface="Microsoft Sans Serif" panose="020B0604020202020204" pitchFamily="34" charset="0"/>
              <a:cs typeface="Times New Roman" pitchFamily="18" charset="0"/>
            </a:endParaRPr>
          </a:p>
          <a:p>
            <a:pPr marL="0" indent="0" algn="just">
              <a:lnSpc>
                <a:spcPct val="160000"/>
              </a:lnSpc>
              <a:buNone/>
            </a:pPr>
            <a:r>
              <a:rPr lang="en-US" sz="3600" dirty="0" smtClean="0">
                <a:latin typeface="Times New Roman" pitchFamily="18" charset="0"/>
                <a:ea typeface="Microsoft Sans Serif" panose="020B0604020202020204" pitchFamily="34" charset="0"/>
                <a:cs typeface="Times New Roman" pitchFamily="18" charset="0"/>
              </a:rPr>
              <a:t>* Bidirectional </a:t>
            </a:r>
            <a:r>
              <a:rPr lang="en-US" sz="3600" dirty="0">
                <a:latin typeface="Times New Roman" pitchFamily="18" charset="0"/>
                <a:ea typeface="Microsoft Sans Serif" panose="020B0604020202020204" pitchFamily="34" charset="0"/>
                <a:cs typeface="Times New Roman" pitchFamily="18" charset="0"/>
              </a:rPr>
              <a:t>search requires less </a:t>
            </a:r>
            <a:r>
              <a:rPr lang="en-US" sz="3600" dirty="0" smtClean="0">
                <a:latin typeface="Times New Roman" pitchFamily="18" charset="0"/>
                <a:ea typeface="Microsoft Sans Serif" panose="020B0604020202020204" pitchFamily="34" charset="0"/>
                <a:cs typeface="Times New Roman" pitchFamily="18" charset="0"/>
              </a:rPr>
              <a:t>memory                             </a:t>
            </a:r>
            <a:endParaRPr lang="en-US" sz="36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5231838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0" y="4646"/>
            <a:ext cx="12192000" cy="6853354"/>
          </a:xfrm>
          <a:prstGeom prst="rect">
            <a:avLst/>
          </a:prstGeom>
        </p:spPr>
      </p:pic>
      <p:pic>
        <p:nvPicPr>
          <p:cNvPr id="16" name="Picture 15"/>
          <p:cNvPicPr>
            <a:picLocks noChangeAspect="1"/>
          </p:cNvPicPr>
          <p:nvPr/>
        </p:nvPicPr>
        <p:blipFill rotWithShape="1">
          <a:blip r:embed="rId4">
            <a:extLst>
              <a:ext uri="{28A0092B-C50C-407E-A947-70E740481C1C}">
                <a14:useLocalDpi xmlns:a14="http://schemas.microsoft.com/office/drawing/2010/main" xmlns="" val="0"/>
              </a:ext>
            </a:extLst>
          </a:blip>
          <a:srcRect l="9091" r="9228" b="178"/>
          <a:stretch/>
        </p:blipFill>
        <p:spPr>
          <a:xfrm>
            <a:off x="0" y="1"/>
            <a:ext cx="12192000" cy="6858000"/>
          </a:xfrm>
          <a:prstGeom prst="rect">
            <a:avLst/>
          </a:prstGeom>
        </p:spPr>
      </p:pic>
      <p:pic>
        <p:nvPicPr>
          <p:cNvPr id="17" name="Picture 16"/>
          <p:cNvPicPr>
            <a:picLocks noChangeAspect="1"/>
          </p:cNvPicPr>
          <p:nvPr/>
        </p:nvPicPr>
        <p:blipFill rotWithShape="1">
          <a:blip r:embed="rId5">
            <a:extLst>
              <a:ext uri="{28A0092B-C50C-407E-A947-70E740481C1C}">
                <a14:useLocalDpi xmlns:a14="http://schemas.microsoft.com/office/drawing/2010/main" xmlns="" val="0"/>
              </a:ext>
            </a:extLst>
          </a:blip>
          <a:srcRect l="8954" r="8954"/>
          <a:stretch/>
        </p:blipFill>
        <p:spPr>
          <a:xfrm>
            <a:off x="0" y="1"/>
            <a:ext cx="12192000" cy="6857999"/>
          </a:xfrm>
          <a:prstGeom prst="rect">
            <a:avLst/>
          </a:prstGeom>
        </p:spPr>
      </p:pic>
      <p:pic>
        <p:nvPicPr>
          <p:cNvPr id="18" name="Picture 17"/>
          <p:cNvPicPr>
            <a:picLocks noChangeAspect="1"/>
          </p:cNvPicPr>
          <p:nvPr/>
        </p:nvPicPr>
        <p:blipFill rotWithShape="1">
          <a:blip r:embed="rId6">
            <a:extLst>
              <a:ext uri="{28A0092B-C50C-407E-A947-70E740481C1C}">
                <a14:useLocalDpi xmlns:a14="http://schemas.microsoft.com/office/drawing/2010/main" xmlns="" val="0"/>
              </a:ext>
            </a:extLst>
          </a:blip>
          <a:srcRect l="9505" r="8954"/>
          <a:stretch/>
        </p:blipFill>
        <p:spPr>
          <a:xfrm>
            <a:off x="0" y="0"/>
            <a:ext cx="12192000" cy="6858001"/>
          </a:xfrm>
          <a:prstGeom prst="rect">
            <a:avLst/>
          </a:prstGeom>
        </p:spPr>
      </p:pic>
      <p:pic>
        <p:nvPicPr>
          <p:cNvPr id="19" name="Picture 18"/>
          <p:cNvPicPr>
            <a:picLocks noChangeAspect="1"/>
          </p:cNvPicPr>
          <p:nvPr/>
        </p:nvPicPr>
        <p:blipFill rotWithShape="1">
          <a:blip r:embed="rId7">
            <a:extLst>
              <a:ext uri="{28A0092B-C50C-407E-A947-70E740481C1C}">
                <a14:useLocalDpi xmlns:a14="http://schemas.microsoft.com/office/drawing/2010/main" xmlns="" val="0"/>
              </a:ext>
            </a:extLst>
          </a:blip>
          <a:srcRect l="8954" r="8954" b="3646"/>
          <a:stretch/>
        </p:blipFill>
        <p:spPr>
          <a:xfrm>
            <a:off x="-1" y="-1"/>
            <a:ext cx="12192001" cy="6815139"/>
          </a:xfrm>
          <a:prstGeom prst="rect">
            <a:avLst/>
          </a:prstGeom>
        </p:spPr>
      </p:pic>
      <p:pic>
        <p:nvPicPr>
          <p:cNvPr id="20" name="Picture 19"/>
          <p:cNvPicPr>
            <a:picLocks noChangeAspect="1"/>
          </p:cNvPicPr>
          <p:nvPr/>
        </p:nvPicPr>
        <p:blipFill rotWithShape="1">
          <a:blip r:embed="rId8">
            <a:extLst>
              <a:ext uri="{28A0092B-C50C-407E-A947-70E740481C1C}">
                <a14:useLocalDpi xmlns:a14="http://schemas.microsoft.com/office/drawing/2010/main" xmlns="" val="0"/>
              </a:ext>
            </a:extLst>
          </a:blip>
          <a:srcRect l="8816" r="8954"/>
          <a:stretch/>
        </p:blipFill>
        <p:spPr>
          <a:xfrm>
            <a:off x="-2" y="0"/>
            <a:ext cx="12192002" cy="6858000"/>
          </a:xfrm>
          <a:prstGeom prst="rect">
            <a:avLst/>
          </a:prstGeom>
        </p:spPr>
      </p:pic>
      <p:pic>
        <p:nvPicPr>
          <p:cNvPr id="21" name="Picture 20"/>
          <p:cNvPicPr>
            <a:picLocks noChangeAspect="1"/>
          </p:cNvPicPr>
          <p:nvPr/>
        </p:nvPicPr>
        <p:blipFill rotWithShape="1">
          <a:blip r:embed="rId9">
            <a:extLst>
              <a:ext uri="{28A0092B-C50C-407E-A947-70E740481C1C}">
                <a14:useLocalDpi xmlns:a14="http://schemas.microsoft.com/office/drawing/2010/main" xmlns="" val="0"/>
              </a:ext>
            </a:extLst>
          </a:blip>
          <a:srcRect l="9091" r="9366"/>
          <a:stretch/>
        </p:blipFill>
        <p:spPr>
          <a:xfrm>
            <a:off x="0" y="0"/>
            <a:ext cx="12192000" cy="6858000"/>
          </a:xfrm>
          <a:prstGeom prst="rect">
            <a:avLst/>
          </a:prstGeom>
        </p:spPr>
      </p:pic>
      <p:pic>
        <p:nvPicPr>
          <p:cNvPr id="22" name="Picture 21"/>
          <p:cNvPicPr>
            <a:picLocks noChangeAspect="1"/>
          </p:cNvPicPr>
          <p:nvPr/>
        </p:nvPicPr>
        <p:blipFill rotWithShape="1">
          <a:blip r:embed="rId10">
            <a:extLst>
              <a:ext uri="{28A0092B-C50C-407E-A947-70E740481C1C}">
                <a14:useLocalDpi xmlns:a14="http://schemas.microsoft.com/office/drawing/2010/main" xmlns="" val="0"/>
              </a:ext>
            </a:extLst>
          </a:blip>
          <a:srcRect l="9091" r="9780"/>
          <a:stretch/>
        </p:blipFill>
        <p:spPr>
          <a:xfrm>
            <a:off x="0" y="25760"/>
            <a:ext cx="12192000" cy="6789378"/>
          </a:xfrm>
          <a:prstGeom prst="rect">
            <a:avLst/>
          </a:prstGeom>
        </p:spPr>
      </p:pic>
      <p:pic>
        <p:nvPicPr>
          <p:cNvPr id="23" name="Picture 22"/>
          <p:cNvPicPr>
            <a:picLocks noChangeAspect="1"/>
          </p:cNvPicPr>
          <p:nvPr/>
        </p:nvPicPr>
        <p:blipFill rotWithShape="1">
          <a:blip r:embed="rId11">
            <a:extLst>
              <a:ext uri="{28A0092B-C50C-407E-A947-70E740481C1C}">
                <a14:useLocalDpi xmlns:a14="http://schemas.microsoft.com/office/drawing/2010/main" xmlns="" val="0"/>
              </a:ext>
            </a:extLst>
          </a:blip>
          <a:srcRect l="9229" r="9227"/>
          <a:stretch/>
        </p:blipFill>
        <p:spPr>
          <a:xfrm>
            <a:off x="0" y="17857"/>
            <a:ext cx="12192000" cy="6905805"/>
          </a:xfrm>
          <a:prstGeom prst="rect">
            <a:avLst/>
          </a:prstGeom>
        </p:spPr>
      </p:pic>
      <p:pic>
        <p:nvPicPr>
          <p:cNvPr id="24" name="Picture 23"/>
          <p:cNvPicPr>
            <a:picLocks noChangeAspect="1"/>
          </p:cNvPicPr>
          <p:nvPr/>
        </p:nvPicPr>
        <p:blipFill rotWithShape="1">
          <a:blip r:embed="rId12">
            <a:extLst>
              <a:ext uri="{28A0092B-C50C-407E-A947-70E740481C1C}">
                <a14:useLocalDpi xmlns:a14="http://schemas.microsoft.com/office/drawing/2010/main" xmlns="" val="0"/>
              </a:ext>
            </a:extLst>
          </a:blip>
          <a:srcRect l="9642" r="8954"/>
          <a:stretch/>
        </p:blipFill>
        <p:spPr>
          <a:xfrm>
            <a:off x="0" y="-17102"/>
            <a:ext cx="12192000" cy="6917489"/>
          </a:xfrm>
          <a:prstGeom prst="rect">
            <a:avLst/>
          </a:prstGeom>
        </p:spPr>
      </p:pic>
      <p:pic>
        <p:nvPicPr>
          <p:cNvPr id="25" name="Picture 24"/>
          <p:cNvPicPr>
            <a:picLocks noChangeAspect="1"/>
          </p:cNvPicPr>
          <p:nvPr/>
        </p:nvPicPr>
        <p:blipFill rotWithShape="1">
          <a:blip r:embed="rId13">
            <a:extLst>
              <a:ext uri="{28A0092B-C50C-407E-A947-70E740481C1C}">
                <a14:useLocalDpi xmlns:a14="http://schemas.microsoft.com/office/drawing/2010/main" xmlns="" val="0"/>
              </a:ext>
            </a:extLst>
          </a:blip>
          <a:srcRect l="9091" r="9366"/>
          <a:stretch/>
        </p:blipFill>
        <p:spPr>
          <a:xfrm>
            <a:off x="0" y="-56560"/>
            <a:ext cx="12192000" cy="6980222"/>
          </a:xfrm>
          <a:prstGeom prst="rect">
            <a:avLst/>
          </a:prstGeom>
        </p:spPr>
      </p:pic>
    </p:spTree>
    <p:extLst>
      <p:ext uri="{BB962C8B-B14F-4D97-AF65-F5344CB8AC3E}">
        <p14:creationId xmlns:p14="http://schemas.microsoft.com/office/powerpoint/2010/main" xmlns="" val="250066286"/>
      </p:ext>
    </p:extLst>
  </p:cSld>
  <p:clrMapOvr>
    <a:masterClrMapping/>
  </p:clrMapOvr>
  <mc:AlternateContent xmlns:mc="http://schemas.openxmlformats.org/markup-compatibility/2006">
    <mc:Choice xmlns:p14="http://schemas.microsoft.com/office/powerpoint/2010/main" xmlns=""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ppt_x"/>
                                          </p:val>
                                        </p:tav>
                                        <p:tav tm="100000">
                                          <p:val>
                                            <p:strVal val="#ppt_x"/>
                                          </p:val>
                                        </p:tav>
                                      </p:tavLst>
                                    </p:anim>
                                    <p:anim calcmode="lin" valueType="num">
                                      <p:cBhvr additive="base">
                                        <p:cTn id="3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ppt_x"/>
                                          </p:val>
                                        </p:tav>
                                        <p:tav tm="100000">
                                          <p:val>
                                            <p:strVal val="#ppt_x"/>
                                          </p:val>
                                        </p:tav>
                                      </p:tavLst>
                                    </p:anim>
                                    <p:anim calcmode="lin" valueType="num">
                                      <p:cBhvr additive="base">
                                        <p:cTn id="4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anim calcmode="lin" valueType="num">
                                      <p:cBhvr additive="base">
                                        <p:cTn id="49" dur="500" fill="hold"/>
                                        <p:tgtEl>
                                          <p:spTgt spid="22"/>
                                        </p:tgtEl>
                                        <p:attrNameLst>
                                          <p:attrName>ppt_x</p:attrName>
                                        </p:attrNameLst>
                                      </p:cBhvr>
                                      <p:tavLst>
                                        <p:tav tm="0">
                                          <p:val>
                                            <p:strVal val="#ppt_x"/>
                                          </p:val>
                                        </p:tav>
                                        <p:tav tm="100000">
                                          <p:val>
                                            <p:strVal val="#ppt_x"/>
                                          </p:val>
                                        </p:tav>
                                      </p:tavLst>
                                    </p:anim>
                                    <p:anim calcmode="lin" valueType="num">
                                      <p:cBhvr additive="base">
                                        <p:cTn id="5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ppt_x"/>
                                          </p:val>
                                        </p:tav>
                                        <p:tav tm="100000">
                                          <p:val>
                                            <p:strVal val="#ppt_x"/>
                                          </p:val>
                                        </p:tav>
                                      </p:tavLst>
                                    </p:anim>
                                    <p:anim calcmode="lin" valueType="num">
                                      <p:cBhvr additive="base">
                                        <p:cTn id="5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additive="base">
                                        <p:cTn id="67" dur="500" fill="hold"/>
                                        <p:tgtEl>
                                          <p:spTgt spid="25"/>
                                        </p:tgtEl>
                                        <p:attrNameLst>
                                          <p:attrName>ppt_x</p:attrName>
                                        </p:attrNameLst>
                                      </p:cBhvr>
                                      <p:tavLst>
                                        <p:tav tm="0">
                                          <p:val>
                                            <p:strVal val="#ppt_x"/>
                                          </p:val>
                                        </p:tav>
                                        <p:tav tm="100000">
                                          <p:val>
                                            <p:strVal val="#ppt_x"/>
                                          </p:val>
                                        </p:tav>
                                      </p:tavLst>
                                    </p:anim>
                                    <p:anim calcmode="lin" valueType="num">
                                      <p:cBhvr additive="base">
                                        <p:cTn id="6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0327" y="212437"/>
            <a:ext cx="11305309" cy="6396182"/>
          </a:xfrm>
        </p:spPr>
        <p:txBody>
          <a:bodyPr>
            <a:normAutofit/>
          </a:bodyPr>
          <a:lstStyle/>
          <a:p>
            <a:pPr marL="0" indent="0">
              <a:buNone/>
            </a:pPr>
            <a:r>
              <a:rPr lang="en-US" sz="2200" dirty="0" smtClean="0">
                <a:latin typeface="Times New Roman" pitchFamily="18" charset="0"/>
                <a:ea typeface="Microsoft Sans Serif" panose="020B0604020202020204" pitchFamily="34" charset="0"/>
                <a:cs typeface="Times New Roman" pitchFamily="18" charset="0"/>
              </a:rPr>
              <a:t>.</a:t>
            </a:r>
            <a:endParaRPr lang="en-US" sz="2200" dirty="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US" sz="2200" b="1" dirty="0" smtClean="0">
              <a:latin typeface="Times New Roman" pitchFamily="18" charset="0"/>
              <a:ea typeface="Microsoft Sans Serif" panose="020B0604020202020204" pitchFamily="34" charset="0"/>
              <a:cs typeface="Times New Roman" pitchFamily="18" charset="0"/>
            </a:endParaRPr>
          </a:p>
          <a:p>
            <a:pPr marL="0" indent="0" algn="just">
              <a:lnSpc>
                <a:spcPct val="100000"/>
              </a:lnSpc>
              <a:buNone/>
            </a:pPr>
            <a:endParaRPr lang="en-IN" sz="2200" dirty="0">
              <a:latin typeface="Times New Roman" pitchFamily="18" charset="0"/>
              <a:ea typeface="Microsoft Sans Serif" panose="020B0604020202020204" pitchFamily="34" charset="0"/>
              <a:cs typeface="Times New Roman"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xmlns="" val="126817063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370"/>
            <a:ext cx="10515600" cy="493487"/>
          </a:xfrm>
        </p:spPr>
        <p:txBody>
          <a:bodyPr>
            <a:normAutofit/>
          </a:bodyPr>
          <a:lstStyle/>
          <a:p>
            <a:r>
              <a:rPr lang="en-US" sz="2800" dirty="0">
                <a:solidFill>
                  <a:srgbClr val="00B050"/>
                </a:solidFill>
                <a:latin typeface="Times New Roman" panose="02020603050405020304" pitchFamily="18" charset="0"/>
                <a:cs typeface="Times New Roman" panose="02020603050405020304" pitchFamily="18" charset="0"/>
              </a:rPr>
              <a:t>Comparing uninformed search strategies</a:t>
            </a:r>
          </a:p>
        </p:txBody>
      </p:sp>
      <p:pic>
        <p:nvPicPr>
          <p:cNvPr id="4" name="Content Placeholder 3"/>
          <p:cNvPicPr>
            <a:picLocks noGrp="1" noChangeAspect="1"/>
          </p:cNvPicPr>
          <p:nvPr>
            <p:ph idx="1"/>
          </p:nvPr>
        </p:nvPicPr>
        <p:blipFill rotWithShape="1">
          <a:blip r:embed="rId2"/>
          <a:srcRect l="12118" t="42101" r="17369" b="28212"/>
          <a:stretch/>
        </p:blipFill>
        <p:spPr>
          <a:xfrm>
            <a:off x="653142" y="870857"/>
            <a:ext cx="11030858" cy="5138057"/>
          </a:xfrm>
          <a:prstGeom prst="rect">
            <a:avLst/>
          </a:prstGeom>
        </p:spPr>
      </p:pic>
    </p:spTree>
    <p:extLst>
      <p:ext uri="{BB962C8B-B14F-4D97-AF65-F5344CB8AC3E}">
        <p14:creationId xmlns:p14="http://schemas.microsoft.com/office/powerpoint/2010/main" xmlns="" val="149001902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7927" y="249382"/>
            <a:ext cx="11416146" cy="6524642"/>
          </a:xfrm>
        </p:spPr>
        <p:txBody>
          <a:bodyPr>
            <a:normAutofit/>
          </a:bodyPr>
          <a:lstStyle/>
          <a:p>
            <a:pPr marL="0" indent="0" algn="just">
              <a:lnSpc>
                <a:spcPct val="100000"/>
              </a:lnSpc>
              <a:buNone/>
            </a:pPr>
            <a:r>
              <a:rPr lang="en-US" sz="2600" b="1" dirty="0" smtClean="0">
                <a:solidFill>
                  <a:srgbClr val="FF0000"/>
                </a:solidFill>
                <a:latin typeface="Times New Roman" pitchFamily="18" charset="0"/>
                <a:ea typeface="Microsoft Sans Serif" panose="020B0604020202020204" pitchFamily="34" charset="0"/>
                <a:cs typeface="Times New Roman" pitchFamily="18" charset="0"/>
              </a:rPr>
              <a:t>1.13 Heuristic(Informed) </a:t>
            </a:r>
            <a:r>
              <a:rPr lang="en-US" sz="2600" b="1" dirty="0">
                <a:solidFill>
                  <a:srgbClr val="FF0000"/>
                </a:solidFill>
                <a:latin typeface="Times New Roman" pitchFamily="18" charset="0"/>
                <a:ea typeface="Microsoft Sans Serif" panose="020B0604020202020204" pitchFamily="34" charset="0"/>
                <a:cs typeface="Times New Roman" pitchFamily="18" charset="0"/>
              </a:rPr>
              <a:t>Search </a:t>
            </a:r>
            <a:r>
              <a:rPr lang="en-US" sz="2600" b="1" dirty="0" smtClean="0">
                <a:solidFill>
                  <a:srgbClr val="FF0000"/>
                </a:solidFill>
                <a:latin typeface="Times New Roman" pitchFamily="18" charset="0"/>
                <a:ea typeface="Microsoft Sans Serif" panose="020B0604020202020204" pitchFamily="34" charset="0"/>
                <a:cs typeface="Times New Roman" pitchFamily="18" charset="0"/>
              </a:rPr>
              <a:t>Techniques</a:t>
            </a:r>
            <a:endParaRPr lang="en-US" sz="2600" b="1" dirty="0">
              <a:solidFill>
                <a:srgbClr val="FF0000"/>
              </a:solidFill>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i="1" dirty="0" smtClean="0">
                <a:latin typeface="Times New Roman" panose="02020603050405020304" pitchFamily="18" charset="0"/>
                <a:ea typeface="Microsoft Sans Serif" panose="020B0604020202020204" pitchFamily="34" charset="0"/>
                <a:cs typeface="Times New Roman" pitchFamily="18" charset="0"/>
              </a:rPr>
              <a:t>Heuristic</a:t>
            </a:r>
            <a:r>
              <a:rPr lang="en-US" sz="2200" dirty="0">
                <a:latin typeface="Times New Roman" panose="02020603050405020304" pitchFamily="18" charset="0"/>
                <a:ea typeface="Microsoft Sans Serif" panose="020B0604020202020204" pitchFamily="34" charset="0"/>
                <a:cs typeface="Times New Roman" pitchFamily="18" charset="0"/>
              </a:rPr>
              <a:t> </a:t>
            </a:r>
            <a:r>
              <a:rPr lang="en-US" sz="2200" dirty="0" smtClean="0">
                <a:latin typeface="Times New Roman" pitchFamily="18" charset="0"/>
                <a:ea typeface="Microsoft Sans Serif" panose="020B0604020202020204" pitchFamily="34" charset="0"/>
                <a:cs typeface="Times New Roman" pitchFamily="18" charset="0"/>
              </a:rPr>
              <a:t>is </a:t>
            </a:r>
            <a:r>
              <a:rPr lang="en-US" sz="2200" dirty="0">
                <a:latin typeface="Times New Roman" pitchFamily="18" charset="0"/>
                <a:ea typeface="Microsoft Sans Serif" panose="020B0604020202020204" pitchFamily="34" charset="0"/>
                <a:cs typeface="Times New Roman" pitchFamily="18" charset="0"/>
              </a:rPr>
              <a:t>a </a:t>
            </a:r>
            <a:r>
              <a:rPr lang="en-US" sz="2200" dirty="0" smtClean="0">
                <a:latin typeface="Times New Roman" pitchFamily="18" charset="0"/>
                <a:ea typeface="Microsoft Sans Serif" panose="020B0604020202020204" pitchFamily="34" charset="0"/>
                <a:cs typeface="Times New Roman" pitchFamily="18" charset="0"/>
              </a:rPr>
              <a:t>method that  involves an </a:t>
            </a:r>
            <a:r>
              <a:rPr lang="en-US" sz="2200" dirty="0">
                <a:latin typeface="Times New Roman" pitchFamily="18" charset="0"/>
                <a:ea typeface="Microsoft Sans Serif" panose="020B0604020202020204" pitchFamily="34" charset="0"/>
                <a:cs typeface="Times New Roman" pitchFamily="18" charset="0"/>
              </a:rPr>
              <a:t>adapting </a:t>
            </a:r>
            <a:r>
              <a:rPr lang="en-US" sz="2200" dirty="0" smtClean="0">
                <a:latin typeface="Times New Roman" pitchFamily="18" charset="0"/>
                <a:ea typeface="Microsoft Sans Serif" panose="020B0604020202020204" pitchFamily="34" charset="0"/>
                <a:cs typeface="Times New Roman" pitchFamily="18" charset="0"/>
              </a:rPr>
              <a:t>approach </a:t>
            </a:r>
            <a:r>
              <a:rPr lang="en-US" sz="2200" dirty="0">
                <a:latin typeface="Times New Roman" pitchFamily="18" charset="0"/>
                <a:ea typeface="Microsoft Sans Serif" panose="020B0604020202020204" pitchFamily="34" charset="0"/>
                <a:cs typeface="Times New Roman" pitchFamily="18" charset="0"/>
              </a:rPr>
              <a:t>to a problem based on previous solutions to similar problems</a:t>
            </a:r>
            <a:r>
              <a:rPr lang="en-US" sz="2200" dirty="0" smtClean="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Informed </a:t>
            </a:r>
            <a:r>
              <a:rPr lang="en-US" sz="2200" dirty="0">
                <a:latin typeface="Times New Roman" panose="02020603050405020304" pitchFamily="18" charset="0"/>
                <a:cs typeface="Times New Roman" panose="02020603050405020304" pitchFamily="18" charset="0"/>
              </a:rPr>
              <a:t>search strategy—one that uses problem-specific </a:t>
            </a:r>
            <a:r>
              <a:rPr lang="en-US" sz="2200" dirty="0" smtClean="0">
                <a:latin typeface="Times New Roman" panose="02020603050405020304" pitchFamily="18" charset="0"/>
                <a:cs typeface="Times New Roman" panose="02020603050405020304" pitchFamily="18" charset="0"/>
              </a:rPr>
              <a:t>hints about the location of the goals.</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The hints come in the form of Heuristic function denoted by </a:t>
            </a:r>
            <a:r>
              <a:rPr lang="en-US" sz="2200" i="1" dirty="0" smtClean="0">
                <a:latin typeface="Times New Roman" panose="02020603050405020304" pitchFamily="18" charset="0"/>
                <a:cs typeface="Times New Roman" panose="02020603050405020304" pitchFamily="18" charset="0"/>
              </a:rPr>
              <a:t>h(n).</a:t>
            </a:r>
          </a:p>
          <a:p>
            <a:pPr marL="0" indent="0" algn="just">
              <a:lnSpc>
                <a:spcPct val="150000"/>
              </a:lnSpc>
              <a:buNone/>
            </a:pPr>
            <a:r>
              <a:rPr lang="en-US" sz="2200" i="1" dirty="0">
                <a:latin typeface="Times New Roman" panose="02020603050405020304" pitchFamily="18" charset="0"/>
                <a:cs typeface="Times New Roman" panose="02020603050405020304" pitchFamily="18" charset="0"/>
              </a:rPr>
              <a:t>	</a:t>
            </a:r>
            <a:r>
              <a:rPr lang="en-US" sz="2200" i="1" dirty="0" smtClean="0">
                <a:latin typeface="Times New Roman" panose="02020603050405020304" pitchFamily="18" charset="0"/>
                <a:cs typeface="Times New Roman" panose="02020603050405020304" pitchFamily="18" charset="0"/>
              </a:rPr>
              <a:t>where h(n) is the estimated cost of the cheapest path from node n to goal state</a:t>
            </a:r>
            <a:r>
              <a:rPr lang="en-US" sz="22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 It is </a:t>
            </a:r>
            <a:r>
              <a:rPr lang="en-US" sz="2200" dirty="0">
                <a:latin typeface="Times New Roman" pitchFamily="18" charset="0"/>
                <a:ea typeface="Microsoft Sans Serif" panose="020B0604020202020204" pitchFamily="34" charset="0"/>
                <a:cs typeface="Times New Roman" pitchFamily="18" charset="0"/>
              </a:rPr>
              <a:t>a criterion for determining which among several alternatives will be the most effective to achieve some goal. </a:t>
            </a:r>
            <a:endParaRPr lang="en-US" sz="22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The </a:t>
            </a:r>
            <a:r>
              <a:rPr lang="en-US" sz="2200" dirty="0">
                <a:latin typeface="Times New Roman" pitchFamily="18" charset="0"/>
                <a:ea typeface="Microsoft Sans Serif" panose="020B0604020202020204" pitchFamily="34" charset="0"/>
                <a:cs typeface="Times New Roman" pitchFamily="18" charset="0"/>
              </a:rPr>
              <a:t>principle of a heuristic can be applied to various problems in mathematics, science and </a:t>
            </a:r>
            <a:r>
              <a:rPr lang="en-US" sz="2200" dirty="0" smtClean="0">
                <a:latin typeface="Times New Roman" pitchFamily="18" charset="0"/>
                <a:ea typeface="Microsoft Sans Serif" panose="020B0604020202020204" pitchFamily="34" charset="0"/>
                <a:cs typeface="Times New Roman" pitchFamily="18" charset="0"/>
              </a:rPr>
              <a:t>optimization </a:t>
            </a:r>
            <a:r>
              <a:rPr lang="en-US" sz="2200" dirty="0">
                <a:latin typeface="Times New Roman" pitchFamily="18" charset="0"/>
                <a:ea typeface="Microsoft Sans Serif" panose="020B0604020202020204" pitchFamily="34" charset="0"/>
                <a:cs typeface="Times New Roman" pitchFamily="18" charset="0"/>
              </a:rPr>
              <a:t>by applying heuristics computationally</a:t>
            </a:r>
            <a:r>
              <a:rPr lang="en-US" sz="2200" dirty="0" smtClean="0">
                <a:latin typeface="Times New Roman" pitchFamily="18" charset="0"/>
                <a:ea typeface="Microsoft Sans Serif" panose="020B0604020202020204" pitchFamily="34" charset="0"/>
                <a:cs typeface="Times New Roman" pitchFamily="18" charset="0"/>
              </a:rPr>
              <a:t>.</a:t>
            </a:r>
          </a:p>
          <a:p>
            <a:pPr algn="just">
              <a:lnSpc>
                <a:spcPct val="150000"/>
              </a:lnSpc>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It can find solutions more efficiently than can an uninformed </a:t>
            </a:r>
            <a:r>
              <a:rPr lang="en-US" sz="2200" dirty="0" smtClean="0">
                <a:latin typeface="Times New Roman" panose="02020603050405020304" pitchFamily="18" charset="0"/>
                <a:cs typeface="Times New Roman" panose="02020603050405020304" pitchFamily="18" charset="0"/>
              </a:rPr>
              <a:t>strategy.</a:t>
            </a:r>
            <a:endParaRPr lang="en-US" sz="2200"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200653342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101601"/>
            <a:ext cx="10961914" cy="522513"/>
          </a:xfrm>
        </p:spPr>
        <p:txBody>
          <a:bodyPr>
            <a:normAutofit/>
          </a:bodyPr>
          <a:lstStyle/>
          <a:p>
            <a:r>
              <a:rPr lang="en-US" sz="2400" dirty="0" smtClean="0">
                <a:solidFill>
                  <a:srgbClr val="00B050"/>
                </a:solidFill>
                <a:latin typeface="Times New Roman" panose="02020603050405020304" pitchFamily="18" charset="0"/>
                <a:cs typeface="Times New Roman" panose="02020603050405020304" pitchFamily="18" charset="0"/>
              </a:rPr>
              <a:t>Greedy best first search</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1886" y="624114"/>
            <a:ext cx="11393714" cy="5552849"/>
          </a:xfrm>
        </p:spPr>
        <p:txBody>
          <a:bodyPr>
            <a:normAutofit/>
          </a:bodyPr>
          <a:lstStyle/>
          <a:p>
            <a:pPr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Greedy best-first </a:t>
            </a:r>
            <a:r>
              <a:rPr lang="en-US" sz="1800" dirty="0" smtClean="0">
                <a:latin typeface="Times New Roman" panose="02020603050405020304" pitchFamily="18" charset="0"/>
                <a:cs typeface="Times New Roman" panose="02020603050405020304" pitchFamily="18" charset="0"/>
              </a:rPr>
              <a:t>search tries </a:t>
            </a:r>
            <a:r>
              <a:rPr lang="en-US" sz="1800" dirty="0">
                <a:latin typeface="Times New Roman" panose="02020603050405020304" pitchFamily="18" charset="0"/>
                <a:cs typeface="Times New Roman" panose="02020603050405020304" pitchFamily="18" charset="0"/>
              </a:rPr>
              <a:t>to expand the node </a:t>
            </a:r>
            <a:r>
              <a:rPr lang="en-US" sz="1800" dirty="0" smtClean="0">
                <a:latin typeface="Times New Roman" panose="02020603050405020304" pitchFamily="18" charset="0"/>
                <a:cs typeface="Times New Roman" panose="02020603050405020304" pitchFamily="18" charset="0"/>
              </a:rPr>
              <a:t>with lowest h(n) value.-the node that appears to be closest to the goal.</a:t>
            </a:r>
          </a:p>
          <a:p>
            <a:pPr algn="just">
              <a:lnSpc>
                <a:spcPct val="15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Thus</a:t>
            </a:r>
            <a:r>
              <a:rPr lang="en-US" sz="1800" dirty="0">
                <a:latin typeface="Times New Roman" panose="02020603050405020304" pitchFamily="18" charset="0"/>
                <a:cs typeface="Times New Roman" panose="02020603050405020304" pitchFamily="18" charset="0"/>
              </a:rPr>
              <a:t>, it evaluates nodes by </a:t>
            </a:r>
            <a:r>
              <a:rPr lang="en-US" sz="1800" dirty="0" smtClean="0">
                <a:latin typeface="Times New Roman" panose="02020603050405020304" pitchFamily="18" charset="0"/>
                <a:cs typeface="Times New Roman" panose="02020603050405020304" pitchFamily="18" charset="0"/>
              </a:rPr>
              <a:t>using heuristic function, f(n</a:t>
            </a:r>
            <a:r>
              <a:rPr lang="en-US" sz="1800" dirty="0">
                <a:latin typeface="Times New Roman" panose="02020603050405020304" pitchFamily="18" charset="0"/>
                <a:cs typeface="Times New Roman" panose="02020603050405020304" pitchFamily="18" charset="0"/>
              </a:rPr>
              <a:t>) = h(n). </a:t>
            </a:r>
            <a:endParaRPr lang="en-US" sz="18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Consider route-finding problem </a:t>
            </a:r>
            <a:r>
              <a:rPr lang="en-US" sz="1800" dirty="0">
                <a:latin typeface="Times New Roman" panose="02020603050405020304" pitchFamily="18" charset="0"/>
                <a:cs typeface="Times New Roman" panose="02020603050405020304" pitchFamily="18" charset="0"/>
              </a:rPr>
              <a:t>in Romania; we use the </a:t>
            </a:r>
            <a:r>
              <a:rPr lang="en-US" sz="1800" dirty="0" smtClean="0">
                <a:latin typeface="Times New Roman" panose="02020603050405020304" pitchFamily="18" charset="0"/>
                <a:cs typeface="Times New Roman" panose="02020603050405020304" pitchFamily="18" charset="0"/>
              </a:rPr>
              <a:t>straight-line </a:t>
            </a:r>
            <a:r>
              <a:rPr lang="en-US" sz="1800" dirty="0">
                <a:latin typeface="Times New Roman" panose="02020603050405020304" pitchFamily="18" charset="0"/>
                <a:cs typeface="Times New Roman" panose="02020603050405020304" pitchFamily="18" charset="0"/>
              </a:rPr>
              <a:t>distance heuristic, which we will </a:t>
            </a:r>
            <a:r>
              <a:rPr lang="en-US" sz="1800" dirty="0" smtClean="0">
                <a:latin typeface="Times New Roman" panose="02020603050405020304" pitchFamily="18" charset="0"/>
                <a:cs typeface="Times New Roman" panose="02020603050405020304" pitchFamily="18" charset="0"/>
              </a:rPr>
              <a:t>call  </a:t>
            </a:r>
            <a:r>
              <a:rPr lang="en-US" sz="1800" dirty="0" err="1">
                <a:latin typeface="Times New Roman" panose="02020603050405020304" pitchFamily="18" charset="0"/>
                <a:cs typeface="Times New Roman" panose="02020603050405020304" pitchFamily="18" charset="0"/>
              </a:rPr>
              <a:t>hSLD</a:t>
            </a:r>
            <a:r>
              <a:rPr lang="en-US" sz="1800" dirty="0">
                <a:latin typeface="Times New Roman" panose="02020603050405020304" pitchFamily="18" charset="0"/>
                <a:cs typeface="Times New Roman" panose="02020603050405020304" pitchFamily="18" charset="0"/>
              </a:rPr>
              <a:t> . </a:t>
            </a:r>
            <a:endParaRPr lang="en-US" sz="18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If </a:t>
            </a:r>
            <a:r>
              <a:rPr lang="en-US" sz="1800" dirty="0">
                <a:latin typeface="Times New Roman" panose="02020603050405020304" pitchFamily="18" charset="0"/>
                <a:cs typeface="Times New Roman" panose="02020603050405020304" pitchFamily="18" charset="0"/>
              </a:rPr>
              <a:t>the goal is Bucharest, we need to </a:t>
            </a:r>
            <a:r>
              <a:rPr lang="en-US" sz="1800" dirty="0" smtClean="0">
                <a:latin typeface="Times New Roman" panose="02020603050405020304" pitchFamily="18" charset="0"/>
                <a:cs typeface="Times New Roman" panose="02020603050405020304" pitchFamily="18" charset="0"/>
              </a:rPr>
              <a:t>know STRAIGHT-LINE DISTANCES to Bucharest. For example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hSLD</a:t>
            </a:r>
            <a:r>
              <a:rPr lang="en-US" sz="1800" dirty="0">
                <a:latin typeface="Times New Roman" panose="02020603050405020304" pitchFamily="18" charset="0"/>
                <a:cs typeface="Times New Roman" panose="02020603050405020304" pitchFamily="18" charset="0"/>
              </a:rPr>
              <a:t> (In(Arad)) = 366</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rotWithShape="1">
          <a:blip r:embed="rId2"/>
          <a:srcRect l="22445" t="21577" r="26316" b="28026"/>
          <a:stretch/>
        </p:blipFill>
        <p:spPr>
          <a:xfrm>
            <a:off x="3338286" y="2801258"/>
            <a:ext cx="7576457" cy="3708400"/>
          </a:xfrm>
          <a:prstGeom prst="rect">
            <a:avLst/>
          </a:prstGeom>
        </p:spPr>
      </p:pic>
    </p:spTree>
    <p:extLst>
      <p:ext uri="{BB962C8B-B14F-4D97-AF65-F5344CB8AC3E}">
        <p14:creationId xmlns:p14="http://schemas.microsoft.com/office/powerpoint/2010/main" xmlns="" val="32923311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3727" t="17013" r="18988" b="13938"/>
          <a:stretch/>
        </p:blipFill>
        <p:spPr>
          <a:xfrm>
            <a:off x="885372" y="464457"/>
            <a:ext cx="10203542" cy="5994399"/>
          </a:xfrm>
          <a:prstGeom prst="rect">
            <a:avLst/>
          </a:prstGeom>
        </p:spPr>
      </p:pic>
    </p:spTree>
    <p:extLst>
      <p:ext uri="{BB962C8B-B14F-4D97-AF65-F5344CB8AC3E}">
        <p14:creationId xmlns:p14="http://schemas.microsoft.com/office/powerpoint/2010/main" xmlns="" val="103796644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3856" t="33915" r="18319" b="19003"/>
          <a:stretch/>
        </p:blipFill>
        <p:spPr>
          <a:xfrm>
            <a:off x="580571" y="493486"/>
            <a:ext cx="10856686" cy="5515428"/>
          </a:xfrm>
          <a:prstGeom prst="rect">
            <a:avLst/>
          </a:prstGeom>
        </p:spPr>
      </p:pic>
    </p:spTree>
    <p:extLst>
      <p:ext uri="{BB962C8B-B14F-4D97-AF65-F5344CB8AC3E}">
        <p14:creationId xmlns:p14="http://schemas.microsoft.com/office/powerpoint/2010/main" xmlns="" val="70837920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6742" y="348343"/>
            <a:ext cx="11582401" cy="6416350"/>
          </a:xfrm>
        </p:spPr>
        <p:txBody>
          <a:bodyPr>
            <a:normAutofit/>
          </a:bodyPr>
          <a:lstStyle/>
          <a:p>
            <a:pPr marL="0" indent="0" algn="just">
              <a:lnSpc>
                <a:spcPct val="100000"/>
              </a:lnSpc>
              <a:buNone/>
            </a:pPr>
            <a:r>
              <a:rPr lang="en-US" sz="2400" dirty="0">
                <a:solidFill>
                  <a:srgbClr val="00B050"/>
                </a:solidFill>
                <a:latin typeface="Times New Roman" pitchFamily="18" charset="0"/>
                <a:ea typeface="Microsoft Sans Serif" panose="020B0604020202020204" pitchFamily="34" charset="0"/>
                <a:cs typeface="Times New Roman" pitchFamily="18" charset="0"/>
              </a:rPr>
              <a:t>A * Algorithm</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The most widely known form of best-first search is called A∗ search .</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It uses the evaluation function  </a:t>
            </a:r>
            <a:r>
              <a:rPr lang="en-US" sz="2200" i="1" dirty="0" smtClean="0">
                <a:latin typeface="Times New Roman" panose="02020603050405020304" pitchFamily="18" charset="0"/>
                <a:cs typeface="Times New Roman" panose="02020603050405020304" pitchFamily="18" charset="0"/>
              </a:rPr>
              <a:t>f(n) = g(n) + h(n) </a:t>
            </a:r>
            <a:r>
              <a:rPr lang="en-US" sz="2200" dirty="0" smtClean="0">
                <a:latin typeface="Times New Roman" panose="02020603050405020304" pitchFamily="18" charset="0"/>
                <a:cs typeface="Times New Roman" panose="02020603050405020304" pitchFamily="18" charset="0"/>
              </a:rPr>
              <a:t>. , </a:t>
            </a:r>
          </a:p>
          <a:p>
            <a:pPr marL="0" indent="0" algn="just">
              <a:lnSpc>
                <a:spcPct val="150000"/>
              </a:lnSpc>
              <a:buNone/>
            </a:pPr>
            <a:r>
              <a:rPr lang="en-US" sz="2200" dirty="0" smtClean="0">
                <a:latin typeface="Times New Roman" panose="02020603050405020304" pitchFamily="18" charset="0"/>
                <a:cs typeface="Times New Roman" panose="02020603050405020304" pitchFamily="18" charset="0"/>
              </a:rPr>
              <a:t>	where     g(n) gives the path cost from the start node to node n, and </a:t>
            </a:r>
          </a:p>
          <a:p>
            <a:pPr marL="0" indent="0" algn="just">
              <a:lnSpc>
                <a:spcPct val="150000"/>
              </a:lnSpc>
              <a:buNone/>
            </a:pPr>
            <a:r>
              <a:rPr lang="en-US" sz="2200" dirty="0" smtClean="0">
                <a:latin typeface="Times New Roman" panose="02020603050405020304" pitchFamily="18" charset="0"/>
                <a:cs typeface="Times New Roman" panose="02020603050405020304" pitchFamily="18" charset="0"/>
              </a:rPr>
              <a:t>                           h(n) is the estimated cost of the cheapest path from n to the goal, </a:t>
            </a:r>
          </a:p>
          <a:p>
            <a:pPr marL="0" indent="0" algn="just">
              <a:lnSpc>
                <a:spcPct val="150000"/>
              </a:lnSpc>
              <a:buNone/>
            </a:pPr>
            <a:r>
              <a:rPr lang="en-US" sz="2200" dirty="0" smtClean="0">
                <a:latin typeface="Times New Roman" panose="02020603050405020304" pitchFamily="18" charset="0"/>
                <a:cs typeface="Times New Roman" panose="02020603050405020304" pitchFamily="18" charset="0"/>
              </a:rPr>
              <a:t>                           f(n)  is estimated cost of the cheapest solution through n . </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Thus, if we are trying to find the cheapest solution, then try to expand the node with the lowest value of g(n) + h(n). </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The algorithm is identical to UNIFORM-COST-SEARCH except that A∗ uses g + h instead of g</a:t>
            </a:r>
            <a:r>
              <a:rPr lang="en-US" sz="2200" dirty="0" smtClean="0"/>
              <a:t>. </a:t>
            </a:r>
            <a:endParaRPr lang="en-IN" sz="2200" dirty="0"/>
          </a:p>
        </p:txBody>
      </p:sp>
    </p:spTree>
    <p:extLst>
      <p:ext uri="{BB962C8B-B14F-4D97-AF65-F5344CB8AC3E}">
        <p14:creationId xmlns:p14="http://schemas.microsoft.com/office/powerpoint/2010/main" xmlns="" val="239678803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4598" t="15824" r="39736" b="73462"/>
          <a:stretch/>
        </p:blipFill>
        <p:spPr>
          <a:xfrm>
            <a:off x="188686" y="928914"/>
            <a:ext cx="7242628" cy="783772"/>
          </a:xfrm>
          <a:prstGeom prst="rect">
            <a:avLst/>
          </a:prstGeom>
        </p:spPr>
      </p:pic>
      <p:pic>
        <p:nvPicPr>
          <p:cNvPr id="3" name="Picture 2"/>
          <p:cNvPicPr>
            <a:picLocks noChangeAspect="1"/>
          </p:cNvPicPr>
          <p:nvPr/>
        </p:nvPicPr>
        <p:blipFill rotWithShape="1">
          <a:blip r:embed="rId2"/>
          <a:srcRect l="3929" t="15824" r="13746" b="48462"/>
          <a:stretch/>
        </p:blipFill>
        <p:spPr>
          <a:xfrm>
            <a:off x="101599" y="928914"/>
            <a:ext cx="10711543" cy="2612572"/>
          </a:xfrm>
          <a:prstGeom prst="rect">
            <a:avLst/>
          </a:prstGeom>
        </p:spPr>
      </p:pic>
      <p:pic>
        <p:nvPicPr>
          <p:cNvPr id="4" name="Picture 3"/>
          <p:cNvPicPr>
            <a:picLocks noChangeAspect="1"/>
          </p:cNvPicPr>
          <p:nvPr/>
        </p:nvPicPr>
        <p:blipFill rotWithShape="1">
          <a:blip r:embed="rId2"/>
          <a:srcRect l="2255" t="15030" r="11825" b="14137"/>
          <a:stretch/>
        </p:blipFill>
        <p:spPr>
          <a:xfrm>
            <a:off x="188686" y="928914"/>
            <a:ext cx="11179175" cy="5181602"/>
          </a:xfrm>
          <a:prstGeom prst="rect">
            <a:avLst/>
          </a:prstGeom>
        </p:spPr>
      </p:pic>
      <p:pic>
        <p:nvPicPr>
          <p:cNvPr id="5" name="Picture 4"/>
          <p:cNvPicPr>
            <a:picLocks noChangeAspect="1"/>
          </p:cNvPicPr>
          <p:nvPr/>
        </p:nvPicPr>
        <p:blipFill rotWithShape="1">
          <a:blip r:embed="rId3"/>
          <a:srcRect l="5602" t="34871" r="15195" b="17113"/>
          <a:stretch/>
        </p:blipFill>
        <p:spPr>
          <a:xfrm>
            <a:off x="319313" y="333829"/>
            <a:ext cx="11248573" cy="6241141"/>
          </a:xfrm>
          <a:prstGeom prst="rect">
            <a:avLst/>
          </a:prstGeom>
        </p:spPr>
      </p:pic>
      <p:pic>
        <p:nvPicPr>
          <p:cNvPr id="6" name="Picture 5"/>
          <p:cNvPicPr>
            <a:picLocks noChangeAspect="1"/>
          </p:cNvPicPr>
          <p:nvPr/>
        </p:nvPicPr>
        <p:blipFill rotWithShape="1">
          <a:blip r:embed="rId4"/>
          <a:srcRect l="5157" t="19990" r="15531" b="32788"/>
          <a:stretch/>
        </p:blipFill>
        <p:spPr>
          <a:xfrm>
            <a:off x="261257" y="333829"/>
            <a:ext cx="11654972" cy="6241141"/>
          </a:xfrm>
          <a:prstGeom prst="rect">
            <a:avLst/>
          </a:prstGeom>
        </p:spPr>
      </p:pic>
      <p:pic>
        <p:nvPicPr>
          <p:cNvPr id="7" name="Picture 6"/>
          <p:cNvPicPr>
            <a:picLocks noChangeAspect="1"/>
          </p:cNvPicPr>
          <p:nvPr/>
        </p:nvPicPr>
        <p:blipFill rotWithShape="1">
          <a:blip r:embed="rId5"/>
          <a:srcRect l="5490" t="17014" r="12072" b="30010"/>
          <a:stretch/>
        </p:blipFill>
        <p:spPr>
          <a:xfrm>
            <a:off x="304799" y="333829"/>
            <a:ext cx="11611430" cy="6241141"/>
          </a:xfrm>
          <a:prstGeom prst="rect">
            <a:avLst/>
          </a:prstGeom>
        </p:spPr>
      </p:pic>
    </p:spTree>
    <p:extLst>
      <p:ext uri="{BB962C8B-B14F-4D97-AF65-F5344CB8AC3E}">
        <p14:creationId xmlns:p14="http://schemas.microsoft.com/office/powerpoint/2010/main" xmlns="" val="186521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35428"/>
            <a:ext cx="11466286" cy="4049485"/>
          </a:xfrm>
        </p:spPr>
        <p:txBody>
          <a:bodyPr>
            <a:normAutofit lnSpcReduction="10000"/>
          </a:bodyPr>
          <a:lstStyle/>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 </a:t>
            </a:r>
            <a:r>
              <a:rPr lang="en-US" sz="2200" dirty="0">
                <a:latin typeface="Times New Roman" pitchFamily="18" charset="0"/>
                <a:ea typeface="Microsoft Sans Serif" panose="020B0604020202020204" pitchFamily="34" charset="0"/>
                <a:cs typeface="Times New Roman" pitchFamily="18" charset="0"/>
              </a:rPr>
              <a:t>A* algorithm is called OR graph / tree search algorithm. </a:t>
            </a: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A</a:t>
            </a:r>
            <a:r>
              <a:rPr lang="en-US" sz="2200" dirty="0">
                <a:latin typeface="Times New Roman" pitchFamily="18" charset="0"/>
                <a:ea typeface="Microsoft Sans Serif" panose="020B0604020202020204" pitchFamily="34" charset="0"/>
                <a:cs typeface="Times New Roman" pitchFamily="18" charset="0"/>
              </a:rPr>
              <a:t>* algorithm incrementally searches all the routes starting from the start node until it finds the shortest path to a goal.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Starting </a:t>
            </a:r>
            <a:r>
              <a:rPr lang="en-US" sz="2200" dirty="0">
                <a:latin typeface="Times New Roman" pitchFamily="18" charset="0"/>
                <a:ea typeface="Microsoft Sans Serif" panose="020B0604020202020204" pitchFamily="34" charset="0"/>
                <a:cs typeface="Times New Roman" pitchFamily="18" charset="0"/>
              </a:rPr>
              <a:t>with a given node, the algorithm expands the node with the lowest f(X) value.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It </a:t>
            </a:r>
            <a:r>
              <a:rPr lang="en-US" sz="2200" dirty="0">
                <a:latin typeface="Times New Roman" pitchFamily="18" charset="0"/>
                <a:ea typeface="Microsoft Sans Serif" panose="020B0604020202020204" pitchFamily="34" charset="0"/>
                <a:cs typeface="Times New Roman" pitchFamily="18" charset="0"/>
              </a:rPr>
              <a:t>maintains a set of partial solutions. </a:t>
            </a:r>
            <a:endParaRPr lang="en-US" sz="2200" dirty="0" smtClean="0">
              <a:latin typeface="Times New Roman" pitchFamily="18" charset="0"/>
              <a:ea typeface="Microsoft Sans Serif" panose="020B0604020202020204" pitchFamily="34" charset="0"/>
              <a:cs typeface="Times New Roman" pitchFamily="18" charset="0"/>
            </a:endParaRPr>
          </a:p>
          <a:p>
            <a:pPr algn="just">
              <a:lnSpc>
                <a:spcPct val="150000"/>
              </a:lnSpc>
              <a:buFont typeface="Wingdings" panose="05000000000000000000" pitchFamily="2" charset="2"/>
              <a:buChar char="v"/>
            </a:pPr>
            <a:r>
              <a:rPr lang="en-US" sz="2200" dirty="0" smtClean="0">
                <a:latin typeface="Times New Roman" pitchFamily="18" charset="0"/>
                <a:ea typeface="Microsoft Sans Serif" panose="020B0604020202020204" pitchFamily="34" charset="0"/>
                <a:cs typeface="Times New Roman" pitchFamily="18" charset="0"/>
              </a:rPr>
              <a:t>Unexpanded </a:t>
            </a:r>
            <a:r>
              <a:rPr lang="en-US" sz="2200" dirty="0">
                <a:latin typeface="Times New Roman" pitchFamily="18" charset="0"/>
                <a:ea typeface="Microsoft Sans Serif" panose="020B0604020202020204" pitchFamily="34" charset="0"/>
                <a:cs typeface="Times New Roman" pitchFamily="18" charset="0"/>
              </a:rPr>
              <a:t>leaf nodes of expanded nodes are stored in a queue with corresponding f values. This queue can be maintained as a priority queue. </a:t>
            </a:r>
          </a:p>
          <a:p>
            <a:pPr marL="0" indent="0" algn="just">
              <a:lnSpc>
                <a:spcPct val="100000"/>
              </a:lnSpc>
              <a:buNone/>
            </a:pPr>
            <a:endParaRPr lang="en-US" sz="2200" b="1" dirty="0">
              <a:latin typeface="Times New Roman" pitchFamily="18" charset="0"/>
              <a:ea typeface="Microsoft Sans Serif" panose="020B0604020202020204" pitchFamily="34" charset="0"/>
              <a:cs typeface="Times New Roman" pitchFamily="18" charset="0"/>
            </a:endParaRPr>
          </a:p>
        </p:txBody>
      </p:sp>
    </p:spTree>
    <p:extLst>
      <p:ext uri="{BB962C8B-B14F-4D97-AF65-F5344CB8AC3E}">
        <p14:creationId xmlns:p14="http://schemas.microsoft.com/office/powerpoint/2010/main" xmlns="" val="253306364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8269"/>
          </a:xfrm>
        </p:spPr>
        <p:txBody>
          <a:bodyPr>
            <a:noAutofit/>
          </a:bodyPr>
          <a:lstStyle/>
          <a:p>
            <a:r>
              <a:rPr lang="en-US" sz="2800" dirty="0">
                <a:solidFill>
                  <a:srgbClr val="00B050"/>
                </a:solidFill>
                <a:latin typeface="Times New Roman" panose="02020603050405020304" pitchFamily="18" charset="0"/>
                <a:cs typeface="Times New Roman" panose="02020603050405020304" pitchFamily="18" charset="0"/>
              </a:rPr>
              <a:t>Conditions for optimality</a:t>
            </a:r>
          </a:p>
        </p:txBody>
      </p:sp>
      <p:sp>
        <p:nvSpPr>
          <p:cNvPr id="3" name="Content Placeholder 2"/>
          <p:cNvSpPr>
            <a:spLocks noGrp="1"/>
          </p:cNvSpPr>
          <p:nvPr>
            <p:ph sz="half" idx="1"/>
          </p:nvPr>
        </p:nvSpPr>
        <p:spPr>
          <a:xfrm>
            <a:off x="412955" y="899652"/>
            <a:ext cx="7034979" cy="5456903"/>
          </a:xfrm>
        </p:spPr>
        <p:txBody>
          <a:bodyPr>
            <a:noAutofit/>
          </a:bodyPr>
          <a:lstStyle/>
          <a:p>
            <a:pPr algn="just">
              <a:lnSpc>
                <a:spcPct val="10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The first condition we require for optimality is that h(n) be an </a:t>
            </a:r>
            <a:r>
              <a:rPr lang="en-US" sz="1600" b="1" dirty="0" smtClean="0">
                <a:latin typeface="Times New Roman" panose="02020603050405020304" pitchFamily="18" charset="0"/>
                <a:cs typeface="Times New Roman" panose="02020603050405020304" pitchFamily="18" charset="0"/>
              </a:rPr>
              <a:t>admissible</a:t>
            </a:r>
            <a:r>
              <a:rPr lang="en-US" sz="1600" dirty="0" smtClean="0">
                <a:latin typeface="Times New Roman" panose="02020603050405020304" pitchFamily="18" charset="0"/>
                <a:cs typeface="Times New Roman" panose="02020603050405020304" pitchFamily="18" charset="0"/>
              </a:rPr>
              <a:t> heuristic. </a:t>
            </a:r>
          </a:p>
          <a:p>
            <a:pPr algn="just">
              <a:lnSpc>
                <a:spcPct val="100000"/>
              </a:lnSpc>
              <a:buNone/>
            </a:pPr>
            <a:r>
              <a:rPr lang="en-US" sz="1600" dirty="0" smtClean="0">
                <a:latin typeface="Times New Roman" panose="02020603050405020304" pitchFamily="18" charset="0"/>
                <a:cs typeface="Times New Roman" panose="02020603050405020304" pitchFamily="18" charset="0"/>
              </a:rPr>
              <a:t>In </a:t>
            </a:r>
            <a:r>
              <a:rPr lang="en-US" sz="1600" dirty="0" smtClean="0">
                <a:latin typeface="Times New Roman" panose="02020603050405020304" pitchFamily="18" charset="0"/>
                <a:cs typeface="Times New Roman" panose="02020603050405020304" pitchFamily="18" charset="0"/>
              </a:rPr>
              <a:t>computer science, the heuristic function h(n) is referred to as acceptable, and it is always less than or equal to the actual cost, which is the true cost from the present point in the path. H(n) is never bigger than h*(n) in this context. </a:t>
            </a:r>
            <a:endParaRPr lang="en-US" sz="1600" dirty="0" smtClean="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An </a:t>
            </a:r>
            <a:r>
              <a:rPr lang="en-US" sz="1600" dirty="0" smtClean="0">
                <a:latin typeface="Times New Roman" panose="02020603050405020304" pitchFamily="18" charset="0"/>
                <a:cs typeface="Times New Roman" panose="02020603050405020304" pitchFamily="18" charset="0"/>
              </a:rPr>
              <a:t>admissible </a:t>
            </a:r>
            <a:r>
              <a:rPr lang="en-US" sz="1600" dirty="0">
                <a:latin typeface="Times New Roman" panose="02020603050405020304" pitchFamily="18" charset="0"/>
                <a:cs typeface="Times New Roman" panose="02020603050405020304" pitchFamily="18" charset="0"/>
              </a:rPr>
              <a:t>heuristic is one that never overestimates the cost to reach the </a:t>
            </a:r>
            <a:r>
              <a:rPr lang="en-US" sz="1600" dirty="0" smtClean="0">
                <a:latin typeface="Times New Roman" panose="02020603050405020304" pitchFamily="18" charset="0"/>
                <a:cs typeface="Times New Roman" panose="02020603050405020304" pitchFamily="18" charset="0"/>
              </a:rPr>
              <a:t>goal.</a:t>
            </a:r>
          </a:p>
          <a:p>
            <a:pPr algn="just">
              <a:lnSpc>
                <a:spcPct val="10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Second condition is </a:t>
            </a:r>
            <a:r>
              <a:rPr lang="en-US" sz="1600" b="1" dirty="0" smtClean="0">
                <a:latin typeface="Times New Roman" panose="02020603050405020304" pitchFamily="18" charset="0"/>
                <a:cs typeface="Times New Roman" panose="02020603050405020304" pitchFamily="18" charset="0"/>
              </a:rPr>
              <a:t>consistency</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(or sometimes monotonicity) MONOTONICITY is required only for applications of A∗ to graph search</a:t>
            </a:r>
            <a:r>
              <a:rPr lang="en-US" sz="1600" dirty="0" smtClean="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 heuristic h(n) is consistent if, for every node </a:t>
            </a:r>
            <a:r>
              <a:rPr lang="en-US" sz="1600" i="1" dirty="0">
                <a:latin typeface="Times New Roman" panose="02020603050405020304" pitchFamily="18" charset="0"/>
                <a:cs typeface="Times New Roman" panose="02020603050405020304" pitchFamily="18" charset="0"/>
              </a:rPr>
              <a:t>n</a:t>
            </a:r>
            <a:r>
              <a:rPr lang="en-US" sz="1600" dirty="0">
                <a:latin typeface="Times New Roman" panose="02020603050405020304" pitchFamily="18" charset="0"/>
                <a:cs typeface="Times New Roman" panose="02020603050405020304" pitchFamily="18" charset="0"/>
              </a:rPr>
              <a:t> and every successor </a:t>
            </a:r>
            <a:r>
              <a:rPr lang="en-US" sz="1600" i="1" dirty="0" smtClean="0">
                <a:latin typeface="Times New Roman" panose="02020603050405020304" pitchFamily="18" charset="0"/>
                <a:cs typeface="Times New Roman" panose="02020603050405020304" pitchFamily="18" charset="0"/>
              </a:rPr>
              <a:t>n’ </a:t>
            </a:r>
            <a:r>
              <a:rPr lang="en-US" sz="1600" dirty="0">
                <a:latin typeface="Times New Roman" panose="02020603050405020304" pitchFamily="18" charset="0"/>
                <a:cs typeface="Times New Roman" panose="02020603050405020304" pitchFamily="18" charset="0"/>
              </a:rPr>
              <a:t>of </a:t>
            </a:r>
            <a:r>
              <a:rPr lang="en-US" sz="1600" i="1" dirty="0">
                <a:latin typeface="Times New Roman" panose="02020603050405020304" pitchFamily="18" charset="0"/>
                <a:cs typeface="Times New Roman" panose="02020603050405020304" pitchFamily="18" charset="0"/>
              </a:rPr>
              <a:t>n</a:t>
            </a:r>
            <a:r>
              <a:rPr lang="en-US" sz="1600" dirty="0">
                <a:latin typeface="Times New Roman" panose="02020603050405020304" pitchFamily="18" charset="0"/>
                <a:cs typeface="Times New Roman" panose="02020603050405020304" pitchFamily="18" charset="0"/>
              </a:rPr>
              <a:t> generated by any action </a:t>
            </a:r>
            <a:r>
              <a:rPr lang="en-US" sz="1600" i="1" dirty="0">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 the estimated cost of reaching the goal from </a:t>
            </a:r>
            <a:r>
              <a:rPr lang="en-US" sz="1600" i="1" dirty="0">
                <a:latin typeface="Times New Roman" panose="02020603050405020304" pitchFamily="18" charset="0"/>
                <a:cs typeface="Times New Roman" panose="02020603050405020304" pitchFamily="18" charset="0"/>
              </a:rPr>
              <a:t>n</a:t>
            </a:r>
            <a:r>
              <a:rPr lang="en-US" sz="1600" dirty="0">
                <a:latin typeface="Times New Roman" panose="02020603050405020304" pitchFamily="18" charset="0"/>
                <a:cs typeface="Times New Roman" panose="02020603050405020304" pitchFamily="18" charset="0"/>
              </a:rPr>
              <a:t> is no greater than the step cost of getting to </a:t>
            </a:r>
            <a:r>
              <a:rPr lang="en-US" sz="1600" i="1" dirty="0" smtClean="0">
                <a:latin typeface="Times New Roman" panose="02020603050405020304" pitchFamily="18" charset="0"/>
                <a:cs typeface="Times New Roman" panose="02020603050405020304" pitchFamily="18" charset="0"/>
              </a:rPr>
              <a:t>n’ </a:t>
            </a:r>
            <a:r>
              <a:rPr lang="en-US" sz="1600" dirty="0" smtClean="0">
                <a:latin typeface="Times New Roman" panose="02020603050405020304" pitchFamily="18" charset="0"/>
                <a:cs typeface="Times New Roman" panose="02020603050405020304" pitchFamily="18" charset="0"/>
              </a:rPr>
              <a:t>plus </a:t>
            </a:r>
            <a:r>
              <a:rPr lang="en-US" sz="1600" dirty="0">
                <a:latin typeface="Times New Roman" panose="02020603050405020304" pitchFamily="18" charset="0"/>
                <a:cs typeface="Times New Roman" panose="02020603050405020304" pitchFamily="18" charset="0"/>
              </a:rPr>
              <a:t>the estimated cost of reaching the goal from </a:t>
            </a:r>
            <a:r>
              <a:rPr lang="en-US" sz="1600" dirty="0" smtClean="0">
                <a:latin typeface="Times New Roman" panose="02020603050405020304" pitchFamily="18" charset="0"/>
                <a:cs typeface="Times New Roman" panose="02020603050405020304" pitchFamily="18" charset="0"/>
              </a:rPr>
              <a:t>n’ </a:t>
            </a:r>
            <a:r>
              <a:rPr lang="en-US" sz="1600" dirty="0">
                <a:latin typeface="Times New Roman" panose="02020603050405020304" pitchFamily="18" charset="0"/>
                <a:cs typeface="Times New Roman" panose="02020603050405020304" pitchFamily="18" charset="0"/>
              </a:rPr>
              <a:t>: h(n) ≤ c(n, a, </a:t>
            </a:r>
            <a:r>
              <a:rPr lang="en-US" sz="1600" dirty="0" smtClean="0">
                <a:latin typeface="Times New Roman" panose="02020603050405020304" pitchFamily="18" charset="0"/>
                <a:cs typeface="Times New Roman" panose="02020603050405020304" pitchFamily="18" charset="0"/>
              </a:rPr>
              <a:t>n’) </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h(n’ </a:t>
            </a:r>
            <a:r>
              <a:rPr lang="en-US"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v"/>
            </a:pPr>
            <a:r>
              <a:rPr lang="en-US" sz="1600" dirty="0" smtClean="0">
                <a:latin typeface="Times New Roman" panose="02020603050405020304" pitchFamily="18" charset="0"/>
                <a:cs typeface="Times New Roman" panose="02020603050405020304" pitchFamily="18" charset="0"/>
              </a:rPr>
              <a:t>This is a form of the general </a:t>
            </a:r>
            <a:r>
              <a:rPr lang="en-US" sz="1600" i="1" dirty="0" smtClean="0">
                <a:latin typeface="Times New Roman" panose="02020603050405020304" pitchFamily="18" charset="0"/>
                <a:cs typeface="Times New Roman" panose="02020603050405020304" pitchFamily="18" charset="0"/>
              </a:rPr>
              <a:t>triangle inequality</a:t>
            </a:r>
            <a:r>
              <a:rPr lang="en-US" sz="1600" dirty="0" smtClean="0">
                <a:latin typeface="Times New Roman" panose="02020603050405020304" pitchFamily="18" charset="0"/>
                <a:cs typeface="Times New Roman" panose="02020603050405020304" pitchFamily="18" charset="0"/>
              </a:rPr>
              <a:t>, which stipulates that each side of a triangle cannot be longer than the sum of the other two sides.</a:t>
            </a:r>
            <a:endParaRPr lang="en-US" sz="1600" dirty="0">
              <a:latin typeface="Times New Roman" panose="02020603050405020304" pitchFamily="18" charset="0"/>
              <a:cs typeface="Times New Roman" panose="02020603050405020304" pitchFamily="18" charset="0"/>
            </a:endParaRPr>
          </a:p>
        </p:txBody>
      </p:sp>
      <p:pic>
        <p:nvPicPr>
          <p:cNvPr id="1028" name="Picture 4"/>
          <p:cNvPicPr>
            <a:picLocks noChangeAspect="1" noChangeArrowheads="1"/>
          </p:cNvPicPr>
          <p:nvPr/>
        </p:nvPicPr>
        <p:blipFill>
          <a:blip r:embed="rId2"/>
          <a:srcRect/>
          <a:stretch>
            <a:fillRect/>
          </a:stretch>
        </p:blipFill>
        <p:spPr bwMode="auto">
          <a:xfrm>
            <a:off x="7693742" y="1268362"/>
            <a:ext cx="3839497" cy="2109019"/>
          </a:xfrm>
          <a:prstGeom prst="rect">
            <a:avLst/>
          </a:prstGeom>
          <a:noFill/>
          <a:ln w="9525">
            <a:noFill/>
            <a:miter lim="800000"/>
            <a:headEnd/>
            <a:tailEnd/>
          </a:ln>
          <a:effectLst/>
        </p:spPr>
      </p:pic>
      <p:pic>
        <p:nvPicPr>
          <p:cNvPr id="1029" name="Picture 5"/>
          <p:cNvPicPr>
            <a:picLocks noGrp="1" noChangeAspect="1" noChangeArrowheads="1"/>
          </p:cNvPicPr>
          <p:nvPr>
            <p:ph sz="half" idx="2"/>
          </p:nvPr>
        </p:nvPicPr>
        <p:blipFill>
          <a:blip r:embed="rId3"/>
          <a:srcRect/>
          <a:stretch>
            <a:fillRect/>
          </a:stretch>
        </p:blipFill>
        <p:spPr bwMode="auto">
          <a:xfrm>
            <a:off x="8191705" y="3367830"/>
            <a:ext cx="2447925" cy="476250"/>
          </a:xfrm>
          <a:prstGeom prst="rect">
            <a:avLst/>
          </a:prstGeom>
          <a:noFill/>
          <a:ln w="9525">
            <a:noFill/>
            <a:miter lim="800000"/>
            <a:headEnd/>
            <a:tailEnd/>
          </a:ln>
          <a:effectLst/>
        </p:spPr>
      </p:pic>
    </p:spTree>
    <p:extLst>
      <p:ext uri="{BB962C8B-B14F-4D97-AF65-F5344CB8AC3E}">
        <p14:creationId xmlns:p14="http://schemas.microsoft.com/office/powerpoint/2010/main" xmlns="" val="16837395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836" y="138545"/>
            <a:ext cx="10515600" cy="429492"/>
          </a:xfrm>
        </p:spPr>
        <p:txBody>
          <a:bodyPr>
            <a:noAutofit/>
          </a:bodyPr>
          <a:lstStyle/>
          <a:p>
            <a:r>
              <a:rPr lang="en-US" sz="2800" dirty="0" smtClean="0">
                <a:solidFill>
                  <a:srgbClr val="00B050"/>
                </a:solidFill>
                <a:latin typeface="Times New Roman" panose="02020603050405020304" pitchFamily="18" charset="0"/>
                <a:cs typeface="Times New Roman" panose="02020603050405020304" pitchFamily="18" charset="0"/>
              </a:rPr>
              <a:t>Search</a:t>
            </a:r>
            <a:r>
              <a:rPr lang="en-US" sz="2800" dirty="0" smtClean="0">
                <a:latin typeface="Times New Roman" panose="02020603050405020304" pitchFamily="18" charset="0"/>
                <a:cs typeface="Times New Roman" panose="02020603050405020304" pitchFamily="18" charset="0"/>
              </a:rPr>
              <a:t> </a:t>
            </a:r>
            <a:r>
              <a:rPr lang="en-US" sz="2800" dirty="0" smtClean="0">
                <a:solidFill>
                  <a:srgbClr val="00B050"/>
                </a:solidFill>
                <a:latin typeface="Times New Roman" panose="02020603050405020304" pitchFamily="18" charset="0"/>
                <a:cs typeface="Times New Roman" panose="02020603050405020304" pitchFamily="18" charset="0"/>
              </a:rPr>
              <a:t>Contours</a:t>
            </a:r>
            <a:endParaRPr lang="en-US" sz="2800"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1836" y="568037"/>
            <a:ext cx="11436927" cy="4583690"/>
          </a:xfrm>
        </p:spPr>
        <p:txBody>
          <a:bodyPr/>
          <a:lstStyle/>
          <a:p>
            <a:pPr algn="just">
              <a:lnSpc>
                <a:spcPct val="150000"/>
              </a:lnSpc>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f-costs are </a:t>
            </a:r>
            <a:r>
              <a:rPr lang="en-US" sz="1800" dirty="0" smtClean="0">
                <a:latin typeface="Times New Roman" panose="02020603050405020304" pitchFamily="18" charset="0"/>
                <a:cs typeface="Times New Roman" panose="02020603050405020304" pitchFamily="18" charset="0"/>
              </a:rPr>
              <a:t>non-decreasing </a:t>
            </a:r>
            <a:r>
              <a:rPr lang="en-US" sz="1800" dirty="0">
                <a:latin typeface="Times New Roman" panose="02020603050405020304" pitchFamily="18" charset="0"/>
                <a:cs typeface="Times New Roman" panose="02020603050405020304" pitchFamily="18" charset="0"/>
              </a:rPr>
              <a:t>along any path also means that we can </a:t>
            </a:r>
            <a:r>
              <a:rPr lang="en-US" sz="1800" dirty="0" smtClean="0">
                <a:latin typeface="Times New Roman" panose="02020603050405020304" pitchFamily="18" charset="0"/>
                <a:cs typeface="Times New Roman" panose="02020603050405020304" pitchFamily="18" charset="0"/>
              </a:rPr>
              <a:t>draw </a:t>
            </a:r>
            <a:r>
              <a:rPr lang="en-US" sz="1800" b="1" dirty="0" smtClean="0">
                <a:latin typeface="Times New Roman" panose="02020603050405020304" pitchFamily="18" charset="0"/>
                <a:cs typeface="Times New Roman" panose="02020603050405020304" pitchFamily="18" charset="0"/>
              </a:rPr>
              <a:t>contours </a:t>
            </a:r>
            <a:r>
              <a:rPr lang="en-US" sz="1800" dirty="0">
                <a:latin typeface="Times New Roman" panose="02020603050405020304" pitchFamily="18" charset="0"/>
                <a:cs typeface="Times New Roman" panose="02020603050405020304" pitchFamily="18" charset="0"/>
              </a:rPr>
              <a:t>in the state </a:t>
            </a:r>
            <a:r>
              <a:rPr lang="en-US" sz="1800" dirty="0" smtClean="0">
                <a:latin typeface="Times New Roman" panose="02020603050405020304" pitchFamily="18" charset="0"/>
                <a:cs typeface="Times New Roman" panose="02020603050405020304" pitchFamily="18" charset="0"/>
              </a:rPr>
              <a:t>space, just </a:t>
            </a:r>
            <a:r>
              <a:rPr lang="en-US" sz="1800" dirty="0">
                <a:latin typeface="Times New Roman" panose="02020603050405020304" pitchFamily="18" charset="0"/>
                <a:cs typeface="Times New Roman" panose="02020603050405020304" pitchFamily="18" charset="0"/>
              </a:rPr>
              <a:t>like the contours CONTOUR in a topographic </a:t>
            </a:r>
            <a:r>
              <a:rPr lang="en-US" sz="1800" dirty="0" smtClean="0">
                <a:latin typeface="Times New Roman" panose="02020603050405020304" pitchFamily="18" charset="0"/>
                <a:cs typeface="Times New Roman" panose="02020603050405020304" pitchFamily="18" charset="0"/>
              </a:rPr>
              <a:t>map.</a:t>
            </a:r>
          </a:p>
          <a:p>
            <a:pPr algn="just">
              <a:lnSpc>
                <a:spcPct val="15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We can also form contours in Uniform cost search also but with </a:t>
            </a:r>
            <a:r>
              <a:rPr lang="en-US" sz="1800" i="1" dirty="0" smtClean="0">
                <a:latin typeface="Times New Roman" panose="02020603050405020304" pitchFamily="18" charset="0"/>
                <a:cs typeface="Times New Roman" panose="02020603050405020304" pitchFamily="18" charset="0"/>
              </a:rPr>
              <a:t>g</a:t>
            </a:r>
            <a:r>
              <a:rPr lang="en-US" sz="1800" dirty="0" smtClean="0">
                <a:latin typeface="Times New Roman" panose="02020603050405020304" pitchFamily="18" charset="0"/>
                <a:cs typeface="Times New Roman" panose="02020603050405020304" pitchFamily="18" charset="0"/>
              </a:rPr>
              <a:t> not with </a:t>
            </a:r>
            <a:r>
              <a:rPr lang="en-US" sz="1800" i="1" dirty="0" err="1" smtClean="0">
                <a:latin typeface="Times New Roman" panose="02020603050405020304" pitchFamily="18" charset="0"/>
                <a:cs typeface="Times New Roman" panose="02020603050405020304" pitchFamily="18" charset="0"/>
              </a:rPr>
              <a:t>h+g</a:t>
            </a:r>
            <a:r>
              <a:rPr lang="en-US" sz="1800" i="1" dirty="0" smtClean="0">
                <a:latin typeface="Times New Roman" panose="02020603050405020304" pitchFamily="18" charset="0"/>
                <a:cs typeface="Times New Roman" panose="02020603050405020304" pitchFamily="18" charset="0"/>
              </a:rPr>
              <a:t>. g costs are monotonic , the path cost always increases as we go along the path because g costs are always positive.</a:t>
            </a:r>
          </a:p>
          <a:p>
            <a:pPr algn="just">
              <a:lnSpc>
                <a:spcPct val="150000"/>
              </a:lnSpc>
              <a:buFont typeface="Wingdings" panose="05000000000000000000" pitchFamily="2" charset="2"/>
              <a:buChar char="v"/>
            </a:pP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Inside the contour labeled 400, all nodes have f(n) less than or equal to </a:t>
            </a:r>
            <a:r>
              <a:rPr lang="en-US" sz="1800" dirty="0" smtClean="0">
                <a:latin typeface="Times New Roman" panose="02020603050405020304" pitchFamily="18" charset="0"/>
                <a:cs typeface="Times New Roman" panose="02020603050405020304" pitchFamily="18" charset="0"/>
              </a:rPr>
              <a:t>400,and </a:t>
            </a:r>
            <a:r>
              <a:rPr lang="en-US" sz="1800" dirty="0">
                <a:latin typeface="Times New Roman" panose="02020603050405020304" pitchFamily="18" charset="0"/>
                <a:cs typeface="Times New Roman" panose="02020603050405020304" pitchFamily="18" charset="0"/>
              </a:rPr>
              <a:t>so on</a:t>
            </a:r>
            <a:r>
              <a:rPr lang="en-US" sz="1800"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rotWithShape="1">
          <a:blip r:embed="rId2"/>
          <a:srcRect l="17842" t="21117" r="23593" b="13352"/>
          <a:stretch/>
        </p:blipFill>
        <p:spPr>
          <a:xfrm>
            <a:off x="3999256" y="2964873"/>
            <a:ext cx="8192744" cy="3893126"/>
          </a:xfrm>
          <a:prstGeom prst="rect">
            <a:avLst/>
          </a:prstGeom>
        </p:spPr>
      </p:pic>
    </p:spTree>
    <p:extLst>
      <p:ext uri="{BB962C8B-B14F-4D97-AF65-F5344CB8AC3E}">
        <p14:creationId xmlns:p14="http://schemas.microsoft.com/office/powerpoint/2010/main" xmlns="" val="27978965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943" y="167950"/>
            <a:ext cx="11896530" cy="6596743"/>
          </a:xfrm>
        </p:spPr>
        <p:txBody>
          <a:bodyPr/>
          <a:lstStyle/>
          <a:p>
            <a:pPr marL="0" indent="0">
              <a:buNone/>
            </a:pPr>
            <a:endParaRPr lang="en-IN" dirty="0"/>
          </a:p>
        </p:txBody>
      </p:sp>
      <p:pic>
        <p:nvPicPr>
          <p:cNvPr id="4" name="Content Placeholder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95942" y="113068"/>
            <a:ext cx="11812555" cy="6651625"/>
          </a:xfrm>
          <a:prstGeom prst="rect">
            <a:avLst/>
          </a:prstGeom>
        </p:spPr>
      </p:pic>
    </p:spTree>
    <p:extLst>
      <p:ext uri="{BB962C8B-B14F-4D97-AF65-F5344CB8AC3E}">
        <p14:creationId xmlns:p14="http://schemas.microsoft.com/office/powerpoint/2010/main" xmlns="" val="206988493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112713" y="68008"/>
            <a:ext cx="12079287" cy="5334415"/>
          </a:xfrm>
        </p:spPr>
      </p:pic>
    </p:spTree>
    <p:extLst>
      <p:ext uri="{BB962C8B-B14F-4D97-AF65-F5344CB8AC3E}">
        <p14:creationId xmlns:p14="http://schemas.microsoft.com/office/powerpoint/2010/main" xmlns="" val="356773256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764" y="304800"/>
            <a:ext cx="10952018" cy="263236"/>
          </a:xfrm>
        </p:spPr>
        <p:txBody>
          <a:bodyPr>
            <a:noAutofit/>
          </a:bodyPr>
          <a:lstStyle/>
          <a:p>
            <a:r>
              <a:rPr lang="en-US" sz="2800" dirty="0">
                <a:solidFill>
                  <a:srgbClr val="00B050"/>
                </a:solidFill>
                <a:latin typeface="Times New Roman" panose="02020603050405020304" pitchFamily="18" charset="0"/>
                <a:cs typeface="Times New Roman" panose="02020603050405020304" pitchFamily="18" charset="0"/>
              </a:rPr>
              <a:t>Memory-bounded heuristic search</a:t>
            </a:r>
          </a:p>
        </p:txBody>
      </p:sp>
      <p:sp>
        <p:nvSpPr>
          <p:cNvPr id="3" name="Content Placeholder 2"/>
          <p:cNvSpPr>
            <a:spLocks noGrp="1"/>
          </p:cNvSpPr>
          <p:nvPr>
            <p:ph idx="1"/>
          </p:nvPr>
        </p:nvSpPr>
        <p:spPr>
          <a:xfrm>
            <a:off x="498764" y="665018"/>
            <a:ext cx="11333018" cy="5985164"/>
          </a:xfrm>
        </p:spPr>
        <p:txBody>
          <a:bodyPr>
            <a:normAutofit lnSpcReduction="10000"/>
          </a:bodyPr>
          <a:lstStyle/>
          <a:p>
            <a:pPr algn="just">
              <a:lnSpc>
                <a:spcPct val="150000"/>
              </a:lnSpc>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The simplest way to reduce memory requirements for A∗ is to adapt the idea of </a:t>
            </a:r>
            <a:r>
              <a:rPr lang="en-US" sz="2200" dirty="0" smtClean="0">
                <a:latin typeface="Times New Roman" panose="02020603050405020304" pitchFamily="18" charset="0"/>
                <a:cs typeface="Times New Roman" panose="02020603050405020304" pitchFamily="18" charset="0"/>
              </a:rPr>
              <a:t>iterative deepening </a:t>
            </a:r>
            <a:r>
              <a:rPr lang="en-US" sz="2200" dirty="0">
                <a:latin typeface="Times New Roman" panose="02020603050405020304" pitchFamily="18" charset="0"/>
                <a:cs typeface="Times New Roman" panose="02020603050405020304" pitchFamily="18" charset="0"/>
              </a:rPr>
              <a:t>to the heuristic search context, resulting in the </a:t>
            </a:r>
            <a:r>
              <a:rPr lang="en-US" sz="2200" b="1" dirty="0" smtClean="0">
                <a:latin typeface="Times New Roman" panose="02020603050405020304" pitchFamily="18" charset="0"/>
                <a:cs typeface="Times New Roman" panose="02020603050405020304" pitchFamily="18" charset="0"/>
              </a:rPr>
              <a:t>Iterative-Deepening </a:t>
            </a:r>
            <a:r>
              <a:rPr lang="en-US" sz="2200" b="1" dirty="0">
                <a:latin typeface="Times New Roman" panose="02020603050405020304" pitchFamily="18" charset="0"/>
                <a:cs typeface="Times New Roman" panose="02020603050405020304" pitchFamily="18" charset="0"/>
              </a:rPr>
              <a:t>A</a:t>
            </a:r>
            <a:r>
              <a:rPr lang="en-US" sz="2200" dirty="0">
                <a:latin typeface="Times New Roman" panose="02020603050405020304" pitchFamily="18" charset="0"/>
                <a:cs typeface="Times New Roman" panose="02020603050405020304" pitchFamily="18" charset="0"/>
              </a:rPr>
              <a:t>∗ (IDA∗) </a:t>
            </a:r>
            <a:r>
              <a:rPr lang="en-US" sz="2200" dirty="0" smtClean="0">
                <a:latin typeface="Times New Roman" panose="02020603050405020304" pitchFamily="18" charset="0"/>
                <a:cs typeface="Times New Roman" panose="02020603050405020304" pitchFamily="18" charset="0"/>
              </a:rPr>
              <a:t>algorithm</a:t>
            </a:r>
            <a:r>
              <a:rPr lang="en-US"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main difference between IDA∗ and standard iterative deepening is that the </a:t>
            </a:r>
            <a:r>
              <a:rPr lang="en-US" sz="2200" dirty="0" smtClean="0">
                <a:latin typeface="Times New Roman" panose="02020603050405020304" pitchFamily="18" charset="0"/>
                <a:cs typeface="Times New Roman" panose="02020603050405020304" pitchFamily="18" charset="0"/>
              </a:rPr>
              <a:t>cutoff used </a:t>
            </a:r>
            <a:r>
              <a:rPr lang="en-US" sz="2200" dirty="0">
                <a:latin typeface="Times New Roman" panose="02020603050405020304" pitchFamily="18" charset="0"/>
                <a:cs typeface="Times New Roman" panose="02020603050405020304" pitchFamily="18" charset="0"/>
              </a:rPr>
              <a:t>is the f-cost (</a:t>
            </a:r>
            <a:r>
              <a:rPr lang="en-US" sz="2200" dirty="0" err="1">
                <a:latin typeface="Times New Roman" panose="02020603050405020304" pitchFamily="18" charset="0"/>
                <a:cs typeface="Times New Roman" panose="02020603050405020304" pitchFamily="18" charset="0"/>
              </a:rPr>
              <a:t>g+h</a:t>
            </a:r>
            <a:r>
              <a:rPr lang="en-US" sz="2200" dirty="0">
                <a:latin typeface="Times New Roman" panose="02020603050405020304" pitchFamily="18" charset="0"/>
                <a:cs typeface="Times New Roman" panose="02020603050405020304" pitchFamily="18" charset="0"/>
              </a:rPr>
              <a:t>) rather than the </a:t>
            </a:r>
            <a:r>
              <a:rPr lang="en-US" sz="2200" dirty="0" smtClean="0">
                <a:latin typeface="Times New Roman" panose="02020603050405020304" pitchFamily="18" charset="0"/>
                <a:cs typeface="Times New Roman" panose="02020603050405020304" pitchFamily="18" charset="0"/>
              </a:rPr>
              <a:t>depth.</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a:t>
            </a:r>
            <a:r>
              <a:rPr lang="en-US" sz="2200" dirty="0" smtClean="0">
                <a:latin typeface="Times New Roman" panose="02020603050405020304" pitchFamily="18" charset="0"/>
                <a:cs typeface="Times New Roman" panose="02020603050405020304" pitchFamily="18" charset="0"/>
              </a:rPr>
              <a:t>t </a:t>
            </a:r>
            <a:r>
              <a:rPr lang="en-US" sz="2200" dirty="0">
                <a:latin typeface="Times New Roman" panose="02020603050405020304" pitchFamily="18" charset="0"/>
                <a:cs typeface="Times New Roman" panose="02020603050405020304" pitchFamily="18" charset="0"/>
              </a:rPr>
              <a:t>each iteration, the cutoff value is the </a:t>
            </a:r>
            <a:r>
              <a:rPr lang="en-US" sz="2200" dirty="0" smtClean="0">
                <a:latin typeface="Times New Roman" panose="02020603050405020304" pitchFamily="18" charset="0"/>
                <a:cs typeface="Times New Roman" panose="02020603050405020304" pitchFamily="18" charset="0"/>
              </a:rPr>
              <a:t>smallest f-cost </a:t>
            </a:r>
            <a:r>
              <a:rPr lang="en-US" sz="2200" dirty="0">
                <a:latin typeface="Times New Roman" panose="02020603050405020304" pitchFamily="18" charset="0"/>
                <a:cs typeface="Times New Roman" panose="02020603050405020304" pitchFamily="18" charset="0"/>
              </a:rPr>
              <a:t>of any node that exceeded the cutoff on the previous </a:t>
            </a:r>
            <a:r>
              <a:rPr lang="en-US" sz="2200" dirty="0" smtClean="0">
                <a:latin typeface="Times New Roman" panose="02020603050405020304" pitchFamily="18" charset="0"/>
                <a:cs typeface="Times New Roman" panose="02020603050405020304" pitchFamily="18" charset="0"/>
              </a:rPr>
              <a:t>iteration.</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IDA</a:t>
            </a:r>
            <a:r>
              <a:rPr lang="en-US" sz="2200" dirty="0">
                <a:latin typeface="Times New Roman" panose="02020603050405020304" pitchFamily="18" charset="0"/>
                <a:cs typeface="Times New Roman" panose="02020603050405020304" pitchFamily="18" charset="0"/>
              </a:rPr>
              <a:t>∗ is </a:t>
            </a:r>
            <a:r>
              <a:rPr lang="en-US" sz="2200" dirty="0" smtClean="0">
                <a:latin typeface="Times New Roman" panose="02020603050405020304" pitchFamily="18" charset="0"/>
                <a:cs typeface="Times New Roman" panose="02020603050405020304" pitchFamily="18" charset="0"/>
              </a:rPr>
              <a:t>practical for </a:t>
            </a:r>
            <a:r>
              <a:rPr lang="en-US" sz="2200" dirty="0">
                <a:latin typeface="Times New Roman" panose="02020603050405020304" pitchFamily="18" charset="0"/>
                <a:cs typeface="Times New Roman" panose="02020603050405020304" pitchFamily="18" charset="0"/>
              </a:rPr>
              <a:t>many problems with unit step costs and avoids the substantial overhead associated </a:t>
            </a:r>
            <a:r>
              <a:rPr lang="en-US" sz="2200" dirty="0" smtClean="0">
                <a:latin typeface="Times New Roman" panose="02020603050405020304" pitchFamily="18" charset="0"/>
                <a:cs typeface="Times New Roman" panose="02020603050405020304" pitchFamily="18" charset="0"/>
              </a:rPr>
              <a:t>with keeping </a:t>
            </a:r>
            <a:r>
              <a:rPr lang="en-US" sz="2200" dirty="0">
                <a:latin typeface="Times New Roman" panose="02020603050405020304" pitchFamily="18" charset="0"/>
                <a:cs typeface="Times New Roman" panose="02020603050405020304" pitchFamily="18" charset="0"/>
              </a:rPr>
              <a:t>a sorted queue of </a:t>
            </a:r>
            <a:r>
              <a:rPr lang="en-US" sz="2200" dirty="0" smtClean="0">
                <a:latin typeface="Times New Roman" panose="02020603050405020304" pitchFamily="18" charset="0"/>
                <a:cs typeface="Times New Roman" panose="02020603050405020304" pitchFamily="18" charset="0"/>
              </a:rPr>
              <a:t>nodes.</a:t>
            </a: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Unfortunately</a:t>
            </a:r>
            <a:r>
              <a:rPr lang="en-US" sz="2200" dirty="0">
                <a:latin typeface="Times New Roman" panose="02020603050405020304" pitchFamily="18" charset="0"/>
                <a:cs typeface="Times New Roman" panose="02020603050405020304" pitchFamily="18" charset="0"/>
              </a:rPr>
              <a:t>, it suffers from the same difficulties with </a:t>
            </a:r>
            <a:r>
              <a:rPr lang="en-US" sz="2200" dirty="0" smtClean="0">
                <a:latin typeface="Times New Roman" panose="02020603050405020304" pitchFamily="18" charset="0"/>
                <a:cs typeface="Times New Roman" panose="02020603050405020304" pitchFamily="18" charset="0"/>
              </a:rPr>
              <a:t>real valued</a:t>
            </a: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costs.</a:t>
            </a:r>
            <a:endParaRPr lang="en-US" sz="22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200" dirty="0" smtClean="0">
                <a:latin typeface="Times New Roman" panose="02020603050405020304" pitchFamily="18" charset="0"/>
                <a:cs typeface="Times New Roman" panose="02020603050405020304" pitchFamily="18" charset="0"/>
              </a:rPr>
              <a:t>There are two </a:t>
            </a:r>
            <a:r>
              <a:rPr lang="en-US" sz="2200" dirty="0">
                <a:latin typeface="Times New Roman" panose="02020603050405020304" pitchFamily="18" charset="0"/>
                <a:cs typeface="Times New Roman" panose="02020603050405020304" pitchFamily="18" charset="0"/>
              </a:rPr>
              <a:t>other memory-bounded algorithms, called RBFS and </a:t>
            </a:r>
            <a:r>
              <a:rPr lang="en-US" sz="2200" dirty="0" smtClean="0">
                <a:latin typeface="Times New Roman" panose="02020603050405020304" pitchFamily="18" charset="0"/>
                <a:cs typeface="Times New Roman" panose="02020603050405020304" pitchFamily="18" charset="0"/>
              </a:rPr>
              <a:t>MA.</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28027931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764" y="235527"/>
            <a:ext cx="10855036" cy="568037"/>
          </a:xfrm>
        </p:spPr>
        <p:txBody>
          <a:bodyPr>
            <a:normAutofit/>
          </a:bodyPr>
          <a:lstStyle/>
          <a:p>
            <a:r>
              <a:rPr lang="en-US" sz="2800" dirty="0">
                <a:solidFill>
                  <a:srgbClr val="00B050"/>
                </a:solidFill>
                <a:latin typeface="Times New Roman" panose="02020603050405020304" pitchFamily="18" charset="0"/>
                <a:cs typeface="Times New Roman" panose="02020603050405020304" pitchFamily="18" charset="0"/>
              </a:rPr>
              <a:t>Recursive best-first search (RBFS)</a:t>
            </a:r>
          </a:p>
        </p:txBody>
      </p:sp>
      <p:sp>
        <p:nvSpPr>
          <p:cNvPr id="3" name="Content Placeholder 2"/>
          <p:cNvSpPr>
            <a:spLocks noGrp="1"/>
          </p:cNvSpPr>
          <p:nvPr>
            <p:ph idx="1"/>
          </p:nvPr>
        </p:nvSpPr>
        <p:spPr>
          <a:xfrm>
            <a:off x="498764" y="942108"/>
            <a:ext cx="11139054" cy="5611091"/>
          </a:xfrm>
        </p:spPr>
        <p:txBody>
          <a:bodyPr>
            <a:noAutofit/>
          </a:bodyPr>
          <a:lstStyle/>
          <a:p>
            <a:pPr algn="just">
              <a:lnSpc>
                <a:spcPct val="150000"/>
              </a:lnSpc>
              <a:buFont typeface="Wingdings" panose="05000000000000000000" pitchFamily="2" charset="2"/>
              <a:buChar char="v"/>
            </a:pPr>
            <a:r>
              <a:rPr lang="en-US" sz="2300" dirty="0">
                <a:latin typeface="Times New Roman" panose="02020603050405020304" pitchFamily="18" charset="0"/>
                <a:cs typeface="Times New Roman" panose="02020603050405020304" pitchFamily="18" charset="0"/>
              </a:rPr>
              <a:t>Its structure is similar to that of a recursive depth-first </a:t>
            </a:r>
            <a:r>
              <a:rPr lang="en-US" sz="2300" dirty="0" smtClean="0">
                <a:latin typeface="Times New Roman" panose="02020603050405020304" pitchFamily="18" charset="0"/>
                <a:cs typeface="Times New Roman" panose="02020603050405020304" pitchFamily="18" charset="0"/>
              </a:rPr>
              <a:t>search, but rather </a:t>
            </a:r>
            <a:r>
              <a:rPr lang="en-US" sz="2300" dirty="0">
                <a:latin typeface="Times New Roman" panose="02020603050405020304" pitchFamily="18" charset="0"/>
                <a:cs typeface="Times New Roman" panose="02020603050405020304" pitchFamily="18" charset="0"/>
              </a:rPr>
              <a:t>than continuing indefinitely down the current path, it uses the f limit variable to </a:t>
            </a:r>
            <a:r>
              <a:rPr lang="en-US" sz="2300" dirty="0" smtClean="0">
                <a:latin typeface="Times New Roman" panose="02020603050405020304" pitchFamily="18" charset="0"/>
                <a:cs typeface="Times New Roman" panose="02020603050405020304" pitchFamily="18" charset="0"/>
              </a:rPr>
              <a:t>keep track </a:t>
            </a:r>
            <a:r>
              <a:rPr lang="en-US" sz="2300" dirty="0">
                <a:latin typeface="Times New Roman" panose="02020603050405020304" pitchFamily="18" charset="0"/>
                <a:cs typeface="Times New Roman" panose="02020603050405020304" pitchFamily="18" charset="0"/>
              </a:rPr>
              <a:t>of the f-value of the best </a:t>
            </a:r>
            <a:r>
              <a:rPr lang="en-US" sz="2300" i="1" dirty="0">
                <a:latin typeface="Times New Roman" panose="02020603050405020304" pitchFamily="18" charset="0"/>
                <a:cs typeface="Times New Roman" panose="02020603050405020304" pitchFamily="18" charset="0"/>
              </a:rPr>
              <a:t>alternative </a:t>
            </a:r>
            <a:r>
              <a:rPr lang="en-US" sz="2300" dirty="0">
                <a:latin typeface="Times New Roman" panose="02020603050405020304" pitchFamily="18" charset="0"/>
                <a:cs typeface="Times New Roman" panose="02020603050405020304" pitchFamily="18" charset="0"/>
              </a:rPr>
              <a:t>path available from any ancestor of the </a:t>
            </a:r>
            <a:r>
              <a:rPr lang="en-US" sz="2300" dirty="0" smtClean="0">
                <a:latin typeface="Times New Roman" panose="02020603050405020304" pitchFamily="18" charset="0"/>
                <a:cs typeface="Times New Roman" panose="02020603050405020304" pitchFamily="18" charset="0"/>
              </a:rPr>
              <a:t>current node</a:t>
            </a:r>
            <a:r>
              <a:rPr lang="en-US" sz="2300" dirty="0">
                <a:latin typeface="Times New Roman" panose="02020603050405020304" pitchFamily="18" charset="0"/>
                <a:cs typeface="Times New Roman" panose="02020603050405020304" pitchFamily="18" charset="0"/>
              </a:rPr>
              <a:t>. </a:t>
            </a:r>
            <a:endParaRPr lang="en-US" sz="23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300" dirty="0" smtClean="0">
                <a:latin typeface="Times New Roman" panose="02020603050405020304" pitchFamily="18" charset="0"/>
                <a:cs typeface="Times New Roman" panose="02020603050405020304" pitchFamily="18" charset="0"/>
              </a:rPr>
              <a:t>If </a:t>
            </a:r>
            <a:r>
              <a:rPr lang="en-US" sz="2300" dirty="0">
                <a:latin typeface="Times New Roman" panose="02020603050405020304" pitchFamily="18" charset="0"/>
                <a:cs typeface="Times New Roman" panose="02020603050405020304" pitchFamily="18" charset="0"/>
              </a:rPr>
              <a:t>the current node exceeds this limit, the recursion unwinds back to the </a:t>
            </a:r>
            <a:r>
              <a:rPr lang="en-US" sz="2300" dirty="0" smtClean="0">
                <a:latin typeface="Times New Roman" panose="02020603050405020304" pitchFamily="18" charset="0"/>
                <a:cs typeface="Times New Roman" panose="02020603050405020304" pitchFamily="18" charset="0"/>
              </a:rPr>
              <a:t>alternative path</a:t>
            </a:r>
            <a:r>
              <a:rPr lang="en-US" sz="2300" dirty="0">
                <a:latin typeface="Times New Roman" panose="02020603050405020304" pitchFamily="18" charset="0"/>
                <a:cs typeface="Times New Roman" panose="02020603050405020304" pitchFamily="18" charset="0"/>
              </a:rPr>
              <a:t>. </a:t>
            </a:r>
            <a:endParaRPr lang="en-US" sz="23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300" dirty="0" smtClean="0">
                <a:latin typeface="Times New Roman" panose="02020603050405020304" pitchFamily="18" charset="0"/>
                <a:cs typeface="Times New Roman" panose="02020603050405020304" pitchFamily="18" charset="0"/>
              </a:rPr>
              <a:t>As </a:t>
            </a:r>
            <a:r>
              <a:rPr lang="en-US" sz="2300" dirty="0">
                <a:latin typeface="Times New Roman" panose="02020603050405020304" pitchFamily="18" charset="0"/>
                <a:cs typeface="Times New Roman" panose="02020603050405020304" pitchFamily="18" charset="0"/>
              </a:rPr>
              <a:t>the recursion unwinds, RBFS replaces the f-value of each node along the </a:t>
            </a:r>
            <a:r>
              <a:rPr lang="en-US" sz="2300" dirty="0" smtClean="0">
                <a:latin typeface="Times New Roman" panose="02020603050405020304" pitchFamily="18" charset="0"/>
                <a:cs typeface="Times New Roman" panose="02020603050405020304" pitchFamily="18" charset="0"/>
              </a:rPr>
              <a:t>path with </a:t>
            </a:r>
            <a:r>
              <a:rPr lang="en-US" sz="2300" dirty="0">
                <a:latin typeface="Times New Roman" panose="02020603050405020304" pitchFamily="18" charset="0"/>
                <a:cs typeface="Times New Roman" panose="02020603050405020304" pitchFamily="18" charset="0"/>
              </a:rPr>
              <a:t>a </a:t>
            </a:r>
            <a:r>
              <a:rPr lang="en-US" sz="2300" b="1" dirty="0">
                <a:latin typeface="Times New Roman" panose="02020603050405020304" pitchFamily="18" charset="0"/>
                <a:cs typeface="Times New Roman" panose="02020603050405020304" pitchFamily="18" charset="0"/>
              </a:rPr>
              <a:t>backed-up value</a:t>
            </a:r>
            <a:r>
              <a:rPr lang="en-US" sz="2300" dirty="0">
                <a:latin typeface="Times New Roman" panose="02020603050405020304" pitchFamily="18" charset="0"/>
                <a:cs typeface="Times New Roman" panose="02020603050405020304" pitchFamily="18" charset="0"/>
              </a:rPr>
              <a:t>—the best f-value of its children. </a:t>
            </a:r>
            <a:endParaRPr lang="en-US" sz="23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300" dirty="0" smtClean="0">
                <a:latin typeface="Times New Roman" panose="02020603050405020304" pitchFamily="18" charset="0"/>
                <a:cs typeface="Times New Roman" panose="02020603050405020304" pitchFamily="18" charset="0"/>
              </a:rPr>
              <a:t>In </a:t>
            </a:r>
            <a:r>
              <a:rPr lang="en-US" sz="2300" dirty="0">
                <a:latin typeface="Times New Roman" panose="02020603050405020304" pitchFamily="18" charset="0"/>
                <a:cs typeface="Times New Roman" panose="02020603050405020304" pitchFamily="18" charset="0"/>
              </a:rPr>
              <a:t>this way, RBFS remembers </a:t>
            </a:r>
            <a:r>
              <a:rPr lang="en-US" sz="2300" dirty="0" smtClean="0">
                <a:latin typeface="Times New Roman" panose="02020603050405020304" pitchFamily="18" charset="0"/>
                <a:cs typeface="Times New Roman" panose="02020603050405020304" pitchFamily="18" charset="0"/>
              </a:rPr>
              <a:t>the f-value </a:t>
            </a:r>
            <a:r>
              <a:rPr lang="en-US" sz="2300" dirty="0">
                <a:latin typeface="Times New Roman" panose="02020603050405020304" pitchFamily="18" charset="0"/>
                <a:cs typeface="Times New Roman" panose="02020603050405020304" pitchFamily="18" charset="0"/>
              </a:rPr>
              <a:t>of the best leaf in the forgotten subtree and can therefore decide whether it’s </a:t>
            </a:r>
            <a:r>
              <a:rPr lang="en-US" sz="2300" dirty="0" smtClean="0">
                <a:latin typeface="Times New Roman" panose="02020603050405020304" pitchFamily="18" charset="0"/>
                <a:cs typeface="Times New Roman" panose="02020603050405020304" pitchFamily="18" charset="0"/>
              </a:rPr>
              <a:t>worth re-expanding </a:t>
            </a:r>
            <a:r>
              <a:rPr lang="en-US" sz="2300" dirty="0">
                <a:latin typeface="Times New Roman" panose="02020603050405020304" pitchFamily="18" charset="0"/>
                <a:cs typeface="Times New Roman" panose="02020603050405020304" pitchFamily="18" charset="0"/>
              </a:rPr>
              <a:t>the subtree at some later </a:t>
            </a:r>
            <a:r>
              <a:rPr lang="en-US" sz="2300" dirty="0" smtClean="0">
                <a:latin typeface="Times New Roman" panose="02020603050405020304" pitchFamily="18" charset="0"/>
                <a:cs typeface="Times New Roman" panose="02020603050405020304" pitchFamily="18" charset="0"/>
              </a:rPr>
              <a:t>time.</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34090215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440" t="23958" r="24338" b="44413"/>
          <a:stretch/>
        </p:blipFill>
        <p:spPr>
          <a:xfrm>
            <a:off x="706582" y="457200"/>
            <a:ext cx="10654145" cy="5763491"/>
          </a:xfrm>
          <a:prstGeom prst="rect">
            <a:avLst/>
          </a:prstGeom>
        </p:spPr>
      </p:pic>
      <p:pic>
        <p:nvPicPr>
          <p:cNvPr id="3" name="Picture 2"/>
          <p:cNvPicPr>
            <a:picLocks noChangeAspect="1"/>
          </p:cNvPicPr>
          <p:nvPr/>
        </p:nvPicPr>
        <p:blipFill rotWithShape="1">
          <a:blip r:embed="rId2"/>
          <a:srcRect l="21143" t="55019" r="26467" b="12784"/>
          <a:stretch/>
        </p:blipFill>
        <p:spPr>
          <a:xfrm>
            <a:off x="706583" y="457200"/>
            <a:ext cx="10654144" cy="5902036"/>
          </a:xfrm>
          <a:prstGeom prst="rect">
            <a:avLst/>
          </a:prstGeom>
        </p:spPr>
      </p:pic>
      <p:pic>
        <p:nvPicPr>
          <p:cNvPr id="4" name="Picture 3"/>
          <p:cNvPicPr>
            <a:picLocks noChangeAspect="1"/>
          </p:cNvPicPr>
          <p:nvPr/>
        </p:nvPicPr>
        <p:blipFill rotWithShape="1">
          <a:blip r:embed="rId3"/>
          <a:srcRect l="20398" t="24337" r="26042" b="37973"/>
          <a:stretch/>
        </p:blipFill>
        <p:spPr>
          <a:xfrm>
            <a:off x="526473" y="457200"/>
            <a:ext cx="11249891" cy="5902036"/>
          </a:xfrm>
          <a:prstGeom prst="rect">
            <a:avLst/>
          </a:prstGeom>
        </p:spPr>
      </p:pic>
    </p:spTree>
    <p:extLst>
      <p:ext uri="{BB962C8B-B14F-4D97-AF65-F5344CB8AC3E}">
        <p14:creationId xmlns:p14="http://schemas.microsoft.com/office/powerpoint/2010/main" xmlns="" val="15006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35527"/>
            <a:ext cx="11055927" cy="6186309"/>
          </a:xfrm>
          <a:prstGeom prst="rect">
            <a:avLst/>
          </a:prstGeom>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t>
            </a:r>
            <a:r>
              <a:rPr lang="en-US" sz="2400" dirty="0" smtClean="0">
                <a:latin typeface="Times New Roman" panose="02020603050405020304" pitchFamily="18" charset="0"/>
                <a:cs typeface="Times New Roman" panose="02020603050405020304" pitchFamily="18" charset="0"/>
              </a:rPr>
              <a:t>f-limit value </a:t>
            </a:r>
            <a:r>
              <a:rPr lang="en-US" sz="2400" dirty="0">
                <a:latin typeface="Times New Roman" panose="02020603050405020304" pitchFamily="18" charset="0"/>
                <a:cs typeface="Times New Roman" panose="02020603050405020304" pitchFamily="18" charset="0"/>
              </a:rPr>
              <a:t>for each recursive call is shown on top of each current node, and every node is </a:t>
            </a:r>
            <a:r>
              <a:rPr lang="en-US" sz="2400" dirty="0" smtClean="0">
                <a:latin typeface="Times New Roman" panose="02020603050405020304" pitchFamily="18" charset="0"/>
                <a:cs typeface="Times New Roman" panose="02020603050405020304" pitchFamily="18" charset="0"/>
              </a:rPr>
              <a:t>labeled with </a:t>
            </a:r>
            <a:r>
              <a:rPr lang="en-US" sz="2400" dirty="0">
                <a:latin typeface="Times New Roman" panose="02020603050405020304" pitchFamily="18" charset="0"/>
                <a:cs typeface="Times New Roman" panose="02020603050405020304" pitchFamily="18" charset="0"/>
              </a:rPr>
              <a:t>its f-cost. </a:t>
            </a:r>
            <a:endParaRPr lang="en-US" sz="2400" dirty="0" smtClean="0">
              <a:latin typeface="Times New Roman" panose="02020603050405020304" pitchFamily="18" charset="0"/>
              <a:cs typeface="Times New Roman" panose="02020603050405020304" pitchFamily="18" charset="0"/>
            </a:endParaRPr>
          </a:p>
          <a:p>
            <a:pPr marL="457200" indent="-457200" algn="just">
              <a:lnSpc>
                <a:spcPct val="150000"/>
              </a:lnSpc>
              <a:buAutoNum type="alphaLcParenBoth"/>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path via </a:t>
            </a:r>
            <a:r>
              <a:rPr lang="en-US" sz="2400" dirty="0" err="1">
                <a:latin typeface="Times New Roman" panose="02020603050405020304" pitchFamily="18" charset="0"/>
                <a:cs typeface="Times New Roman" panose="02020603050405020304" pitchFamily="18" charset="0"/>
              </a:rPr>
              <a:t>Rimnicu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Vilcea</a:t>
            </a:r>
            <a:r>
              <a:rPr lang="en-US" sz="2400" dirty="0">
                <a:latin typeface="Times New Roman" panose="02020603050405020304" pitchFamily="18" charset="0"/>
                <a:cs typeface="Times New Roman" panose="02020603050405020304" pitchFamily="18" charset="0"/>
              </a:rPr>
              <a:t> is followed until the current best leaf (</a:t>
            </a:r>
            <a:r>
              <a:rPr lang="en-US" sz="2400" dirty="0" smtClean="0">
                <a:latin typeface="Times New Roman" panose="02020603050405020304" pitchFamily="18" charset="0"/>
                <a:cs typeface="Times New Roman" panose="02020603050405020304" pitchFamily="18" charset="0"/>
              </a:rPr>
              <a:t>Pitesti) has </a:t>
            </a:r>
            <a:r>
              <a:rPr lang="en-US" sz="2400" dirty="0">
                <a:latin typeface="Times New Roman" panose="02020603050405020304" pitchFamily="18" charset="0"/>
                <a:cs typeface="Times New Roman" panose="02020603050405020304" pitchFamily="18" charset="0"/>
              </a:rPr>
              <a:t>a value that is worse than the best alternative path (</a:t>
            </a:r>
            <a:r>
              <a:rPr lang="en-US" sz="2400" dirty="0" err="1">
                <a:latin typeface="Times New Roman" panose="02020603050405020304" pitchFamily="18" charset="0"/>
                <a:cs typeface="Times New Roman" panose="02020603050405020304" pitchFamily="18" charset="0"/>
              </a:rPr>
              <a:t>Fagaras</a:t>
            </a:r>
            <a:r>
              <a:rPr lang="en-US" sz="2400" dirty="0" smtClean="0">
                <a:latin typeface="Times New Roman" panose="02020603050405020304" pitchFamily="18" charset="0"/>
                <a:cs typeface="Times New Roman" panose="02020603050405020304" pitchFamily="18" charset="0"/>
              </a:rPr>
              <a:t>).</a:t>
            </a:r>
          </a:p>
          <a:p>
            <a:pPr marL="457200" indent="-457200" algn="just">
              <a:lnSpc>
                <a:spcPct val="150000"/>
              </a:lnSpc>
              <a:buAutoNum type="alphaLcParenBoth"/>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recursion </a:t>
            </a:r>
            <a:r>
              <a:rPr lang="en-US" sz="2400" dirty="0" smtClean="0">
                <a:latin typeface="Times New Roman" panose="02020603050405020304" pitchFamily="18" charset="0"/>
                <a:cs typeface="Times New Roman" panose="02020603050405020304" pitchFamily="18" charset="0"/>
              </a:rPr>
              <a:t>unwinds and </a:t>
            </a:r>
            <a:r>
              <a:rPr lang="en-US" sz="2400" dirty="0">
                <a:latin typeface="Times New Roman" panose="02020603050405020304" pitchFamily="18" charset="0"/>
                <a:cs typeface="Times New Roman" panose="02020603050405020304" pitchFamily="18" charset="0"/>
              </a:rPr>
              <a:t>the best leaf value of the forgotten subtree (417) is backed up to </a:t>
            </a:r>
            <a:r>
              <a:rPr lang="en-US" sz="2400" dirty="0" err="1">
                <a:latin typeface="Times New Roman" panose="02020603050405020304" pitchFamily="18" charset="0"/>
                <a:cs typeface="Times New Roman" panose="02020603050405020304" pitchFamily="18" charset="0"/>
              </a:rPr>
              <a:t>Rimnicu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Vilcea</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then </a:t>
            </a:r>
            <a:r>
              <a:rPr lang="en-US" sz="2400" dirty="0" err="1" smtClean="0">
                <a:latin typeface="Times New Roman" panose="02020603050405020304" pitchFamily="18" charset="0"/>
                <a:cs typeface="Times New Roman" panose="02020603050405020304" pitchFamily="18" charset="0"/>
              </a:rPr>
              <a:t>Fagaras</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expanded, revealing a best leaf value of 450. </a:t>
            </a:r>
            <a:endParaRPr lang="en-US" sz="2400" dirty="0" smtClean="0">
              <a:latin typeface="Times New Roman" panose="02020603050405020304" pitchFamily="18" charset="0"/>
              <a:cs typeface="Times New Roman" panose="02020603050405020304" pitchFamily="18" charset="0"/>
            </a:endParaRPr>
          </a:p>
          <a:p>
            <a:pPr marL="457200" indent="-457200" algn="just">
              <a:lnSpc>
                <a:spcPct val="150000"/>
              </a:lnSpc>
              <a:buAutoNum type="alphaLcParenBoth"/>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recursion unwinds and </a:t>
            </a:r>
            <a:r>
              <a:rPr lang="en-US" sz="2400" dirty="0" smtClean="0">
                <a:latin typeface="Times New Roman" panose="02020603050405020304" pitchFamily="18" charset="0"/>
                <a:cs typeface="Times New Roman" panose="02020603050405020304" pitchFamily="18" charset="0"/>
              </a:rPr>
              <a:t>the best </a:t>
            </a:r>
            <a:r>
              <a:rPr lang="en-US" sz="2400" dirty="0">
                <a:latin typeface="Times New Roman" panose="02020603050405020304" pitchFamily="18" charset="0"/>
                <a:cs typeface="Times New Roman" panose="02020603050405020304" pitchFamily="18" charset="0"/>
              </a:rPr>
              <a:t>leaf value of the forgotten subtree (450) is backed up to </a:t>
            </a:r>
            <a:r>
              <a:rPr lang="en-US" sz="2400" dirty="0" err="1">
                <a:latin typeface="Times New Roman" panose="02020603050405020304" pitchFamily="18" charset="0"/>
                <a:cs typeface="Times New Roman" panose="02020603050405020304" pitchFamily="18" charset="0"/>
              </a:rPr>
              <a:t>Fagaras</a:t>
            </a:r>
            <a:r>
              <a:rPr lang="en-US" sz="2400" dirty="0">
                <a:latin typeface="Times New Roman" panose="02020603050405020304" pitchFamily="18" charset="0"/>
                <a:cs typeface="Times New Roman" panose="02020603050405020304" pitchFamily="18" charset="0"/>
              </a:rPr>
              <a:t>; then </a:t>
            </a:r>
            <a:r>
              <a:rPr lang="en-US" sz="2400" dirty="0" err="1">
                <a:latin typeface="Times New Roman" panose="02020603050405020304" pitchFamily="18" charset="0"/>
                <a:cs typeface="Times New Roman" panose="02020603050405020304" pitchFamily="18" charset="0"/>
              </a:rPr>
              <a:t>Rimnicu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Vilcea</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is expanded</a:t>
            </a:r>
            <a:r>
              <a:rPr lang="en-US" sz="2400" dirty="0">
                <a:latin typeface="Times New Roman" panose="02020603050405020304" pitchFamily="18" charset="0"/>
                <a:cs typeface="Times New Roman" panose="02020603050405020304" pitchFamily="18" charset="0"/>
              </a:rPr>
              <a:t>. This time, because the best alternative path (through Timisoara) costs at least </a:t>
            </a:r>
            <a:r>
              <a:rPr lang="en-US" sz="2400" dirty="0" smtClean="0">
                <a:latin typeface="Times New Roman" panose="02020603050405020304" pitchFamily="18" charset="0"/>
                <a:cs typeface="Times New Roman" panose="02020603050405020304" pitchFamily="18" charset="0"/>
              </a:rPr>
              <a:t>447, the </a:t>
            </a:r>
            <a:r>
              <a:rPr lang="en-US" sz="2400" dirty="0">
                <a:latin typeface="Times New Roman" panose="02020603050405020304" pitchFamily="18" charset="0"/>
                <a:cs typeface="Times New Roman" panose="02020603050405020304" pitchFamily="18" charset="0"/>
              </a:rPr>
              <a:t>expansion continues to Bucharest</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xmlns="" val="79542854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618" y="221673"/>
            <a:ext cx="11139055" cy="6583395"/>
          </a:xfrm>
          <a:prstGeom prst="rect">
            <a:avLst/>
          </a:prstGeom>
        </p:spPr>
        <p:txBody>
          <a:bodyPr wrap="square">
            <a:spAutoFit/>
          </a:bodyPr>
          <a:lstStyle/>
          <a:p>
            <a:pPr algn="just">
              <a:lnSpc>
                <a:spcPct val="150000"/>
              </a:lnSpc>
            </a:pPr>
            <a:r>
              <a:rPr lang="en-US" sz="2200" dirty="0" smtClean="0">
                <a:solidFill>
                  <a:srgbClr val="00B050"/>
                </a:solidFill>
                <a:latin typeface="Times New Roman" pitchFamily="18" charset="0"/>
                <a:cs typeface="Times New Roman" pitchFamily="18" charset="0"/>
              </a:rPr>
              <a:t>SMA∗</a:t>
            </a:r>
          </a:p>
          <a:p>
            <a:pPr algn="just">
              <a:lnSpc>
                <a:spcPct val="150000"/>
              </a:lnSpc>
              <a:buFont typeface="Wingdings" pitchFamily="2" charset="2"/>
              <a:buChar char="v"/>
            </a:pPr>
            <a:r>
              <a:rPr lang="en-US" sz="2100" dirty="0" smtClean="0">
                <a:latin typeface="Times New Roman" pitchFamily="18" charset="0"/>
                <a:cs typeface="Times New Roman" pitchFamily="18" charset="0"/>
              </a:rPr>
              <a:t>IDA∗ and RBFS suffer from using too little memory. </a:t>
            </a:r>
          </a:p>
          <a:p>
            <a:pPr algn="just">
              <a:lnSpc>
                <a:spcPct val="150000"/>
              </a:lnSpc>
              <a:buFont typeface="Wingdings" pitchFamily="2" charset="2"/>
              <a:buChar char="v"/>
            </a:pPr>
            <a:r>
              <a:rPr lang="en-US" sz="2100" dirty="0" smtClean="0">
                <a:latin typeface="Times New Roman" pitchFamily="18" charset="0"/>
                <a:cs typeface="Times New Roman" pitchFamily="18" charset="0"/>
              </a:rPr>
              <a:t>Between iterations, IDA∗ retains only a single number: the current f-cost limit. </a:t>
            </a:r>
          </a:p>
          <a:p>
            <a:pPr algn="just">
              <a:lnSpc>
                <a:spcPct val="150000"/>
              </a:lnSpc>
              <a:buFont typeface="Wingdings" pitchFamily="2" charset="2"/>
              <a:buChar char="v"/>
            </a:pPr>
            <a:r>
              <a:rPr lang="en-US" sz="2100" dirty="0" smtClean="0">
                <a:latin typeface="Times New Roman" pitchFamily="18" charset="0"/>
                <a:cs typeface="Times New Roman" pitchFamily="18" charset="0"/>
              </a:rPr>
              <a:t>RBFS retains more information in memory, but it uses only linear space: even if more memory were available, RBFS has no way to make use of it. </a:t>
            </a:r>
          </a:p>
          <a:p>
            <a:pPr algn="just">
              <a:lnSpc>
                <a:spcPct val="150000"/>
              </a:lnSpc>
              <a:buFont typeface="Wingdings" pitchFamily="2" charset="2"/>
              <a:buChar char="v"/>
            </a:pPr>
            <a:r>
              <a:rPr lang="en-US" sz="2100" dirty="0" smtClean="0">
                <a:latin typeface="Times New Roman" pitchFamily="18" charset="0"/>
                <a:cs typeface="Times New Roman" pitchFamily="18" charset="0"/>
              </a:rPr>
              <a:t>Because they forget most of what they have done, both algorithms may end up re-expanding the same states many times over.</a:t>
            </a:r>
          </a:p>
          <a:p>
            <a:pPr algn="just">
              <a:lnSpc>
                <a:spcPct val="150000"/>
              </a:lnSpc>
              <a:buFont typeface="Wingdings" pitchFamily="2" charset="2"/>
              <a:buChar char="v"/>
            </a:pPr>
            <a:r>
              <a:rPr lang="en-US" sz="2100" dirty="0" smtClean="0">
                <a:latin typeface="Times New Roman" pitchFamily="18" charset="0"/>
                <a:cs typeface="Times New Roman" pitchFamily="18" charset="0"/>
              </a:rPr>
              <a:t>It seems sensible, therefore, to use all available memory, two algorithms that do this are MA∗ (memory-bounded A∗) and SMA∗ (simplified MA∗).</a:t>
            </a:r>
          </a:p>
          <a:p>
            <a:pPr algn="just">
              <a:lnSpc>
                <a:spcPct val="150000"/>
              </a:lnSpc>
              <a:buFont typeface="Wingdings" pitchFamily="2" charset="2"/>
              <a:buChar char="v"/>
            </a:pPr>
            <a:r>
              <a:rPr lang="en-US" sz="2100" dirty="0" smtClean="0">
                <a:latin typeface="Times New Roman" pitchFamily="18" charset="0"/>
                <a:cs typeface="Times New Roman" pitchFamily="18" charset="0"/>
              </a:rPr>
              <a:t> SMA∗ proceeds just like A∗, expanding the best leaf until memory is full.</a:t>
            </a:r>
          </a:p>
          <a:p>
            <a:pPr algn="just">
              <a:lnSpc>
                <a:spcPct val="150000"/>
              </a:lnSpc>
              <a:buFont typeface="Wingdings" pitchFamily="2" charset="2"/>
              <a:buChar char="v"/>
            </a:pPr>
            <a:r>
              <a:rPr lang="en-US" sz="2100" dirty="0" smtClean="0">
                <a:latin typeface="Times New Roman" pitchFamily="18" charset="0"/>
                <a:cs typeface="Times New Roman" pitchFamily="18" charset="0"/>
              </a:rPr>
              <a:t>At this point, it cannot add a new node to the search tree without dropping an old one. </a:t>
            </a:r>
          </a:p>
          <a:p>
            <a:pPr algn="just">
              <a:lnSpc>
                <a:spcPct val="150000"/>
              </a:lnSpc>
              <a:buFont typeface="Wingdings" pitchFamily="2" charset="2"/>
              <a:buChar char="v"/>
            </a:pPr>
            <a:r>
              <a:rPr lang="en-US" sz="2100" dirty="0" smtClean="0">
                <a:latin typeface="Times New Roman" pitchFamily="18" charset="0"/>
                <a:cs typeface="Times New Roman" pitchFamily="18" charset="0"/>
              </a:rPr>
              <a:t>SMA∗ always drops the worst leaf node—the one with the highest f-value. </a:t>
            </a:r>
          </a:p>
          <a:p>
            <a:pPr algn="just">
              <a:lnSpc>
                <a:spcPct val="150000"/>
              </a:lnSpc>
              <a:buFont typeface="Wingdings" pitchFamily="2" charset="2"/>
              <a:buChar char="v"/>
            </a:pPr>
            <a:r>
              <a:rPr lang="en-US" sz="2100" dirty="0" smtClean="0">
                <a:latin typeface="Times New Roman" pitchFamily="18" charset="0"/>
                <a:cs typeface="Times New Roman" pitchFamily="18" charset="0"/>
              </a:rPr>
              <a:t>Like RBFS, SMA∗ then backs up the value of the forgotten node to its parent. </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68036" y="277091"/>
            <a:ext cx="11055928" cy="6780359"/>
          </a:xfrm>
          <a:prstGeom prst="rect">
            <a:avLst/>
          </a:prstGeom>
        </p:spPr>
        <p:txBody>
          <a:bodyPr wrap="square">
            <a:spAutoFit/>
          </a:bodyPr>
          <a:lstStyle/>
          <a:p>
            <a:pPr algn="just"/>
            <a:r>
              <a:rPr lang="en-US" sz="2000" dirty="0" smtClean="0">
                <a:solidFill>
                  <a:srgbClr val="0070C0"/>
                </a:solidFill>
                <a:latin typeface="Times New Roman" pitchFamily="18" charset="0"/>
                <a:cs typeface="Times New Roman" pitchFamily="18" charset="0"/>
              </a:rPr>
              <a:t>What if all the leaf nodes have the same f-value? </a:t>
            </a:r>
          </a:p>
          <a:p>
            <a:pPr algn="just">
              <a:lnSpc>
                <a:spcPct val="150000"/>
              </a:lnSpc>
              <a:buFont typeface="Wingdings" pitchFamily="2" charset="2"/>
              <a:buChar char="v"/>
            </a:pPr>
            <a:r>
              <a:rPr lang="en-US" sz="1900" dirty="0" smtClean="0">
                <a:latin typeface="Times New Roman" pitchFamily="18" charset="0"/>
                <a:cs typeface="Times New Roman" pitchFamily="18" charset="0"/>
              </a:rPr>
              <a:t>To avoid selecting the same node for deletion and expansion, SMA∗ expands the newest best leaf and deletes the oldest worst leaf. </a:t>
            </a:r>
          </a:p>
          <a:p>
            <a:pPr algn="just">
              <a:lnSpc>
                <a:spcPct val="150000"/>
              </a:lnSpc>
              <a:buFont typeface="Wingdings" pitchFamily="2" charset="2"/>
              <a:buChar char="v"/>
            </a:pPr>
            <a:r>
              <a:rPr lang="en-US" sz="1900" dirty="0" smtClean="0">
                <a:latin typeface="Times New Roman" pitchFamily="18" charset="0"/>
                <a:cs typeface="Times New Roman" pitchFamily="18" charset="0"/>
              </a:rPr>
              <a:t>These coincide when there is only one leaf, but in that case, the current search tree must be a single path from root to leaf that fills all of memory. </a:t>
            </a:r>
          </a:p>
          <a:p>
            <a:pPr algn="just">
              <a:lnSpc>
                <a:spcPct val="150000"/>
              </a:lnSpc>
              <a:buFont typeface="Wingdings" pitchFamily="2" charset="2"/>
              <a:buChar char="v"/>
            </a:pPr>
            <a:r>
              <a:rPr lang="en-US" sz="1900" dirty="0" smtClean="0">
                <a:latin typeface="Times New Roman" pitchFamily="18" charset="0"/>
                <a:cs typeface="Times New Roman" pitchFamily="18" charset="0"/>
              </a:rPr>
              <a:t>If the leaf is not a goal node, then even if it is on an optimal solution path, that solution is not reachable with the available memory. </a:t>
            </a:r>
          </a:p>
          <a:p>
            <a:pPr algn="just">
              <a:lnSpc>
                <a:spcPct val="150000"/>
              </a:lnSpc>
              <a:buFont typeface="Wingdings" pitchFamily="2" charset="2"/>
              <a:buChar char="v"/>
            </a:pPr>
            <a:r>
              <a:rPr lang="en-US" sz="1900" dirty="0" smtClean="0">
                <a:latin typeface="Times New Roman" pitchFamily="18" charset="0"/>
                <a:cs typeface="Times New Roman" pitchFamily="18" charset="0"/>
              </a:rPr>
              <a:t>Therefore, the node can be discarded exactly as if it had no successors.</a:t>
            </a:r>
          </a:p>
          <a:p>
            <a:pPr algn="just">
              <a:lnSpc>
                <a:spcPct val="150000"/>
              </a:lnSpc>
            </a:pPr>
            <a:r>
              <a:rPr lang="en-US" sz="2400" dirty="0" smtClean="0">
                <a:solidFill>
                  <a:srgbClr val="00B050"/>
                </a:solidFill>
                <a:latin typeface="Times New Roman" pitchFamily="18" charset="0"/>
                <a:cs typeface="Times New Roman" pitchFamily="18" charset="0"/>
              </a:rPr>
              <a:t>Learning to Search better</a:t>
            </a:r>
            <a:endParaRPr lang="en-US" sz="2400" dirty="0" smtClean="0">
              <a:latin typeface="Times New Roman" pitchFamily="18" charset="0"/>
              <a:cs typeface="Times New Roman" pitchFamily="18" charset="0"/>
            </a:endParaRPr>
          </a:p>
          <a:p>
            <a:pPr algn="just">
              <a:lnSpc>
                <a:spcPct val="150000"/>
              </a:lnSpc>
              <a:buFont typeface="Wingdings" pitchFamily="2" charset="2"/>
              <a:buChar char="v"/>
            </a:pPr>
            <a:r>
              <a:rPr lang="en-US" sz="1900" dirty="0" smtClean="0">
                <a:latin typeface="Times New Roman" pitchFamily="18" charset="0"/>
                <a:cs typeface="Times New Roman" pitchFamily="18" charset="0"/>
              </a:rPr>
              <a:t>Could an agent learn how to search better? The answer is yes, and the method rests on an important concept called the meta-level state space. </a:t>
            </a:r>
          </a:p>
          <a:p>
            <a:pPr algn="just">
              <a:lnSpc>
                <a:spcPct val="150000"/>
              </a:lnSpc>
              <a:buFont typeface="Wingdings" pitchFamily="2" charset="2"/>
              <a:buChar char="v"/>
            </a:pPr>
            <a:r>
              <a:rPr lang="en-US" sz="1900" dirty="0" smtClean="0">
                <a:latin typeface="Times New Roman" pitchFamily="18" charset="0"/>
                <a:cs typeface="Times New Roman" pitchFamily="18" charset="0"/>
              </a:rPr>
              <a:t>Each state in a meta-level state space captures the internal (computational) state of a program that is searching in an object-level state space.</a:t>
            </a:r>
          </a:p>
          <a:p>
            <a:pPr algn="just">
              <a:lnSpc>
                <a:spcPct val="150000"/>
              </a:lnSpc>
              <a:buFont typeface="Wingdings" pitchFamily="2" charset="2"/>
              <a:buChar char="v"/>
            </a:pPr>
            <a:r>
              <a:rPr lang="en-US" sz="1900" dirty="0" smtClean="0">
                <a:latin typeface="Times New Roman" pitchFamily="18" charset="0"/>
                <a:cs typeface="Times New Roman" pitchFamily="18" charset="0"/>
              </a:rPr>
              <a:t>Each action in the meta-level state space is a computation step that alters the internal state(meta-level learning).</a:t>
            </a:r>
            <a:endParaRPr lang="en-US" sz="19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327" y="263237"/>
            <a:ext cx="10813473" cy="374072"/>
          </a:xfrm>
        </p:spPr>
        <p:txBody>
          <a:bodyPr>
            <a:noAutofit/>
          </a:bodyPr>
          <a:lstStyle/>
          <a:p>
            <a:r>
              <a:rPr lang="en-US" sz="2800" b="1" dirty="0" smtClean="0">
                <a:solidFill>
                  <a:srgbClr val="FF0000"/>
                </a:solidFill>
                <a:latin typeface="Times New Roman" pitchFamily="18" charset="0"/>
                <a:cs typeface="Times New Roman" pitchFamily="18" charset="0"/>
              </a:rPr>
              <a:t>1.14 Heuristic Functions</a:t>
            </a: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526473" y="734290"/>
            <a:ext cx="11194472" cy="5721927"/>
          </a:xfrm>
        </p:spPr>
        <p:txBody>
          <a:bodyPr>
            <a:normAutofit fontScale="47500" lnSpcReduction="20000"/>
          </a:bodyPr>
          <a:lstStyle/>
          <a:p>
            <a:pPr algn="just">
              <a:lnSpc>
                <a:spcPct val="170000"/>
              </a:lnSpc>
              <a:buFont typeface="Wingdings" pitchFamily="2" charset="2"/>
              <a:buChar char="v"/>
            </a:pPr>
            <a:r>
              <a:rPr lang="en-US" sz="3800" dirty="0" smtClean="0">
                <a:latin typeface="Times New Roman" pitchFamily="18" charset="0"/>
                <a:cs typeface="Times New Roman" pitchFamily="18" charset="0"/>
              </a:rPr>
              <a:t>The 8-puzzle was one of the earliest heuristic search problems. </a:t>
            </a:r>
          </a:p>
          <a:p>
            <a:pPr algn="just">
              <a:lnSpc>
                <a:spcPct val="170000"/>
              </a:lnSpc>
              <a:buFont typeface="Wingdings" pitchFamily="2" charset="2"/>
              <a:buChar char="v"/>
            </a:pPr>
            <a:r>
              <a:rPr lang="en-US" sz="3800" dirty="0" smtClean="0">
                <a:latin typeface="Times New Roman" pitchFamily="18" charset="0"/>
                <a:cs typeface="Times New Roman" pitchFamily="18" charset="0"/>
              </a:rPr>
              <a:t>The object of the puzzle is to slide the tiles horizontally or vertically into the empty space until the configuration matches the goal configuration.</a:t>
            </a:r>
          </a:p>
          <a:p>
            <a:pPr algn="just">
              <a:lnSpc>
                <a:spcPct val="170000"/>
              </a:lnSpc>
              <a:buFont typeface="Wingdings" pitchFamily="2" charset="2"/>
              <a:buChar char="v"/>
            </a:pPr>
            <a:r>
              <a:rPr lang="en-US" sz="3800" dirty="0" smtClean="0">
                <a:latin typeface="Times New Roman" pitchFamily="18" charset="0"/>
                <a:cs typeface="Times New Roman" pitchFamily="18" charset="0"/>
              </a:rPr>
              <a:t> When the empty tile is in the middle, four moves are possible; when it is in a corner, two; and when it is along an edge, three.</a:t>
            </a:r>
          </a:p>
          <a:p>
            <a:pPr algn="just">
              <a:lnSpc>
                <a:spcPct val="170000"/>
              </a:lnSpc>
              <a:buFont typeface="Wingdings" pitchFamily="2" charset="2"/>
              <a:buChar char="v"/>
            </a:pPr>
            <a:r>
              <a:rPr lang="en-US" sz="3800" dirty="0" smtClean="0">
                <a:latin typeface="Times New Roman" pitchFamily="18" charset="0"/>
                <a:cs typeface="Times New Roman" pitchFamily="18" charset="0"/>
              </a:rPr>
              <a:t>The branching factor is about 3 .The average solution cost for a randomly generated 8-puzzle instance is about 22 steps.</a:t>
            </a:r>
          </a:p>
          <a:p>
            <a:pPr algn="just">
              <a:lnSpc>
                <a:spcPct val="170000"/>
              </a:lnSpc>
              <a:buFont typeface="Wingdings" pitchFamily="2" charset="2"/>
              <a:buChar char="v"/>
            </a:pPr>
            <a:r>
              <a:rPr lang="en-US" sz="3800" dirty="0" smtClean="0">
                <a:latin typeface="Times New Roman" pitchFamily="18" charset="0"/>
                <a:cs typeface="Times New Roman" pitchFamily="18" charset="0"/>
              </a:rPr>
              <a:t> This means that an exhaustive tree search to depth 22 would look at about 322 ≈ 3.1 × 1010 states.</a:t>
            </a:r>
          </a:p>
          <a:p>
            <a:pPr algn="just">
              <a:lnSpc>
                <a:spcPct val="170000"/>
              </a:lnSpc>
              <a:buFont typeface="Wingdings" pitchFamily="2" charset="2"/>
              <a:buChar char="v"/>
            </a:pPr>
            <a:r>
              <a:rPr lang="en-US" sz="3800" dirty="0" smtClean="0">
                <a:latin typeface="Times New Roman" pitchFamily="18" charset="0"/>
                <a:cs typeface="Times New Roman" pitchFamily="18" charset="0"/>
              </a:rPr>
              <a:t>If we want to find the shortest solutions by using A∗, we need a heuristic function that never overestimates the number of steps to the goal. </a:t>
            </a:r>
          </a:p>
          <a:p>
            <a:pPr algn="just">
              <a:lnSpc>
                <a:spcPct val="170000"/>
              </a:lnSpc>
              <a:buFont typeface="Wingdings" pitchFamily="2" charset="2"/>
              <a:buChar char="v"/>
            </a:pPr>
            <a:r>
              <a:rPr lang="en-US" sz="3800" dirty="0" smtClean="0">
                <a:latin typeface="Times New Roman" pitchFamily="18" charset="0"/>
                <a:cs typeface="Times New Roman" pitchFamily="18" charset="0"/>
              </a:rPr>
              <a:t>There is a long history of such heuristics for the 15-puzzle; here are two commonly used candidates:.h1 and h2.</a:t>
            </a:r>
          </a:p>
          <a:p>
            <a:pPr algn="just">
              <a:lnSpc>
                <a:spcPct val="170000"/>
              </a:lnSpc>
              <a:buNone/>
            </a:pPr>
            <a:endParaRPr lang="en-US"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491" y="346365"/>
            <a:ext cx="11125200" cy="8097601"/>
          </a:xfrm>
          <a:prstGeom prst="rect">
            <a:avLst/>
          </a:prstGeom>
        </p:spPr>
        <p:txBody>
          <a:bodyPr wrap="square">
            <a:spAutoFit/>
          </a:bodyPr>
          <a:lstStyle/>
          <a:p>
            <a:pPr algn="just">
              <a:lnSpc>
                <a:spcPct val="170000"/>
              </a:lnSpc>
              <a:buFont typeface="Wingdings" pitchFamily="2" charset="2"/>
              <a:buChar char="v"/>
            </a:pPr>
            <a:r>
              <a:rPr lang="en-US" dirty="0" smtClean="0">
                <a:latin typeface="Times New Roman" pitchFamily="18" charset="0"/>
                <a:cs typeface="Times New Roman" pitchFamily="18" charset="0"/>
              </a:rPr>
              <a:t> h1 = the number of misplaced tiles., all of the eight tiles are out of position, so the start state would have </a:t>
            </a:r>
            <a:r>
              <a:rPr lang="en-US" b="1" i="1" dirty="0" smtClean="0">
                <a:solidFill>
                  <a:srgbClr val="00B0F0"/>
                </a:solidFill>
                <a:latin typeface="Times New Roman" pitchFamily="18" charset="0"/>
                <a:cs typeface="Times New Roman" pitchFamily="18" charset="0"/>
              </a:rPr>
              <a:t>h1 = 8</a:t>
            </a:r>
            <a:r>
              <a:rPr lang="en-US" dirty="0" smtClean="0">
                <a:solidFill>
                  <a:srgbClr val="00B0F0"/>
                </a:solidFill>
                <a:latin typeface="Times New Roman" pitchFamily="18" charset="0"/>
                <a:cs typeface="Times New Roman" pitchFamily="18" charset="0"/>
              </a:rPr>
              <a:t>. </a:t>
            </a:r>
            <a:r>
              <a:rPr lang="en-US" dirty="0" smtClean="0">
                <a:latin typeface="Times New Roman" pitchFamily="18" charset="0"/>
                <a:cs typeface="Times New Roman" pitchFamily="18" charset="0"/>
              </a:rPr>
              <a:t>(h1 is an admissible heuristic because it is clear that any tile that is out of place must be moved at least once.)</a:t>
            </a:r>
          </a:p>
          <a:p>
            <a:pPr algn="just">
              <a:lnSpc>
                <a:spcPct val="170000"/>
              </a:lnSpc>
              <a:buFont typeface="Wingdings" pitchFamily="2" charset="2"/>
              <a:buChar char="v"/>
            </a:pPr>
            <a:r>
              <a:rPr lang="en-US" dirty="0" smtClean="0">
                <a:latin typeface="Times New Roman" pitchFamily="18" charset="0"/>
                <a:cs typeface="Times New Roman" pitchFamily="18" charset="0"/>
              </a:rPr>
              <a:t> h2 = the sum of the distances of the tiles from their goal positions. (Because tiles cannot move along diagonals, the distance we will count is the sum of the horizontal and vertical distances). h2 is also admissible because all any move can do is move one tile one step MANHATTAN DISTANCE closer to the goal. </a:t>
            </a:r>
          </a:p>
          <a:p>
            <a:pPr algn="just">
              <a:lnSpc>
                <a:spcPct val="170000"/>
              </a:lnSpc>
              <a:buFont typeface="Wingdings" pitchFamily="2" charset="2"/>
              <a:buChar char="v"/>
            </a:pPr>
            <a:r>
              <a:rPr lang="en-US" dirty="0" smtClean="0">
                <a:latin typeface="Times New Roman" pitchFamily="18" charset="0"/>
                <a:cs typeface="Times New Roman" pitchFamily="18" charset="0"/>
              </a:rPr>
              <a:t>Tiles 1 to 8 in the start state give a Manhattan distance </a:t>
            </a:r>
          </a:p>
          <a:p>
            <a:pPr algn="just">
              <a:lnSpc>
                <a:spcPct val="170000"/>
              </a:lnSpc>
            </a:pPr>
            <a:r>
              <a:rPr lang="en-US" dirty="0" smtClean="0">
                <a:latin typeface="Times New Roman" pitchFamily="18" charset="0"/>
                <a:cs typeface="Times New Roman" pitchFamily="18" charset="0"/>
              </a:rPr>
              <a:t>of </a:t>
            </a:r>
            <a:r>
              <a:rPr lang="en-US" b="1" i="1" dirty="0" smtClean="0">
                <a:solidFill>
                  <a:srgbClr val="00B0F0"/>
                </a:solidFill>
                <a:latin typeface="Times New Roman" pitchFamily="18" charset="0"/>
                <a:cs typeface="Times New Roman" pitchFamily="18" charset="0"/>
              </a:rPr>
              <a:t>h2 = 3 + 1 + 2 + 2 + 2 + 3 + 3 + 2 = 18.</a:t>
            </a:r>
          </a:p>
          <a:p>
            <a:pPr algn="just">
              <a:lnSpc>
                <a:spcPct val="170000"/>
              </a:lnSpc>
              <a:buFont typeface="Wingdings" pitchFamily="2" charset="2"/>
              <a:buChar char="v"/>
            </a:pPr>
            <a:r>
              <a:rPr lang="en-US" dirty="0" smtClean="0">
                <a:latin typeface="Times New Roman" pitchFamily="18" charset="0"/>
                <a:cs typeface="Times New Roman" pitchFamily="18" charset="0"/>
              </a:rPr>
              <a:t>As expected, neither of these overestimates the true </a:t>
            </a:r>
          </a:p>
          <a:p>
            <a:pPr algn="just">
              <a:lnSpc>
                <a:spcPct val="170000"/>
              </a:lnSpc>
            </a:pPr>
            <a:r>
              <a:rPr lang="en-US" dirty="0" smtClean="0">
                <a:latin typeface="Times New Roman" pitchFamily="18" charset="0"/>
                <a:cs typeface="Times New Roman" pitchFamily="18" charset="0"/>
              </a:rPr>
              <a:t>solution cost, which is 26.</a:t>
            </a:r>
          </a:p>
          <a:p>
            <a:pPr algn="just">
              <a:lnSpc>
                <a:spcPct val="170000"/>
              </a:lnSpc>
              <a:buFont typeface="Wingdings" pitchFamily="2" charset="2"/>
              <a:buChar char="v"/>
            </a:pPr>
            <a:r>
              <a:rPr lang="en-US" dirty="0" smtClean="0"/>
              <a:t> </a:t>
            </a:r>
            <a:r>
              <a:rPr lang="en-US" dirty="0" smtClean="0">
                <a:latin typeface="Times New Roman" pitchFamily="18" charset="0"/>
                <a:cs typeface="Times New Roman" pitchFamily="18" charset="0"/>
              </a:rPr>
              <a:t>The quality of a heuristic is based on  effective branching </a:t>
            </a:r>
          </a:p>
          <a:p>
            <a:pPr algn="just">
              <a:lnSpc>
                <a:spcPct val="170000"/>
              </a:lnSpc>
            </a:pPr>
            <a:r>
              <a:rPr lang="en-US" dirty="0" smtClean="0">
                <a:latin typeface="Times New Roman" pitchFamily="18" charset="0"/>
                <a:cs typeface="Times New Roman" pitchFamily="18" charset="0"/>
              </a:rPr>
              <a:t>factor b∗.</a:t>
            </a:r>
          </a:p>
          <a:p>
            <a:pPr algn="just">
              <a:lnSpc>
                <a:spcPct val="170000"/>
              </a:lnSpc>
              <a:buFont typeface="Wingdings" pitchFamily="2" charset="2"/>
              <a:buChar char="v"/>
            </a:pPr>
            <a:r>
              <a:rPr lang="en-US" dirty="0" smtClean="0">
                <a:latin typeface="Times New Roman" pitchFamily="18" charset="0"/>
                <a:cs typeface="Times New Roman" pitchFamily="18" charset="0"/>
              </a:rPr>
              <a:t>The </a:t>
            </a:r>
            <a:r>
              <a:rPr lang="en-US" b="1" dirty="0" smtClean="0">
                <a:latin typeface="Times New Roman" pitchFamily="18" charset="0"/>
                <a:cs typeface="Times New Roman" pitchFamily="18" charset="0"/>
              </a:rPr>
              <a:t>effective branching factor</a:t>
            </a:r>
            <a:r>
              <a:rPr lang="en-US" dirty="0" smtClean="0">
                <a:latin typeface="Times New Roman" pitchFamily="18" charset="0"/>
                <a:cs typeface="Times New Roman" pitchFamily="18" charset="0"/>
              </a:rPr>
              <a:t> is the number of </a:t>
            </a:r>
          </a:p>
          <a:p>
            <a:pPr algn="just">
              <a:lnSpc>
                <a:spcPct val="170000"/>
              </a:lnSpc>
            </a:pPr>
            <a:r>
              <a:rPr lang="en-US" dirty="0" smtClean="0">
                <a:latin typeface="Times New Roman" pitchFamily="18" charset="0"/>
                <a:cs typeface="Times New Roman" pitchFamily="18" charset="0"/>
              </a:rPr>
              <a:t>successors generated by a "typical" node for a given search problem.</a:t>
            </a:r>
          </a:p>
          <a:p>
            <a:pPr algn="just">
              <a:lnSpc>
                <a:spcPct val="170000"/>
              </a:lnSpc>
            </a:pPr>
            <a:endParaRPr lang="en-US" dirty="0" smtClean="0">
              <a:latin typeface="Times New Roman" pitchFamily="18" charset="0"/>
              <a:cs typeface="Times New Roman" pitchFamily="18" charset="0"/>
            </a:endParaRPr>
          </a:p>
          <a:p>
            <a:pPr algn="just">
              <a:lnSpc>
                <a:spcPct val="170000"/>
              </a:lnSpc>
            </a:pPr>
            <a:endParaRPr lang="en-US" i="1" dirty="0" smtClean="0">
              <a:latin typeface="Times New Roman" pitchFamily="18" charset="0"/>
              <a:cs typeface="Times New Roman" pitchFamily="18" charset="0"/>
            </a:endParaRPr>
          </a:p>
          <a:p>
            <a:pPr algn="just">
              <a:lnSpc>
                <a:spcPct val="170000"/>
              </a:lnSpc>
              <a:buFont typeface="Wingdings" pitchFamily="2" charset="2"/>
              <a:buChar char="v"/>
            </a:pPr>
            <a:endParaRPr lang="en-US" i="1" dirty="0" smtClean="0">
              <a:latin typeface="Times New Roman" pitchFamily="18" charset="0"/>
              <a:cs typeface="Times New Roman" pitchFamily="18" charset="0"/>
            </a:endParaRPr>
          </a:p>
          <a:p>
            <a:pPr algn="just">
              <a:lnSpc>
                <a:spcPct val="170000"/>
              </a:lnSpc>
              <a:buFont typeface="Wingdings" pitchFamily="2" charset="2"/>
              <a:buChar char="v"/>
            </a:pPr>
            <a:endParaRPr lang="en-US" i="1" dirty="0">
              <a:latin typeface="Times New Roman" pitchFamily="18" charset="0"/>
              <a:cs typeface="Times New Roman" pitchFamily="18" charset="0"/>
            </a:endParaRPr>
          </a:p>
        </p:txBody>
      </p:sp>
      <p:pic>
        <p:nvPicPr>
          <p:cNvPr id="4" name="Picture 3" descr="Untitled.png"/>
          <p:cNvPicPr>
            <a:picLocks noChangeAspect="1"/>
          </p:cNvPicPr>
          <p:nvPr/>
        </p:nvPicPr>
        <p:blipFill>
          <a:blip r:embed="rId2"/>
          <a:stretch>
            <a:fillRect/>
          </a:stretch>
        </p:blipFill>
        <p:spPr>
          <a:xfrm>
            <a:off x="6151420" y="2908031"/>
            <a:ext cx="6040580" cy="3090987"/>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764" y="235527"/>
            <a:ext cx="10855036" cy="401783"/>
          </a:xfrm>
        </p:spPr>
        <p:txBody>
          <a:bodyPr>
            <a:normAutofit fontScale="90000"/>
          </a:bodyPr>
          <a:lstStyle/>
          <a:p>
            <a:r>
              <a:rPr lang="en-US" sz="2400" dirty="0">
                <a:solidFill>
                  <a:srgbClr val="00B050"/>
                </a:solidFill>
                <a:latin typeface="Times New Roman" panose="02020603050405020304" pitchFamily="18" charset="0"/>
                <a:cs typeface="Times New Roman" panose="02020603050405020304" pitchFamily="18" charset="0"/>
              </a:rPr>
              <a:t>Generating admissible heuristics from relaxed problems</a:t>
            </a:r>
          </a:p>
        </p:txBody>
      </p:sp>
      <p:sp>
        <p:nvSpPr>
          <p:cNvPr id="3" name="Content Placeholder 2"/>
          <p:cNvSpPr>
            <a:spLocks noGrp="1"/>
          </p:cNvSpPr>
          <p:nvPr>
            <p:ph idx="1"/>
          </p:nvPr>
        </p:nvSpPr>
        <p:spPr>
          <a:xfrm>
            <a:off x="401781" y="637310"/>
            <a:ext cx="11402291" cy="6026726"/>
          </a:xfrm>
        </p:spPr>
        <p:txBody>
          <a:bodyPr>
            <a:normAutofit fontScale="62500" lnSpcReduction="20000"/>
          </a:bodyPr>
          <a:lstStyle/>
          <a:p>
            <a:pPr algn="just">
              <a:lnSpc>
                <a:spcPct val="170000"/>
              </a:lnSpc>
              <a:buFont typeface="Wingdings" panose="05000000000000000000" pitchFamily="2" charset="2"/>
              <a:buChar char="v"/>
            </a:pPr>
            <a:r>
              <a:rPr lang="en-US" sz="2900" dirty="0">
                <a:latin typeface="Times New Roman" panose="02020603050405020304" pitchFamily="18" charset="0"/>
                <a:cs typeface="Times New Roman" panose="02020603050405020304" pitchFamily="18" charset="0"/>
              </a:rPr>
              <a:t>If the rules of the </a:t>
            </a:r>
            <a:r>
              <a:rPr lang="en-US" sz="2900" dirty="0" smtClean="0">
                <a:latin typeface="Times New Roman" panose="02020603050405020304" pitchFamily="18" charset="0"/>
                <a:cs typeface="Times New Roman" panose="02020603050405020304" pitchFamily="18" charset="0"/>
              </a:rPr>
              <a:t>puzzle </a:t>
            </a:r>
            <a:r>
              <a:rPr lang="en-US" sz="2900" dirty="0">
                <a:latin typeface="Times New Roman" panose="02020603050405020304" pitchFamily="18" charset="0"/>
                <a:cs typeface="Times New Roman" panose="02020603050405020304" pitchFamily="18" charset="0"/>
              </a:rPr>
              <a:t>were changed so that a tile could move anywhere instead of just to the adjacent empty </a:t>
            </a:r>
            <a:r>
              <a:rPr lang="en-US" sz="2900" dirty="0" smtClean="0">
                <a:latin typeface="Times New Roman" panose="02020603050405020304" pitchFamily="18" charset="0"/>
                <a:cs typeface="Times New Roman" panose="02020603050405020304" pitchFamily="18" charset="0"/>
              </a:rPr>
              <a:t>square, then </a:t>
            </a:r>
            <a:r>
              <a:rPr lang="en-US" sz="2900" dirty="0">
                <a:latin typeface="Times New Roman" panose="02020603050405020304" pitchFamily="18" charset="0"/>
                <a:cs typeface="Times New Roman" panose="02020603050405020304" pitchFamily="18" charset="0"/>
              </a:rPr>
              <a:t>h1 would give the exact number of steps in the shortest solution</a:t>
            </a:r>
            <a:r>
              <a:rPr lang="en-US" sz="2900" dirty="0" smtClean="0">
                <a:latin typeface="Times New Roman" panose="02020603050405020304" pitchFamily="18" charset="0"/>
                <a:cs typeface="Times New Roman" panose="02020603050405020304" pitchFamily="18" charset="0"/>
              </a:rPr>
              <a:t>.</a:t>
            </a:r>
          </a:p>
          <a:p>
            <a:pPr algn="just">
              <a:lnSpc>
                <a:spcPct val="170000"/>
              </a:lnSpc>
              <a:buFont typeface="Wingdings" panose="05000000000000000000" pitchFamily="2" charset="2"/>
              <a:buChar char="v"/>
            </a:pPr>
            <a:r>
              <a:rPr lang="en-US" sz="2900" dirty="0">
                <a:latin typeface="Times New Roman" panose="02020603050405020304" pitchFamily="18" charset="0"/>
                <a:cs typeface="Times New Roman" panose="02020603050405020304" pitchFamily="18" charset="0"/>
              </a:rPr>
              <a:t>Similarly, if a tile </a:t>
            </a:r>
            <a:r>
              <a:rPr lang="en-US" sz="2900" dirty="0" smtClean="0">
                <a:latin typeface="Times New Roman" panose="02020603050405020304" pitchFamily="18" charset="0"/>
                <a:cs typeface="Times New Roman" panose="02020603050405020304" pitchFamily="18" charset="0"/>
              </a:rPr>
              <a:t>could move </a:t>
            </a:r>
            <a:r>
              <a:rPr lang="en-US" sz="2900" dirty="0">
                <a:latin typeface="Times New Roman" panose="02020603050405020304" pitchFamily="18" charset="0"/>
                <a:cs typeface="Times New Roman" panose="02020603050405020304" pitchFamily="18" charset="0"/>
              </a:rPr>
              <a:t>one square in any direction, even onto an occupied square, then h2 would give the </a:t>
            </a:r>
            <a:r>
              <a:rPr lang="en-US" sz="2900" dirty="0" smtClean="0">
                <a:latin typeface="Times New Roman" panose="02020603050405020304" pitchFamily="18" charset="0"/>
                <a:cs typeface="Times New Roman" panose="02020603050405020304" pitchFamily="18" charset="0"/>
              </a:rPr>
              <a:t>exact number </a:t>
            </a:r>
            <a:r>
              <a:rPr lang="en-US" sz="2900" dirty="0">
                <a:latin typeface="Times New Roman" panose="02020603050405020304" pitchFamily="18" charset="0"/>
                <a:cs typeface="Times New Roman" panose="02020603050405020304" pitchFamily="18" charset="0"/>
              </a:rPr>
              <a:t>of steps in the shortest solution</a:t>
            </a:r>
            <a:r>
              <a:rPr lang="en-US" sz="2900" dirty="0" smtClean="0">
                <a:latin typeface="Times New Roman" panose="02020603050405020304" pitchFamily="18" charset="0"/>
                <a:cs typeface="Times New Roman" panose="02020603050405020304" pitchFamily="18" charset="0"/>
              </a:rPr>
              <a:t>.</a:t>
            </a:r>
          </a:p>
          <a:p>
            <a:pPr algn="just">
              <a:lnSpc>
                <a:spcPct val="170000"/>
              </a:lnSpc>
              <a:buFont typeface="Wingdings" panose="05000000000000000000" pitchFamily="2" charset="2"/>
              <a:buChar char="v"/>
            </a:pPr>
            <a:r>
              <a:rPr lang="en-US" sz="2900" dirty="0">
                <a:latin typeface="Times New Roman" panose="02020603050405020304" pitchFamily="18" charset="0"/>
                <a:cs typeface="Times New Roman" panose="02020603050405020304" pitchFamily="18" charset="0"/>
              </a:rPr>
              <a:t>A problem with fewer restrictions on the actions </a:t>
            </a:r>
            <a:r>
              <a:rPr lang="en-US" sz="2900" dirty="0" smtClean="0">
                <a:latin typeface="Times New Roman" panose="02020603050405020304" pitchFamily="18" charset="0"/>
                <a:cs typeface="Times New Roman" panose="02020603050405020304" pitchFamily="18" charset="0"/>
              </a:rPr>
              <a:t>is called </a:t>
            </a:r>
            <a:r>
              <a:rPr lang="en-US" sz="2900" dirty="0">
                <a:latin typeface="Times New Roman" panose="02020603050405020304" pitchFamily="18" charset="0"/>
                <a:cs typeface="Times New Roman" panose="02020603050405020304" pitchFamily="18" charset="0"/>
              </a:rPr>
              <a:t>a </a:t>
            </a:r>
            <a:r>
              <a:rPr lang="en-US" sz="2900" b="1" dirty="0">
                <a:latin typeface="Times New Roman" panose="02020603050405020304" pitchFamily="18" charset="0"/>
                <a:cs typeface="Times New Roman" panose="02020603050405020304" pitchFamily="18" charset="0"/>
              </a:rPr>
              <a:t>relaxed </a:t>
            </a:r>
            <a:r>
              <a:rPr lang="en-US" sz="2900" b="1" dirty="0" smtClean="0">
                <a:latin typeface="Times New Roman" panose="02020603050405020304" pitchFamily="18" charset="0"/>
                <a:cs typeface="Times New Roman" panose="02020603050405020304" pitchFamily="18" charset="0"/>
              </a:rPr>
              <a:t>problem.</a:t>
            </a:r>
          </a:p>
          <a:p>
            <a:pPr algn="just">
              <a:lnSpc>
                <a:spcPct val="170000"/>
              </a:lnSpc>
              <a:buFont typeface="Wingdings" panose="05000000000000000000" pitchFamily="2" charset="2"/>
              <a:buChar char="v"/>
            </a:pPr>
            <a:r>
              <a:rPr lang="en-US" sz="2900" dirty="0">
                <a:latin typeface="Times New Roman" panose="02020603050405020304" pitchFamily="18" charset="0"/>
                <a:cs typeface="Times New Roman" panose="02020603050405020304" pitchFamily="18" charset="0"/>
              </a:rPr>
              <a:t>For example, if the 8-puzzle actions are described as</a:t>
            </a:r>
          </a:p>
          <a:p>
            <a:pPr lvl="1" algn="just">
              <a:lnSpc>
                <a:spcPct val="170000"/>
              </a:lnSpc>
              <a:buFont typeface="Wingdings" panose="05000000000000000000" pitchFamily="2" charset="2"/>
              <a:buChar char="ü"/>
            </a:pP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tile can move from square A to square B if</a:t>
            </a:r>
          </a:p>
          <a:p>
            <a:pPr marL="457200" lvl="1" indent="0" algn="just">
              <a:lnSpc>
                <a:spcPct val="170000"/>
              </a:lnSpc>
              <a:buNone/>
            </a:pPr>
            <a:r>
              <a:rPr lang="en-US" sz="2900" dirty="0" smtClean="0">
                <a:latin typeface="Times New Roman" panose="02020603050405020304" pitchFamily="18" charset="0"/>
                <a:cs typeface="Times New Roman" panose="02020603050405020304" pitchFamily="18" charset="0"/>
              </a:rPr>
              <a:t>		A </a:t>
            </a:r>
            <a:r>
              <a:rPr lang="en-US" sz="2900" dirty="0">
                <a:latin typeface="Times New Roman" panose="02020603050405020304" pitchFamily="18" charset="0"/>
                <a:cs typeface="Times New Roman" panose="02020603050405020304" pitchFamily="18" charset="0"/>
              </a:rPr>
              <a:t>is horizontally or vertically adjacent to B </a:t>
            </a:r>
            <a:r>
              <a:rPr lang="en-US" sz="2900" b="1" dirty="0">
                <a:latin typeface="Times New Roman" panose="02020603050405020304" pitchFamily="18" charset="0"/>
                <a:cs typeface="Times New Roman" panose="02020603050405020304" pitchFamily="18" charset="0"/>
              </a:rPr>
              <a:t>and </a:t>
            </a:r>
            <a:r>
              <a:rPr lang="en-US" sz="2900" dirty="0">
                <a:latin typeface="Times New Roman" panose="02020603050405020304" pitchFamily="18" charset="0"/>
                <a:cs typeface="Times New Roman" panose="02020603050405020304" pitchFamily="18" charset="0"/>
              </a:rPr>
              <a:t>B is blank,</a:t>
            </a:r>
          </a:p>
          <a:p>
            <a:pPr algn="just">
              <a:lnSpc>
                <a:spcPct val="170000"/>
              </a:lnSpc>
              <a:buFont typeface="Wingdings" panose="05000000000000000000" pitchFamily="2" charset="2"/>
              <a:buChar char="v"/>
            </a:pPr>
            <a:r>
              <a:rPr lang="en-US" sz="2900" dirty="0">
                <a:latin typeface="Times New Roman" panose="02020603050405020304" pitchFamily="18" charset="0"/>
                <a:cs typeface="Times New Roman" panose="02020603050405020304" pitchFamily="18" charset="0"/>
              </a:rPr>
              <a:t>W</a:t>
            </a:r>
            <a:r>
              <a:rPr lang="en-US" sz="2900" dirty="0" smtClean="0">
                <a:latin typeface="Times New Roman" panose="02020603050405020304" pitchFamily="18" charset="0"/>
                <a:cs typeface="Times New Roman" panose="02020603050405020304" pitchFamily="18" charset="0"/>
              </a:rPr>
              <a:t>e </a:t>
            </a:r>
            <a:r>
              <a:rPr lang="en-US" sz="2900" dirty="0">
                <a:latin typeface="Times New Roman" panose="02020603050405020304" pitchFamily="18" charset="0"/>
                <a:cs typeface="Times New Roman" panose="02020603050405020304" pitchFamily="18" charset="0"/>
              </a:rPr>
              <a:t>can generate three relaxed problems by removing one or both of the conditions:</a:t>
            </a:r>
          </a:p>
          <a:p>
            <a:pPr marL="1828800" lvl="4" indent="0" algn="just">
              <a:lnSpc>
                <a:spcPct val="170000"/>
              </a:lnSpc>
              <a:buNone/>
            </a:pPr>
            <a:r>
              <a:rPr lang="en-US" sz="2300" dirty="0">
                <a:latin typeface="Times New Roman" panose="02020603050405020304" pitchFamily="18" charset="0"/>
                <a:cs typeface="Times New Roman" panose="02020603050405020304" pitchFamily="18" charset="0"/>
              </a:rPr>
              <a:t>(a</a:t>
            </a:r>
            <a:r>
              <a:rPr lang="en-US" sz="2900" dirty="0">
                <a:latin typeface="Times New Roman" panose="02020603050405020304" pitchFamily="18" charset="0"/>
                <a:cs typeface="Times New Roman" panose="02020603050405020304" pitchFamily="18" charset="0"/>
              </a:rPr>
              <a:t>) </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tile can move from square A to square B if A is adjacent to B.</a:t>
            </a:r>
          </a:p>
          <a:p>
            <a:pPr marL="1828800" lvl="4" indent="0" algn="just">
              <a:lnSpc>
                <a:spcPct val="170000"/>
              </a:lnSpc>
              <a:buNone/>
            </a:pPr>
            <a:r>
              <a:rPr lang="en-US" sz="2900" dirty="0">
                <a:latin typeface="Times New Roman" panose="02020603050405020304" pitchFamily="18" charset="0"/>
                <a:cs typeface="Times New Roman" panose="02020603050405020304" pitchFamily="18" charset="0"/>
              </a:rPr>
              <a:t>(b) </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tile can move from square A to square B if B is blank.</a:t>
            </a:r>
          </a:p>
          <a:p>
            <a:pPr marL="1828800" lvl="4" indent="0" algn="just">
              <a:lnSpc>
                <a:spcPct val="170000"/>
              </a:lnSpc>
              <a:buNone/>
            </a:pPr>
            <a:r>
              <a:rPr lang="en-US" sz="2900" dirty="0">
                <a:latin typeface="Times New Roman" panose="02020603050405020304" pitchFamily="18" charset="0"/>
                <a:cs typeface="Times New Roman" panose="02020603050405020304" pitchFamily="18" charset="0"/>
              </a:rPr>
              <a:t>(c) </a:t>
            </a:r>
            <a:r>
              <a:rPr lang="en-US" sz="2900" dirty="0" smtClean="0">
                <a:latin typeface="Times New Roman" panose="02020603050405020304" pitchFamily="18" charset="0"/>
                <a:cs typeface="Times New Roman" panose="02020603050405020304" pitchFamily="18" charset="0"/>
              </a:rPr>
              <a:t> </a:t>
            </a:r>
            <a:r>
              <a:rPr lang="en-US" sz="2900" dirty="0">
                <a:latin typeface="Times New Roman" panose="02020603050405020304" pitchFamily="18" charset="0"/>
                <a:cs typeface="Times New Roman" panose="02020603050405020304" pitchFamily="18" charset="0"/>
              </a:rPr>
              <a:t>tile can move from square A to square B.</a:t>
            </a:r>
            <a:endParaRPr lang="en-US" sz="29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1310574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327" y="365125"/>
            <a:ext cx="10813473" cy="493857"/>
          </a:xfrm>
        </p:spPr>
        <p:txBody>
          <a:bodyPr>
            <a:normAutofit/>
          </a:bodyPr>
          <a:lstStyle/>
          <a:p>
            <a:r>
              <a:rPr lang="en-US" sz="2400" dirty="0">
                <a:solidFill>
                  <a:srgbClr val="00B050"/>
                </a:solidFill>
                <a:latin typeface="Times New Roman" panose="02020603050405020304" pitchFamily="18" charset="0"/>
                <a:cs typeface="Times New Roman" panose="02020603050405020304" pitchFamily="18" charset="0"/>
              </a:rPr>
              <a:t>Generating admissible heuristics from </a:t>
            </a:r>
            <a:r>
              <a:rPr lang="en-US" sz="2400" dirty="0" smtClean="0">
                <a:solidFill>
                  <a:srgbClr val="00B050"/>
                </a:solidFill>
                <a:latin typeface="Times New Roman" panose="02020603050405020304" pitchFamily="18" charset="0"/>
                <a:cs typeface="Times New Roman" panose="02020603050405020304" pitchFamily="18" charset="0"/>
              </a:rPr>
              <a:t>sub-problems</a:t>
            </a:r>
            <a:r>
              <a:rPr lang="en-US" sz="2400" dirty="0">
                <a:solidFill>
                  <a:srgbClr val="00B050"/>
                </a:solidFill>
                <a:latin typeface="Times New Roman" panose="02020603050405020304" pitchFamily="18" charset="0"/>
                <a:cs typeface="Times New Roman" panose="02020603050405020304" pitchFamily="18" charset="0"/>
              </a:rPr>
              <a:t>: Pattern databases</a:t>
            </a:r>
          </a:p>
        </p:txBody>
      </p:sp>
      <p:sp>
        <p:nvSpPr>
          <p:cNvPr id="3" name="Content Placeholder 2"/>
          <p:cNvSpPr>
            <a:spLocks noGrp="1"/>
          </p:cNvSpPr>
          <p:nvPr>
            <p:ph idx="1"/>
          </p:nvPr>
        </p:nvSpPr>
        <p:spPr>
          <a:xfrm>
            <a:off x="443345" y="900544"/>
            <a:ext cx="11346873" cy="5541819"/>
          </a:xfrm>
        </p:spPr>
        <p:txBody>
          <a:bodyPr>
            <a:normAutofit fontScale="92500" lnSpcReduction="10000"/>
          </a:bodyPr>
          <a:lstStyle/>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Admissible heuristics can also be derived from the solution cost of a </a:t>
            </a:r>
            <a:r>
              <a:rPr lang="en-US" sz="2400" b="1" dirty="0" smtClean="0">
                <a:latin typeface="Times New Roman" panose="02020603050405020304" pitchFamily="18" charset="0"/>
                <a:cs typeface="Times New Roman" panose="02020603050405020304" pitchFamily="18" charset="0"/>
              </a:rPr>
              <a:t>sub-problem </a:t>
            </a:r>
            <a:r>
              <a:rPr lang="en-US" sz="2400" dirty="0">
                <a:latin typeface="Times New Roman" panose="02020603050405020304" pitchFamily="18" charset="0"/>
                <a:cs typeface="Times New Roman" panose="02020603050405020304" pitchFamily="18" charset="0"/>
              </a:rPr>
              <a:t>of a </a:t>
            </a:r>
            <a:r>
              <a:rPr lang="en-US" sz="2400" dirty="0" smtClean="0">
                <a:latin typeface="Times New Roman" panose="02020603050405020304" pitchFamily="18" charset="0"/>
                <a:cs typeface="Times New Roman" panose="02020603050405020304" pitchFamily="18" charset="0"/>
              </a:rPr>
              <a:t>given problem</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The sub-problem </a:t>
            </a:r>
            <a:r>
              <a:rPr lang="en-US" sz="2400" dirty="0">
                <a:latin typeface="Times New Roman" panose="02020603050405020304" pitchFamily="18" charset="0"/>
                <a:cs typeface="Times New Roman" panose="02020603050405020304" pitchFamily="18" charset="0"/>
              </a:rPr>
              <a:t>involves getting tiles 1, 2, 3, 4 into their correct </a:t>
            </a:r>
            <a:r>
              <a:rPr lang="en-US" sz="2400" dirty="0" smtClean="0">
                <a:latin typeface="Times New Roman" panose="02020603050405020304" pitchFamily="18" charset="0"/>
                <a:cs typeface="Times New Roman" panose="02020603050405020304" pitchFamily="18" charset="0"/>
              </a:rPr>
              <a:t>positions.</a:t>
            </a:r>
          </a:p>
          <a:p>
            <a:pPr algn="just">
              <a:lnSpc>
                <a:spcPct val="150000"/>
              </a:lnSpc>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Clearly, the </a:t>
            </a:r>
            <a:r>
              <a:rPr lang="en-US" sz="2400" dirty="0">
                <a:latin typeface="Times New Roman" panose="02020603050405020304" pitchFamily="18" charset="0"/>
                <a:cs typeface="Times New Roman" panose="02020603050405020304" pitchFamily="18" charset="0"/>
              </a:rPr>
              <a:t>cost of the optimal solution of this </a:t>
            </a:r>
            <a:r>
              <a:rPr lang="en-US" sz="2400" dirty="0" smtClean="0">
                <a:latin typeface="Times New Roman" panose="02020603050405020304" pitchFamily="18" charset="0"/>
                <a:cs typeface="Times New Roman" panose="02020603050405020304" pitchFamily="18" charset="0"/>
              </a:rPr>
              <a:t>sub-problem </a:t>
            </a:r>
            <a:r>
              <a:rPr lang="en-US" sz="2400" dirty="0">
                <a:latin typeface="Times New Roman" panose="02020603050405020304" pitchFamily="18" charset="0"/>
                <a:cs typeface="Times New Roman" panose="02020603050405020304" pitchFamily="18" charset="0"/>
              </a:rPr>
              <a:t>is a lower bound on the cost of the </a:t>
            </a:r>
            <a:r>
              <a:rPr lang="en-US" sz="2400" dirty="0" smtClean="0">
                <a:latin typeface="Times New Roman" panose="02020603050405020304" pitchFamily="18" charset="0"/>
                <a:cs typeface="Times New Roman" panose="02020603050405020304" pitchFamily="18" charset="0"/>
              </a:rPr>
              <a:t>complete problem</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turns out to be more accurate than Manhattan distance in some </a:t>
            </a:r>
            <a:r>
              <a:rPr lang="en-US" sz="2400" dirty="0" smtClean="0">
                <a:latin typeface="Times New Roman" panose="02020603050405020304" pitchFamily="18" charset="0"/>
                <a:cs typeface="Times New Roman" panose="02020603050405020304" pitchFamily="18" charset="0"/>
              </a:rPr>
              <a:t>cases.</a:t>
            </a:r>
            <a:endParaRPr lang="en-US" sz="24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idea behind </a:t>
            </a:r>
            <a:r>
              <a:rPr lang="en-US" sz="2400" b="1" dirty="0">
                <a:latin typeface="Times New Roman" panose="02020603050405020304" pitchFamily="18" charset="0"/>
                <a:cs typeface="Times New Roman" panose="02020603050405020304" pitchFamily="18" charset="0"/>
              </a:rPr>
              <a:t>pattern databases </a:t>
            </a:r>
            <a:r>
              <a:rPr lang="en-US" sz="2400" dirty="0">
                <a:latin typeface="Times New Roman" panose="02020603050405020304" pitchFamily="18" charset="0"/>
                <a:cs typeface="Times New Roman" panose="02020603050405020304" pitchFamily="18" charset="0"/>
              </a:rPr>
              <a:t>is to store these exact solution costs for every </a:t>
            </a:r>
            <a:r>
              <a:rPr lang="en-US" sz="2400" dirty="0" smtClean="0">
                <a:latin typeface="Times New Roman" panose="02020603050405020304" pitchFamily="18" charset="0"/>
                <a:cs typeface="Times New Roman" panose="02020603050405020304" pitchFamily="18" charset="0"/>
              </a:rPr>
              <a:t>possible sub-problem </a:t>
            </a:r>
            <a:r>
              <a:rPr lang="en-US" sz="2400" dirty="0">
                <a:latin typeface="Times New Roman" panose="02020603050405020304" pitchFamily="18" charset="0"/>
                <a:cs typeface="Times New Roman" panose="02020603050405020304" pitchFamily="18" charset="0"/>
              </a:rPr>
              <a:t>instance—in our example, every possible configuration of the four </a:t>
            </a:r>
            <a:r>
              <a:rPr lang="en-US" sz="2400" dirty="0" smtClean="0">
                <a:latin typeface="Times New Roman" panose="02020603050405020304" pitchFamily="18" charset="0"/>
                <a:cs typeface="Times New Roman" panose="02020603050405020304" pitchFamily="18" charset="0"/>
              </a:rPr>
              <a:t>tiles and </a:t>
            </a:r>
            <a:r>
              <a:rPr lang="en-US" sz="2400" dirty="0">
                <a:latin typeface="Times New Roman" panose="02020603050405020304" pitchFamily="18" charset="0"/>
                <a:cs typeface="Times New Roman" panose="02020603050405020304" pitchFamily="18" charset="0"/>
              </a:rPr>
              <a:t>the blank</a:t>
            </a:r>
            <a:r>
              <a:rPr lang="en-US" sz="24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he </a:t>
            </a:r>
            <a:r>
              <a:rPr lang="en-US" sz="2400" dirty="0">
                <a:latin typeface="Times New Roman" panose="02020603050405020304" pitchFamily="18" charset="0"/>
                <a:cs typeface="Times New Roman" panose="02020603050405020304" pitchFamily="18" charset="0"/>
              </a:rPr>
              <a:t>heuristics obtained from the 1-2-3-4 database and </a:t>
            </a:r>
            <a:r>
              <a:rPr lang="en-US" sz="2400" dirty="0" smtClean="0">
                <a:latin typeface="Times New Roman" panose="02020603050405020304" pitchFamily="18" charset="0"/>
                <a:cs typeface="Times New Roman" panose="02020603050405020304" pitchFamily="18" charset="0"/>
              </a:rPr>
              <a:t>the 5-6-7-8 </a:t>
            </a:r>
            <a:r>
              <a:rPr lang="en-US" sz="2400" dirty="0">
                <a:latin typeface="Times New Roman" panose="02020603050405020304" pitchFamily="18" charset="0"/>
                <a:cs typeface="Times New Roman" panose="02020603050405020304" pitchFamily="18" charset="0"/>
              </a:rPr>
              <a:t>could be </a:t>
            </a:r>
            <a:r>
              <a:rPr lang="en-US" sz="2400" i="1" dirty="0">
                <a:latin typeface="Times New Roman" panose="02020603050405020304" pitchFamily="18" charset="0"/>
                <a:cs typeface="Times New Roman" panose="02020603050405020304" pitchFamily="18" charset="0"/>
              </a:rPr>
              <a:t>added</a:t>
            </a:r>
            <a:r>
              <a:rPr lang="en-US" sz="2400" dirty="0">
                <a:latin typeface="Times New Roman" panose="02020603050405020304" pitchFamily="18" charset="0"/>
                <a:cs typeface="Times New Roman" panose="02020603050405020304" pitchFamily="18" charset="0"/>
              </a:rPr>
              <a:t>, since the two </a:t>
            </a:r>
            <a:r>
              <a:rPr lang="en-US" sz="2400" dirty="0" smtClean="0">
                <a:latin typeface="Times New Roman" panose="02020603050405020304" pitchFamily="18" charset="0"/>
                <a:cs typeface="Times New Roman" panose="02020603050405020304" pitchFamily="18" charset="0"/>
              </a:rPr>
              <a:t>sub-problems </a:t>
            </a:r>
            <a:r>
              <a:rPr lang="en-US" sz="2400" dirty="0">
                <a:latin typeface="Times New Roman" panose="02020603050405020304" pitchFamily="18" charset="0"/>
                <a:cs typeface="Times New Roman" panose="02020603050405020304" pitchFamily="18" charset="0"/>
              </a:rPr>
              <a:t>seem not to overlap.</a:t>
            </a:r>
          </a:p>
        </p:txBody>
      </p:sp>
    </p:spTree>
    <p:extLst>
      <p:ext uri="{BB962C8B-B14F-4D97-AF65-F5344CB8AC3E}">
        <p14:creationId xmlns:p14="http://schemas.microsoft.com/office/powerpoint/2010/main" xmlns="" val="42319520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7416" t="21875" r="23060" b="33428"/>
          <a:stretch/>
        </p:blipFill>
        <p:spPr>
          <a:xfrm>
            <a:off x="374073" y="249383"/>
            <a:ext cx="11194472" cy="5735782"/>
          </a:xfrm>
          <a:prstGeom prst="rect">
            <a:avLst/>
          </a:prstGeom>
        </p:spPr>
      </p:pic>
    </p:spTree>
    <p:extLst>
      <p:ext uri="{BB962C8B-B14F-4D97-AF65-F5344CB8AC3E}">
        <p14:creationId xmlns:p14="http://schemas.microsoft.com/office/powerpoint/2010/main" xmlns="" val="3891086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6934</TotalTime>
  <Words>5588</Words>
  <Application>Microsoft Office PowerPoint</Application>
  <PresentationFormat>Custom</PresentationFormat>
  <Paragraphs>400</Paragraphs>
  <Slides>73</Slides>
  <Notes>8</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Comparing uninformed search strategies</vt:lpstr>
      <vt:lpstr>Slide 52</vt:lpstr>
      <vt:lpstr>Greedy best first search</vt:lpstr>
      <vt:lpstr>Slide 54</vt:lpstr>
      <vt:lpstr>Slide 55</vt:lpstr>
      <vt:lpstr>Slide 56</vt:lpstr>
      <vt:lpstr>Slide 57</vt:lpstr>
      <vt:lpstr>Slide 58</vt:lpstr>
      <vt:lpstr>Conditions for optimality</vt:lpstr>
      <vt:lpstr>Search Contours</vt:lpstr>
      <vt:lpstr>Slide 61</vt:lpstr>
      <vt:lpstr>Slide 62</vt:lpstr>
      <vt:lpstr>Memory-bounded heuristic search</vt:lpstr>
      <vt:lpstr>Recursive best-first search (RBFS)</vt:lpstr>
      <vt:lpstr>Slide 65</vt:lpstr>
      <vt:lpstr>Slide 66</vt:lpstr>
      <vt:lpstr>Slide 67</vt:lpstr>
      <vt:lpstr>Slide 68</vt:lpstr>
      <vt:lpstr>1.14 Heuristic Functions</vt:lpstr>
      <vt:lpstr>Slide 70</vt:lpstr>
      <vt:lpstr>Generating admissible heuristics from relaxed problems</vt:lpstr>
      <vt:lpstr>Generating admissible heuristics from sub-problems: Pattern databases</vt:lpstr>
      <vt:lpstr>Slide 73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maithili</dc:creator>
  <cp:lastModifiedBy>exam2</cp:lastModifiedBy>
  <cp:revision>244</cp:revision>
  <dcterms:created xsi:type="dcterms:W3CDTF">2021-10-14T04:37:00Z</dcterms:created>
  <dcterms:modified xsi:type="dcterms:W3CDTF">2026-01-02T03:29:36Z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3B80FBCF74094180949FEEFA06538D2E</vt:lpwstr>
  </property>
  <property fmtid="{D5CDD505-2E9C-101B-9397-08002B2CF9AE}" pid="3" name="KSOProductBuildVer">
    <vt:lpwstr>1033-11.2.0.10323</vt:lpwstr>
  </property>
</Properties>
</file>