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56" r:id="rId2"/>
    <p:sldId id="257" r:id="rId3"/>
    <p:sldId id="258" r:id="rId4"/>
    <p:sldId id="259" r:id="rId5"/>
    <p:sldId id="260" r:id="rId6"/>
    <p:sldId id="289" r:id="rId7"/>
    <p:sldId id="291" r:id="rId8"/>
    <p:sldId id="292" r:id="rId9"/>
    <p:sldId id="290" r:id="rId10"/>
    <p:sldId id="293" r:id="rId11"/>
    <p:sldId id="294" r:id="rId12"/>
    <p:sldId id="295" r:id="rId13"/>
    <p:sldId id="261" r:id="rId14"/>
    <p:sldId id="262" r:id="rId15"/>
    <p:sldId id="263" r:id="rId16"/>
    <p:sldId id="264" r:id="rId17"/>
    <p:sldId id="277" r:id="rId18"/>
    <p:sldId id="265" r:id="rId19"/>
    <p:sldId id="278" r:id="rId20"/>
    <p:sldId id="266" r:id="rId21"/>
    <p:sldId id="279" r:id="rId22"/>
    <p:sldId id="280" r:id="rId23"/>
    <p:sldId id="281" r:id="rId24"/>
    <p:sldId id="282" r:id="rId25"/>
    <p:sldId id="267" r:id="rId26"/>
    <p:sldId id="286" r:id="rId27"/>
    <p:sldId id="283" r:id="rId28"/>
    <p:sldId id="284" r:id="rId29"/>
    <p:sldId id="285" r:id="rId30"/>
    <p:sldId id="270" r:id="rId31"/>
    <p:sldId id="271" r:id="rId32"/>
    <p:sldId id="272" r:id="rId33"/>
    <p:sldId id="288" r:id="rId34"/>
    <p:sldId id="287" r:id="rId35"/>
    <p:sldId id="273" r:id="rId36"/>
    <p:sldId id="274" r:id="rId37"/>
    <p:sldId id="275" r:id="rId38"/>
    <p:sldId id="276" r:id="rId39"/>
  </p:sldIdLst>
  <p:sldSz cx="9144000" cy="6858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81720" autoAdjust="0"/>
  </p:normalViewPr>
  <p:slideViewPr>
    <p:cSldViewPr>
      <p:cViewPr varScale="1">
        <p:scale>
          <a:sx n="59" d="100"/>
          <a:sy n="59" d="100"/>
        </p:scale>
        <p:origin x="-168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56038" y="0"/>
            <a:ext cx="2949575" cy="496888"/>
          </a:xfrm>
          <a:prstGeom prst="rect">
            <a:avLst/>
          </a:prstGeom>
        </p:spPr>
        <p:txBody>
          <a:bodyPr vert="horz" lIns="91440" tIns="45720" rIns="91440" bIns="45720" rtlCol="0"/>
          <a:lstStyle>
            <a:lvl1pPr algn="r">
              <a:defRPr sz="1200"/>
            </a:lvl1pPr>
          </a:lstStyle>
          <a:p>
            <a:fld id="{F94C6C74-0E19-422C-8DF4-3A6F73F7A25A}" type="datetimeFigureOut">
              <a:rPr lang="en-US" smtClean="0"/>
              <a:t>7/17/2025</a:t>
            </a:fld>
            <a:endParaRPr lang="en-IN"/>
          </a:p>
        </p:txBody>
      </p:sp>
      <p:sp>
        <p:nvSpPr>
          <p:cNvPr id="4" name="Footer Placeholder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56038" y="9440863"/>
            <a:ext cx="2949575" cy="496887"/>
          </a:xfrm>
          <a:prstGeom prst="rect">
            <a:avLst/>
          </a:prstGeom>
        </p:spPr>
        <p:txBody>
          <a:bodyPr vert="horz" lIns="91440" tIns="45720" rIns="91440" bIns="45720" rtlCol="0" anchor="b"/>
          <a:lstStyle>
            <a:lvl1pPr algn="r">
              <a:defRPr sz="1200"/>
            </a:lvl1pPr>
          </a:lstStyle>
          <a:p>
            <a:fld id="{0C9B3CED-9801-4137-B482-7FB423C401FA}" type="slidenum">
              <a:rPr lang="en-IN" smtClean="0"/>
              <a:t>‹#›</a:t>
            </a:fld>
            <a:endParaRPr lang="en-I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F713329F-CA80-4A4B-B4A3-CE05AA8C2125}" type="datetimeFigureOut">
              <a:rPr lang="en-US" smtClean="0"/>
              <a:pPr/>
              <a:t>7/17/2025</a:t>
            </a:fld>
            <a:endParaRPr lang="en-US"/>
          </a:p>
        </p:txBody>
      </p:sp>
      <p:sp>
        <p:nvSpPr>
          <p:cNvPr id="4" name="Slide Image Placeholder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6B5A7F54-4F52-4A23-8503-7706DDBB0BB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31"/>
          <p:cNvSpPr>
            <a:spLocks noGrp="1" noChangeArrowheads="1"/>
          </p:cNvSpPr>
          <p:nvPr>
            <p:ph type="sldNum" sz="quarter" idx="5"/>
          </p:nvPr>
        </p:nvSpPr>
        <p:spPr>
          <a:noFill/>
          <a:ln>
            <a:miter lim="800000"/>
            <a:headEnd/>
            <a:tailEnd/>
          </a:ln>
        </p:spPr>
        <p:txBody>
          <a:bodyPr/>
          <a:lstStyle/>
          <a:p>
            <a:fld id="{136D9203-D97F-4CA0-8B34-CE9C32D2F8C2}" type="slidenum">
              <a:rPr lang="en-AU"/>
              <a:pPr/>
              <a:t>2</a:t>
            </a:fld>
            <a:endParaRPr lang="en-AU"/>
          </a:p>
        </p:txBody>
      </p:sp>
      <p:sp>
        <p:nvSpPr>
          <p:cNvPr id="8195" name="Rectangle 1026"/>
          <p:cNvSpPr>
            <a:spLocks noGrp="1" noRot="1" noChangeAspect="1" noChangeArrowheads="1" noTextEdit="1"/>
          </p:cNvSpPr>
          <p:nvPr>
            <p:ph type="sldImg"/>
          </p:nvPr>
        </p:nvSpPr>
        <p:spPr>
          <a:ln/>
        </p:spPr>
      </p:sp>
      <p:sp>
        <p:nvSpPr>
          <p:cNvPr id="8196" name="Rectangle 1027"/>
          <p:cNvSpPr>
            <a:spLocks noGrp="1" noChangeArrowheads="1"/>
          </p:cNvSpPr>
          <p:nvPr>
            <p:ph type="body" idx="1"/>
          </p:nvPr>
        </p:nvSpPr>
        <p:spPr>
          <a:noFill/>
        </p:spPr>
        <p:txBody>
          <a:bodyPr/>
          <a:lstStyle/>
          <a:p>
            <a:pPr eaLnBrk="1" hangingPunct="1"/>
            <a:r>
              <a:rPr lang="en-US" smtClean="0"/>
              <a:t>This quote from the start of Ch0 sets the scene for why we want to study these issues.</a:t>
            </a:r>
          </a:p>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31"/>
          <p:cNvSpPr>
            <a:spLocks noGrp="1" noChangeArrowheads="1"/>
          </p:cNvSpPr>
          <p:nvPr>
            <p:ph type="sldNum" sz="quarter" idx="5"/>
          </p:nvPr>
        </p:nvSpPr>
        <p:spPr>
          <a:noFill/>
          <a:ln>
            <a:miter lim="800000"/>
            <a:headEnd/>
            <a:tailEnd/>
          </a:ln>
        </p:spPr>
        <p:txBody>
          <a:bodyPr/>
          <a:lstStyle/>
          <a:p>
            <a:fld id="{D1448BA9-F8D2-487C-B8D4-0E7B7507E827}" type="slidenum">
              <a:rPr lang="en-AU"/>
              <a:pPr/>
              <a:t>3</a:t>
            </a:fld>
            <a:endParaRPr lang="en-AU"/>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r>
              <a:rPr lang="en-US" smtClean="0">
                <a:latin typeface="Times-Roman" charset="0"/>
              </a:rPr>
              <a:t>The requirements of information security within an organization have undergone two major changes in the last several decades. Before the widespread use of data processing equipment,the security of information felt to be valuable to an organization was provided primarily by physical </a:t>
            </a:r>
            <a:r>
              <a:rPr lang="en-US" smtClean="0"/>
              <a:t>(eg. rugged filing cabinets with locks) and administrative mechanisms (eg. Personnel screening procedures during hiring process).</a:t>
            </a:r>
          </a:p>
          <a:p>
            <a:pPr eaLnBrk="1" hangingPunct="1"/>
            <a:r>
              <a:rPr lang="en-US" smtClean="0"/>
              <a:t>Growing computer use implies a need for automated tools for protecting files and other information stored on it. This is especially the case for a shared system, such as a time-sharing system, and even more so for systems that can be accessed over a public telephone network, data network, or the Internet.</a:t>
            </a:r>
          </a:p>
          <a:p>
            <a:pPr eaLnBrk="1" hangingPunct="1"/>
            <a:r>
              <a:rPr lang="en-US" smtClean="0">
                <a:latin typeface="Times-Roman" charset="0"/>
              </a:rPr>
              <a:t>The second major change that affected security is the introduction of distributed systems and the use of networks and communications facilities for carrying data between terminal user and computer and between computer and computer. Network security measures are needed to protect data during their transmission.</a:t>
            </a:r>
            <a:endParaRPr lang="en-US" smtClean="0"/>
          </a:p>
          <a:p>
            <a:pPr eaLnBrk="1" hangingPunct="1"/>
            <a:endParaRPr lang="en-US" smtClean="0"/>
          </a:p>
          <a:p>
            <a:pPr eaLnBrk="1" hangingPunct="1"/>
            <a:endParaRPr lang="en-AU"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31"/>
          <p:cNvSpPr>
            <a:spLocks noGrp="1" noChangeArrowheads="1"/>
          </p:cNvSpPr>
          <p:nvPr>
            <p:ph type="sldNum" sz="quarter" idx="5"/>
          </p:nvPr>
        </p:nvSpPr>
        <p:spPr>
          <a:noFill/>
          <a:ln>
            <a:miter lim="800000"/>
            <a:headEnd/>
            <a:tailEnd/>
          </a:ln>
        </p:spPr>
        <p:txBody>
          <a:bodyPr/>
          <a:lstStyle/>
          <a:p>
            <a:fld id="{32F836C8-DCDF-426A-A5B8-029B9DE76950}" type="slidenum">
              <a:rPr lang="en-AU"/>
              <a:pPr/>
              <a:t>4</a:t>
            </a:fld>
            <a:endParaRPr lang="en-AU"/>
          </a:p>
        </p:txBody>
      </p:sp>
      <p:sp>
        <p:nvSpPr>
          <p:cNvPr id="12291" name="Rectangle 1026"/>
          <p:cNvSpPr>
            <a:spLocks noGrp="1" noRot="1" noChangeAspect="1" noChangeArrowheads="1" noTextEdit="1"/>
          </p:cNvSpPr>
          <p:nvPr>
            <p:ph type="sldImg"/>
          </p:nvPr>
        </p:nvSpPr>
        <p:spPr>
          <a:ln/>
        </p:spPr>
      </p:sp>
      <p:sp>
        <p:nvSpPr>
          <p:cNvPr id="12292" name="Rectangle 1027"/>
          <p:cNvSpPr>
            <a:spLocks noGrp="1" noChangeArrowheads="1"/>
          </p:cNvSpPr>
          <p:nvPr>
            <p:ph type="body" idx="1"/>
          </p:nvPr>
        </p:nvSpPr>
        <p:spPr>
          <a:noFill/>
        </p:spPr>
        <p:txBody>
          <a:bodyPr/>
          <a:lstStyle/>
          <a:p>
            <a:pPr eaLnBrk="1" hangingPunct="1"/>
            <a:r>
              <a:rPr lang="en-US" smtClean="0"/>
              <a:t>Here are some key definitions, note boundaries between them are blurred.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31"/>
          <p:cNvSpPr>
            <a:spLocks noGrp="1" noChangeArrowheads="1"/>
          </p:cNvSpPr>
          <p:nvPr>
            <p:ph type="sldNum" sz="quarter" idx="5"/>
          </p:nvPr>
        </p:nvSpPr>
        <p:spPr>
          <a:noFill/>
          <a:ln>
            <a:miter lim="800000"/>
            <a:headEnd/>
            <a:tailEnd/>
          </a:ln>
        </p:spPr>
        <p:txBody>
          <a:bodyPr/>
          <a:lstStyle/>
          <a:p>
            <a:fld id="{9F82B431-C976-4649-A921-A6F8490A1A80}" type="slidenum">
              <a:rPr lang="en-AU"/>
              <a:pPr/>
              <a:t>5</a:t>
            </a:fld>
            <a:endParaRPr lang="en-AU"/>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r>
              <a:rPr lang="en-US" smtClean="0"/>
              <a:t>Detail the focus of this book/course, which is on Internet Security - being </a:t>
            </a:r>
            <a:r>
              <a:rPr lang="en-AU" smtClean="0"/>
              <a:t>measures to deter, prevent, detect, and correct security violations that involve the transmission &amp; storage of information.</a:t>
            </a:r>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31"/>
          <p:cNvSpPr>
            <a:spLocks noGrp="1" noChangeArrowheads="1"/>
          </p:cNvSpPr>
          <p:nvPr>
            <p:ph type="sldNum" sz="quarter" idx="5"/>
          </p:nvPr>
        </p:nvSpPr>
        <p:spPr>
          <a:noFill/>
          <a:ln>
            <a:miter lim="800000"/>
            <a:headEnd/>
            <a:tailEnd/>
          </a:ln>
        </p:spPr>
        <p:txBody>
          <a:bodyPr/>
          <a:lstStyle/>
          <a:p>
            <a:fld id="{9F82B431-C976-4649-A921-A6F8490A1A80}" type="slidenum">
              <a:rPr lang="en-AU"/>
              <a:pPr/>
              <a:t>6</a:t>
            </a:fld>
            <a:endParaRPr lang="en-AU"/>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r>
              <a:rPr lang="en-US" smtClean="0"/>
              <a:t>Detail the focus of this book/course, which is on Internet Security - being </a:t>
            </a:r>
            <a:r>
              <a:rPr lang="en-AU" smtClean="0"/>
              <a:t>measures to deter, prevent, detect, and correct security violations that involve the transmission &amp; storage of information.</a:t>
            </a:r>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31"/>
          <p:cNvSpPr>
            <a:spLocks noGrp="1" noChangeArrowheads="1"/>
          </p:cNvSpPr>
          <p:nvPr>
            <p:ph type="sldNum" sz="quarter" idx="5"/>
          </p:nvPr>
        </p:nvSpPr>
        <p:spPr>
          <a:noFill/>
          <a:ln>
            <a:miter lim="800000"/>
            <a:headEnd/>
            <a:tailEnd/>
          </a:ln>
        </p:spPr>
        <p:txBody>
          <a:bodyPr/>
          <a:lstStyle/>
          <a:p>
            <a:fld id="{9F82B431-C976-4649-A921-A6F8490A1A80}" type="slidenum">
              <a:rPr lang="en-AU"/>
              <a:pPr/>
              <a:t>9</a:t>
            </a:fld>
            <a:endParaRPr lang="en-AU"/>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r>
              <a:rPr lang="en-US" smtClean="0"/>
              <a:t>Detail the focus of this book/course, which is on Internet Security - being </a:t>
            </a:r>
            <a:r>
              <a:rPr lang="en-AU" smtClean="0"/>
              <a:t>measures to deter, prevent, detect, and correct security violations that involve the transmission &amp; storage of information.</a:t>
            </a:r>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1"/>
          <p:cNvSpPr>
            <a:spLocks noGrp="1" noChangeArrowheads="1"/>
          </p:cNvSpPr>
          <p:nvPr>
            <p:ph type="sldNum" sz="quarter" idx="5"/>
          </p:nvPr>
        </p:nvSpPr>
        <p:spPr>
          <a:noFill/>
          <a:ln>
            <a:miter lim="800000"/>
            <a:headEnd/>
            <a:tailEnd/>
          </a:ln>
        </p:spPr>
        <p:txBody>
          <a:bodyPr/>
          <a:lstStyle/>
          <a:p>
            <a:fld id="{F13D67C7-E76A-4DBF-8601-17FE4CFBF9A2}" type="slidenum">
              <a:rPr lang="en-AU"/>
              <a:pPr/>
              <a:t>13</a:t>
            </a:fld>
            <a:endParaRPr lang="en-AU"/>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p:spPr>
        <p:txBody>
          <a:bodyPr/>
          <a:lstStyle/>
          <a:p>
            <a:pPr eaLnBrk="1" hangingPunct="1"/>
            <a:r>
              <a:rPr lang="en-US" smtClean="0">
                <a:latin typeface="Times-Roman" charset="0"/>
              </a:rPr>
              <a:t>To assess effectively the security needs of an organization and to evaluate and choose various security products and policies, the manager responsible for security needs some systematic way of defining the requirements for security and characterizing the approaches to satisfying those requirements. This is difficult enough in a centralized data processing environment; with the use of local and wide area networks,the problems are compounded. ITU-T Recommendation X.800, Security Architecture for OSI, defines such a systematic approach. The OSI security architecture is useful to managers as a way of organizing the task of providing security.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31"/>
          <p:cNvSpPr>
            <a:spLocks noGrp="1" noChangeArrowheads="1"/>
          </p:cNvSpPr>
          <p:nvPr>
            <p:ph type="sldNum" sz="quarter" idx="5"/>
          </p:nvPr>
        </p:nvSpPr>
        <p:spPr>
          <a:noFill/>
          <a:ln>
            <a:miter lim="800000"/>
            <a:headEnd/>
            <a:tailEnd/>
          </a:ln>
        </p:spPr>
        <p:txBody>
          <a:bodyPr/>
          <a:lstStyle/>
          <a:p>
            <a:fld id="{C6A25D98-E9E1-4D25-BB78-DCED11965B56}" type="slidenum">
              <a:rPr lang="en-AU"/>
              <a:pPr/>
              <a:t>14</a:t>
            </a:fld>
            <a:endParaRPr lang="en-AU"/>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r>
              <a:rPr lang="en-US" smtClean="0">
                <a:latin typeface="Times-Roman" charset="0"/>
              </a:rPr>
              <a:t>The OSI security architecture focuses on security attacks,mechanisms,and services. These can be defined briefly as follows:</a:t>
            </a:r>
            <a:endParaRPr lang="en-US" smtClean="0"/>
          </a:p>
          <a:p>
            <a:pPr eaLnBrk="1" hangingPunct="1"/>
            <a:r>
              <a:rPr lang="en-US" smtClean="0">
                <a:latin typeface="Times-Roman" charset="0"/>
              </a:rPr>
              <a:t>•</a:t>
            </a:r>
            <a:r>
              <a:rPr lang="en-US" smtClean="0">
                <a:latin typeface="Helvetica" charset="0"/>
              </a:rPr>
              <a:t> </a:t>
            </a:r>
            <a:r>
              <a:rPr lang="en-US" smtClean="0">
                <a:latin typeface="Times-Roman" charset="0"/>
              </a:rPr>
              <a:t>Security attack:</a:t>
            </a:r>
            <a:r>
              <a:rPr lang="en-US" smtClean="0">
                <a:latin typeface="Helvetica" charset="0"/>
              </a:rPr>
              <a:t> </a:t>
            </a:r>
            <a:r>
              <a:rPr lang="en-US" smtClean="0">
                <a:latin typeface="Times-Roman" charset="0"/>
              </a:rPr>
              <a:t>Any action that compromises the security of information owned by an organization. </a:t>
            </a:r>
          </a:p>
          <a:p>
            <a:pPr eaLnBrk="1" hangingPunct="1"/>
            <a:r>
              <a:rPr lang="en-US" smtClean="0">
                <a:latin typeface="Times-Roman" charset="0"/>
              </a:rPr>
              <a:t>•</a:t>
            </a:r>
            <a:r>
              <a:rPr lang="en-US" smtClean="0">
                <a:latin typeface="Helvetica" charset="0"/>
              </a:rPr>
              <a:t> </a:t>
            </a:r>
            <a:r>
              <a:rPr lang="en-US" smtClean="0">
                <a:latin typeface="Times-Roman" charset="0"/>
              </a:rPr>
              <a:t>Security mechanism: A process (or a device incorporating such a process) that is designed to detect, prevent,or recover from a security attack. </a:t>
            </a:r>
          </a:p>
          <a:p>
            <a:pPr eaLnBrk="1" hangingPunct="1"/>
            <a:r>
              <a:rPr lang="en-US" smtClean="0">
                <a:latin typeface="Times-Roman" charset="0"/>
              </a:rPr>
              <a:t>•</a:t>
            </a:r>
            <a:r>
              <a:rPr lang="en-US" smtClean="0">
                <a:latin typeface="Helvetica" charset="0"/>
              </a:rPr>
              <a:t> </a:t>
            </a:r>
            <a:r>
              <a:rPr lang="en-US" smtClean="0">
                <a:latin typeface="Times-Roman" charset="0"/>
              </a:rPr>
              <a:t>Security service:</a:t>
            </a:r>
            <a:r>
              <a:rPr lang="en-US" smtClean="0">
                <a:latin typeface="Helvetica" charset="0"/>
              </a:rPr>
              <a:t> </a:t>
            </a:r>
            <a:r>
              <a:rPr lang="en-US" smtClean="0">
                <a:latin typeface="Times-Roman" charset="0"/>
              </a:rPr>
              <a:t>A processing or communication service that enhances the security of the data processing systems and the information transfers of an organization.The services are intended to counter security attacks, and they make use of one or more security mechanisms to provide the service.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31"/>
          <p:cNvSpPr>
            <a:spLocks noGrp="1" noChangeArrowheads="1"/>
          </p:cNvSpPr>
          <p:nvPr>
            <p:ph type="sldNum" sz="quarter" idx="5"/>
          </p:nvPr>
        </p:nvSpPr>
        <p:spPr>
          <a:noFill/>
          <a:ln>
            <a:miter lim="800000"/>
            <a:headEnd/>
            <a:tailEnd/>
          </a:ln>
        </p:spPr>
        <p:txBody>
          <a:bodyPr/>
          <a:lstStyle/>
          <a:p>
            <a:fld id="{DFA9DF86-FD84-40C9-8B19-8E9651EA48C7}" type="slidenum">
              <a:rPr lang="en-AU"/>
              <a:pPr/>
              <a:t>15</a:t>
            </a:fld>
            <a:endParaRPr lang="en-AU"/>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en-US" smtClean="0"/>
              <a:t>Expand on definition and use of “security attack”, as detailed above.</a:t>
            </a:r>
          </a:p>
          <a:p>
            <a:pPr eaLnBrk="1" hangingPunct="1"/>
            <a:r>
              <a:rPr lang="en-US" smtClean="0"/>
              <a:t>See Stallings Table 1.1 for definitions of threat and attack.</a:t>
            </a:r>
            <a:endParaRPr lang="en-AU"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31"/>
          <p:cNvSpPr>
            <a:spLocks noGrp="1" noChangeArrowheads="1"/>
          </p:cNvSpPr>
          <p:nvPr>
            <p:ph type="sldNum" sz="quarter" idx="5"/>
          </p:nvPr>
        </p:nvSpPr>
        <p:spPr>
          <a:noFill/>
          <a:ln>
            <a:miter lim="800000"/>
            <a:headEnd/>
            <a:tailEnd/>
          </a:ln>
        </p:spPr>
        <p:txBody>
          <a:bodyPr/>
          <a:lstStyle/>
          <a:p>
            <a:fld id="{DFA9DF86-FD84-40C9-8B19-8E9651EA48C7}" type="slidenum">
              <a:rPr lang="en-AU"/>
              <a:pPr/>
              <a:t>16</a:t>
            </a:fld>
            <a:endParaRPr lang="en-AU"/>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en-US" smtClean="0"/>
              <a:t>Expand on definition and use of “security attack”, as detailed above.</a:t>
            </a:r>
          </a:p>
          <a:p>
            <a:pPr eaLnBrk="1" hangingPunct="1"/>
            <a:r>
              <a:rPr lang="en-US" smtClean="0"/>
              <a:t>See Stallings Table 1.1 for definitions of threat and attack.</a:t>
            </a:r>
            <a:endParaRPr lang="en-AU"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31"/>
          <p:cNvSpPr>
            <a:spLocks noGrp="1" noChangeArrowheads="1"/>
          </p:cNvSpPr>
          <p:nvPr>
            <p:ph type="sldNum" sz="quarter" idx="5"/>
          </p:nvPr>
        </p:nvSpPr>
        <p:spPr>
          <a:noFill/>
          <a:ln>
            <a:miter lim="800000"/>
            <a:headEnd/>
            <a:tailEnd/>
          </a:ln>
        </p:spPr>
        <p:txBody>
          <a:bodyPr/>
          <a:lstStyle/>
          <a:p>
            <a:fld id="{DFA9DF86-FD84-40C9-8B19-8E9651EA48C7}" type="slidenum">
              <a:rPr lang="en-AU"/>
              <a:pPr/>
              <a:t>17</a:t>
            </a:fld>
            <a:endParaRPr lang="en-AU"/>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en-US" smtClean="0"/>
              <a:t>Expand on definition and use of “security attack”, as detailed above.</a:t>
            </a:r>
          </a:p>
          <a:p>
            <a:pPr eaLnBrk="1" hangingPunct="1"/>
            <a:r>
              <a:rPr lang="en-US" smtClean="0"/>
              <a:t>See Stallings Table 1.1 for definitions of threat and attack.</a:t>
            </a:r>
            <a:endParaRPr lang="en-AU"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31"/>
          <p:cNvSpPr>
            <a:spLocks noGrp="1" noChangeArrowheads="1"/>
          </p:cNvSpPr>
          <p:nvPr>
            <p:ph type="sldNum" sz="quarter" idx="5"/>
          </p:nvPr>
        </p:nvSpPr>
        <p:spPr>
          <a:noFill/>
          <a:ln>
            <a:miter lim="800000"/>
            <a:headEnd/>
            <a:tailEnd/>
          </a:ln>
        </p:spPr>
        <p:txBody>
          <a:bodyPr/>
          <a:lstStyle/>
          <a:p>
            <a:fld id="{3845B714-7B1C-4AB9-B2CA-F5CBE0A45167}" type="slidenum">
              <a:rPr lang="en-AU"/>
              <a:pPr/>
              <a:t>18</a:t>
            </a:fld>
            <a:endParaRPr lang="en-AU"/>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en-US" b="1" dirty="0" smtClean="0"/>
              <a:t>Have “passive attacks” which </a:t>
            </a:r>
            <a:r>
              <a:rPr lang="en-US" dirty="0" smtClean="0">
                <a:latin typeface="Times-Roman" charset="0"/>
              </a:rPr>
              <a:t>attempt to learn or make use of information from the system but does not affect system resources.</a:t>
            </a:r>
          </a:p>
          <a:p>
            <a:pPr eaLnBrk="1" hangingPunct="1"/>
            <a:r>
              <a:rPr lang="en-US" dirty="0" smtClean="0">
                <a:latin typeface="Times-Roman" charset="0"/>
              </a:rPr>
              <a:t>By </a:t>
            </a:r>
            <a:r>
              <a:rPr lang="en-AU" dirty="0" smtClean="0"/>
              <a:t>eavesdropping on, or monitoring of, transmissions to:</a:t>
            </a:r>
          </a:p>
          <a:p>
            <a:pPr lvl="1" eaLnBrk="1" hangingPunct="1"/>
            <a:r>
              <a:rPr lang="en-US" dirty="0" smtClean="0"/>
              <a:t>+ obtain message contents (as shown above in Stallings Figure 1.3a), or</a:t>
            </a:r>
          </a:p>
          <a:p>
            <a:pPr lvl="1" eaLnBrk="1" hangingPunct="1"/>
            <a:r>
              <a:rPr lang="en-US" dirty="0" smtClean="0"/>
              <a:t>+ monitor traffic flows</a:t>
            </a:r>
          </a:p>
          <a:p>
            <a:pPr eaLnBrk="1" hangingPunct="1"/>
            <a:r>
              <a:rPr lang="en-US" dirty="0" smtClean="0"/>
              <a:t>Are difficult to detect </a:t>
            </a:r>
            <a:r>
              <a:rPr lang="en-US" dirty="0" smtClean="0">
                <a:latin typeface="Times-Roman" charset="0"/>
              </a:rPr>
              <a:t>because they do not involve any alteration of the data.</a:t>
            </a:r>
          </a:p>
          <a:p>
            <a:r>
              <a:rPr lang="en-US" sz="1200" kern="1200" baseline="0" dirty="0" smtClean="0">
                <a:solidFill>
                  <a:schemeClr val="tx1"/>
                </a:solidFill>
                <a:latin typeface="+mn-lt"/>
                <a:ea typeface="+mn-ea"/>
                <a:cs typeface="+mn-cs"/>
              </a:rPr>
              <a:t>A telephone conversation, an electronic mail message, and a transferred file may contain sensitive or confidential information. We would like to prevent an opponent from learning the contents of these transmissions.</a:t>
            </a:r>
            <a:endParaRPr lang="en-US" dirty="0" smtClean="0"/>
          </a:p>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31"/>
          <p:cNvSpPr>
            <a:spLocks noGrp="1" noChangeArrowheads="1"/>
          </p:cNvSpPr>
          <p:nvPr>
            <p:ph type="sldNum" sz="quarter" idx="5"/>
          </p:nvPr>
        </p:nvSpPr>
        <p:spPr>
          <a:noFill/>
          <a:ln>
            <a:miter lim="800000"/>
            <a:headEnd/>
            <a:tailEnd/>
          </a:ln>
        </p:spPr>
        <p:txBody>
          <a:bodyPr/>
          <a:lstStyle/>
          <a:p>
            <a:fld id="{3845B714-7B1C-4AB9-B2CA-F5CBE0A45167}" type="slidenum">
              <a:rPr lang="en-AU"/>
              <a:pPr/>
              <a:t>19</a:t>
            </a:fld>
            <a:endParaRPr lang="en-AU"/>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r>
              <a:rPr lang="en-US" sz="1200" kern="1200" baseline="0" dirty="0" smtClean="0">
                <a:solidFill>
                  <a:schemeClr val="tx1"/>
                </a:solidFill>
                <a:latin typeface="+mn-lt"/>
                <a:ea typeface="+mn-ea"/>
                <a:cs typeface="+mn-cs"/>
              </a:rPr>
              <a:t>Suppose that we had a way of masking the contents of messages or other information traffic so that opponents, even if they captured the message, could not extract the information from the message. The common technique for masking contents is encryption. If we had encryption protection in place, an opponent might still be able to observe the pattern of these messages. The opponent could determine the location and identity of communicating hosts and could observe the frequency and length of messages being exchanged. This information might be useful in guessing the nature of the communication that was taking place.</a:t>
            </a:r>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31"/>
          <p:cNvSpPr>
            <a:spLocks noGrp="1" noChangeArrowheads="1"/>
          </p:cNvSpPr>
          <p:nvPr>
            <p:ph type="sldNum" sz="quarter" idx="5"/>
          </p:nvPr>
        </p:nvSpPr>
        <p:spPr>
          <a:noFill/>
          <a:ln>
            <a:miter lim="800000"/>
            <a:headEnd/>
            <a:tailEnd/>
          </a:ln>
        </p:spPr>
        <p:txBody>
          <a:bodyPr/>
          <a:lstStyle/>
          <a:p>
            <a:fld id="{3ACDDEA1-4AF2-4B1A-943E-92D43A4372BA}" type="slidenum">
              <a:rPr lang="en-AU"/>
              <a:pPr/>
              <a:t>20</a:t>
            </a:fld>
            <a:endParaRPr lang="en-AU"/>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lnSpc>
                <a:spcPct val="90000"/>
              </a:lnSpc>
            </a:pPr>
            <a:r>
              <a:rPr lang="en-AU" sz="1000" b="1" dirty="0" smtClean="0"/>
              <a:t>Also have “active attacks”</a:t>
            </a:r>
            <a:r>
              <a:rPr lang="en-AU" sz="1000" dirty="0" smtClean="0"/>
              <a:t> which </a:t>
            </a:r>
            <a:r>
              <a:rPr lang="en-US" dirty="0" smtClean="0">
                <a:latin typeface="Times-Roman" charset="0"/>
              </a:rPr>
              <a:t>attempt to alter system resources or affect their operation.</a:t>
            </a:r>
          </a:p>
          <a:p>
            <a:pPr eaLnBrk="1" hangingPunct="1">
              <a:lnSpc>
                <a:spcPct val="90000"/>
              </a:lnSpc>
            </a:pPr>
            <a:r>
              <a:rPr lang="en-US" dirty="0" smtClean="0">
                <a:latin typeface="Times-Roman" charset="0"/>
              </a:rPr>
              <a:t>By </a:t>
            </a:r>
            <a:r>
              <a:rPr lang="en-AU" sz="1000" dirty="0" smtClean="0"/>
              <a:t>modification of data stream to:</a:t>
            </a:r>
          </a:p>
          <a:p>
            <a:pPr lvl="1" eaLnBrk="1" hangingPunct="1">
              <a:lnSpc>
                <a:spcPct val="90000"/>
              </a:lnSpc>
            </a:pPr>
            <a:r>
              <a:rPr lang="en-US" sz="1000" dirty="0" smtClean="0"/>
              <a:t>+ masquerade of one entity as some other</a:t>
            </a:r>
            <a:endParaRPr lang="en-AU" sz="1000" dirty="0" smtClean="0"/>
          </a:p>
          <a:p>
            <a:pPr lvl="1" eaLnBrk="1" hangingPunct="1">
              <a:lnSpc>
                <a:spcPct val="90000"/>
              </a:lnSpc>
            </a:pPr>
            <a:r>
              <a:rPr lang="en-US" sz="1000" dirty="0" smtClean="0"/>
              <a:t>+ replay previous messages (as shown above in </a:t>
            </a:r>
            <a:r>
              <a:rPr lang="en-US" dirty="0" smtClean="0"/>
              <a:t>Stallings </a:t>
            </a:r>
            <a:r>
              <a:rPr lang="en-US" sz="1000" dirty="0" smtClean="0"/>
              <a:t>Figure 1.4b)</a:t>
            </a:r>
          </a:p>
          <a:p>
            <a:pPr lvl="1" eaLnBrk="1" hangingPunct="1">
              <a:lnSpc>
                <a:spcPct val="90000"/>
              </a:lnSpc>
            </a:pPr>
            <a:r>
              <a:rPr lang="en-US" sz="1000" dirty="0" smtClean="0"/>
              <a:t>+ modify messages in transit</a:t>
            </a:r>
          </a:p>
          <a:p>
            <a:pPr lvl="1" eaLnBrk="1" hangingPunct="1">
              <a:lnSpc>
                <a:spcPct val="90000"/>
              </a:lnSpc>
            </a:pPr>
            <a:r>
              <a:rPr lang="en-US" sz="1000" dirty="0" smtClean="0"/>
              <a:t>+ denial of service</a:t>
            </a:r>
            <a:endParaRPr lang="en-US" dirty="0" smtClean="0">
              <a:latin typeface="Times-Roman" charset="0"/>
            </a:endParaRPr>
          </a:p>
          <a:p>
            <a:pPr eaLnBrk="1" hangingPunct="1">
              <a:lnSpc>
                <a:spcPct val="90000"/>
              </a:lnSpc>
            </a:pPr>
            <a:r>
              <a:rPr lang="en-US" dirty="0" smtClean="0">
                <a:latin typeface="Times-Roman" charset="0"/>
              </a:rPr>
              <a:t>Active attacks present the opposite characteristics of passive attacks. Whereas passive attacks are difficult to detect, measures are available to prevent their success. On the other hand, it is quite difficult to prevent active attacks absolutely, because of the wide variety of potential </a:t>
            </a:r>
            <a:r>
              <a:rPr lang="en-US" dirty="0" err="1" smtClean="0">
                <a:latin typeface="Times-Roman" charset="0"/>
              </a:rPr>
              <a:t>physical,software,and</a:t>
            </a:r>
            <a:r>
              <a:rPr lang="en-US" dirty="0" smtClean="0">
                <a:latin typeface="Times-Roman" charset="0"/>
              </a:rPr>
              <a:t> network vulnerabilities. Instead, the goal is to detect active attacks and to recover from any disruption or delays caused by them.</a:t>
            </a:r>
          </a:p>
          <a:p>
            <a:pPr lvl="1" eaLnBrk="1" hangingPunct="1">
              <a:lnSpc>
                <a:spcPct val="90000"/>
              </a:lnSpc>
            </a:pPr>
            <a:endParaRPr lang="en-US" dirty="0" smtClean="0">
              <a:latin typeface="Times-Roman"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31"/>
          <p:cNvSpPr>
            <a:spLocks noGrp="1" noChangeArrowheads="1"/>
          </p:cNvSpPr>
          <p:nvPr>
            <p:ph type="sldNum" sz="quarter" idx="5"/>
          </p:nvPr>
        </p:nvSpPr>
        <p:spPr>
          <a:noFill/>
          <a:ln>
            <a:miter lim="800000"/>
            <a:headEnd/>
            <a:tailEnd/>
          </a:ln>
        </p:spPr>
        <p:txBody>
          <a:bodyPr/>
          <a:lstStyle/>
          <a:p>
            <a:fld id="{3ACDDEA1-4AF2-4B1A-943E-92D43A4372BA}" type="slidenum">
              <a:rPr lang="en-AU"/>
              <a:pPr/>
              <a:t>21</a:t>
            </a:fld>
            <a:endParaRPr lang="en-AU"/>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lnSpc>
                <a:spcPct val="90000"/>
              </a:lnSpc>
            </a:pPr>
            <a:r>
              <a:rPr lang="en-US" dirty="0" smtClean="0">
                <a:latin typeface="Times-Roman" charset="0"/>
              </a:rPr>
              <a:t>Active attacks present the opposite characteristics of passive attacks. Whereas passive attacks are difficult to detect, measures are available to prevent their success. On the other hand, it is quite difficult to prevent active attacks absolutely, because of the wide variety of potential </a:t>
            </a:r>
            <a:r>
              <a:rPr lang="en-US" dirty="0" err="1" smtClean="0">
                <a:latin typeface="Times-Roman" charset="0"/>
              </a:rPr>
              <a:t>physical,software,and</a:t>
            </a:r>
            <a:r>
              <a:rPr lang="en-US" dirty="0" smtClean="0">
                <a:latin typeface="Times-Roman" charset="0"/>
              </a:rPr>
              <a:t> network vulnerabilities. Instead, the goal is to detect active attacks and to recover from any disruption or delays caused by them.</a:t>
            </a:r>
          </a:p>
          <a:p>
            <a:pPr lvl="1" eaLnBrk="1" hangingPunct="1">
              <a:lnSpc>
                <a:spcPct val="90000"/>
              </a:lnSpc>
            </a:pPr>
            <a:endParaRPr lang="en-US" dirty="0" smtClean="0">
              <a:latin typeface="Times-Roman"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31"/>
          <p:cNvSpPr>
            <a:spLocks noGrp="1" noChangeArrowheads="1"/>
          </p:cNvSpPr>
          <p:nvPr>
            <p:ph type="sldNum" sz="quarter" idx="5"/>
          </p:nvPr>
        </p:nvSpPr>
        <p:spPr>
          <a:noFill/>
          <a:ln>
            <a:miter lim="800000"/>
            <a:headEnd/>
            <a:tailEnd/>
          </a:ln>
        </p:spPr>
        <p:txBody>
          <a:bodyPr/>
          <a:lstStyle/>
          <a:p>
            <a:fld id="{3ACDDEA1-4AF2-4B1A-943E-92D43A4372BA}" type="slidenum">
              <a:rPr lang="en-AU"/>
              <a:pPr/>
              <a:t>22</a:t>
            </a:fld>
            <a:endParaRPr lang="en-AU"/>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lnSpc>
                <a:spcPct val="90000"/>
              </a:lnSpc>
            </a:pPr>
            <a:r>
              <a:rPr lang="en-US" dirty="0" smtClean="0">
                <a:latin typeface="Times-Roman" charset="0"/>
              </a:rPr>
              <a:t>Active attacks present the opposite characteristics of passive attacks. Whereas passive attacks are difficult to detect, measures are available to prevent their success. On the other hand, it is quite difficult to prevent active attacks absolutely, because of the wide variety of potential </a:t>
            </a:r>
            <a:r>
              <a:rPr lang="en-US" dirty="0" err="1" smtClean="0">
                <a:latin typeface="Times-Roman" charset="0"/>
              </a:rPr>
              <a:t>physical,software,and</a:t>
            </a:r>
            <a:r>
              <a:rPr lang="en-US" dirty="0" smtClean="0">
                <a:latin typeface="Times-Roman" charset="0"/>
              </a:rPr>
              <a:t> network vulnerabilities. Instead, the goal is to detect active attacks and to recover from any disruption or delays caused by them.</a:t>
            </a:r>
          </a:p>
          <a:p>
            <a:pPr lvl="1" eaLnBrk="1" hangingPunct="1">
              <a:lnSpc>
                <a:spcPct val="90000"/>
              </a:lnSpc>
            </a:pPr>
            <a:endParaRPr lang="en-US" dirty="0" smtClean="0">
              <a:latin typeface="Times-Roman"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31"/>
          <p:cNvSpPr>
            <a:spLocks noGrp="1" noChangeArrowheads="1"/>
          </p:cNvSpPr>
          <p:nvPr>
            <p:ph type="sldNum" sz="quarter" idx="5"/>
          </p:nvPr>
        </p:nvSpPr>
        <p:spPr>
          <a:noFill/>
          <a:ln>
            <a:miter lim="800000"/>
            <a:headEnd/>
            <a:tailEnd/>
          </a:ln>
        </p:spPr>
        <p:txBody>
          <a:bodyPr/>
          <a:lstStyle/>
          <a:p>
            <a:fld id="{3ACDDEA1-4AF2-4B1A-943E-92D43A4372BA}" type="slidenum">
              <a:rPr lang="en-AU"/>
              <a:pPr/>
              <a:t>23</a:t>
            </a:fld>
            <a:endParaRPr lang="en-AU"/>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lnSpc>
                <a:spcPct val="90000"/>
              </a:lnSpc>
            </a:pPr>
            <a:r>
              <a:rPr lang="en-US" dirty="0" smtClean="0">
                <a:latin typeface="Times-Roman" charset="0"/>
              </a:rPr>
              <a:t>Active attacks present the opposite characteristics of passive attacks. Whereas passive attacks are difficult to detect, measures are available to prevent their success. On the other hand, it is quite difficult to prevent active attacks absolutely, because of the wide variety of potential </a:t>
            </a:r>
            <a:r>
              <a:rPr lang="en-US" dirty="0" err="1" smtClean="0">
                <a:latin typeface="Times-Roman" charset="0"/>
              </a:rPr>
              <a:t>physical,software,and</a:t>
            </a:r>
            <a:r>
              <a:rPr lang="en-US" dirty="0" smtClean="0">
                <a:latin typeface="Times-Roman" charset="0"/>
              </a:rPr>
              <a:t> network vulnerabilities. Instead, the goal is to detect active attacks and to recover from any disruption or delays caused by them.</a:t>
            </a:r>
          </a:p>
          <a:p>
            <a:pPr lvl="1" eaLnBrk="1" hangingPunct="1">
              <a:lnSpc>
                <a:spcPct val="90000"/>
              </a:lnSpc>
            </a:pPr>
            <a:endParaRPr lang="en-US" dirty="0" smtClean="0">
              <a:latin typeface="Times-Roman"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31"/>
          <p:cNvSpPr>
            <a:spLocks noGrp="1" noChangeArrowheads="1"/>
          </p:cNvSpPr>
          <p:nvPr>
            <p:ph type="sldNum" sz="quarter" idx="5"/>
          </p:nvPr>
        </p:nvSpPr>
        <p:spPr>
          <a:noFill/>
          <a:ln>
            <a:miter lim="800000"/>
            <a:headEnd/>
            <a:tailEnd/>
          </a:ln>
        </p:spPr>
        <p:txBody>
          <a:bodyPr/>
          <a:lstStyle/>
          <a:p>
            <a:fld id="{3ACDDEA1-4AF2-4B1A-943E-92D43A4372BA}" type="slidenum">
              <a:rPr lang="en-AU"/>
              <a:pPr/>
              <a:t>24</a:t>
            </a:fld>
            <a:endParaRPr lang="en-AU"/>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lnSpc>
                <a:spcPct val="90000"/>
              </a:lnSpc>
            </a:pPr>
            <a:r>
              <a:rPr lang="en-US" dirty="0" smtClean="0">
                <a:latin typeface="Times-Roman" charset="0"/>
              </a:rPr>
              <a:t>Active attacks present the opposite characteristics of passive attacks. Whereas passive attacks are difficult to detect, measures are available to prevent their success. On the other hand, it is quite difficult to prevent active attacks absolutely, because of the wide variety of potential </a:t>
            </a:r>
            <a:r>
              <a:rPr lang="en-US" dirty="0" err="1" smtClean="0">
                <a:latin typeface="Times-Roman" charset="0"/>
              </a:rPr>
              <a:t>physical,software,and</a:t>
            </a:r>
            <a:r>
              <a:rPr lang="en-US" dirty="0" smtClean="0">
                <a:latin typeface="Times-Roman" charset="0"/>
              </a:rPr>
              <a:t> network vulnerabilities. Instead, the goal is to detect active attacks and to recover from any disruption or delays caused by them.</a:t>
            </a:r>
          </a:p>
          <a:p>
            <a:pPr lvl="1" eaLnBrk="1" hangingPunct="1">
              <a:lnSpc>
                <a:spcPct val="90000"/>
              </a:lnSpc>
            </a:pPr>
            <a:endParaRPr lang="en-US" dirty="0" smtClean="0">
              <a:latin typeface="Times-Roman"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a:ln>
            <a:miter lim="800000"/>
            <a:headEnd/>
            <a:tailEnd/>
          </a:ln>
        </p:spPr>
        <p:txBody>
          <a:bodyPr/>
          <a:lstStyle/>
          <a:p>
            <a:fld id="{51453D50-55FA-4129-B967-868466EA9297}" type="slidenum">
              <a:rPr lang="en-AU"/>
              <a:pPr/>
              <a:t>25</a:t>
            </a:fld>
            <a:endParaRPr lang="en-AU"/>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r>
              <a:rPr lang="en-US" i="1" smtClean="0">
                <a:solidFill>
                  <a:srgbClr val="0000FF"/>
                </a:solidFill>
                <a:latin typeface="Times-Italic" charset="0"/>
              </a:rPr>
              <a:t>Consider the role of a security service, and what may be required. </a:t>
            </a:r>
          </a:p>
          <a:p>
            <a:pPr eaLnBrk="1" hangingPunct="1"/>
            <a:r>
              <a:rPr lang="en-US" i="1" smtClean="0">
                <a:solidFill>
                  <a:srgbClr val="0000FF"/>
                </a:solidFill>
                <a:latin typeface="Times-Italic" charset="0"/>
              </a:rPr>
              <a:t>Note both similarities and differences with traditional paper documents, which for example: </a:t>
            </a:r>
          </a:p>
          <a:p>
            <a:pPr eaLnBrk="1" hangingPunct="1"/>
            <a:r>
              <a:rPr lang="en-US" i="1" smtClean="0">
                <a:solidFill>
                  <a:srgbClr val="0000FF"/>
                </a:solidFill>
                <a:latin typeface="Times-Italic" charset="0"/>
              </a:rPr>
              <a:t>	</a:t>
            </a:r>
            <a:r>
              <a:rPr lang="en-US" smtClean="0">
                <a:solidFill>
                  <a:srgbClr val="800080"/>
                </a:solidFill>
                <a:latin typeface="Times-Roman" charset="0"/>
              </a:rPr>
              <a:t>have signatures &amp; dates; </a:t>
            </a:r>
          </a:p>
          <a:p>
            <a:pPr eaLnBrk="1" hangingPunct="1"/>
            <a:r>
              <a:rPr lang="en-US" smtClean="0">
                <a:solidFill>
                  <a:srgbClr val="800080"/>
                </a:solidFill>
                <a:latin typeface="Times-Roman" charset="0"/>
              </a:rPr>
              <a:t>	need protection from disclosure, tampering, or destruction; </a:t>
            </a:r>
          </a:p>
          <a:p>
            <a:pPr eaLnBrk="1" hangingPunct="1"/>
            <a:r>
              <a:rPr lang="en-US" smtClean="0">
                <a:solidFill>
                  <a:srgbClr val="800080"/>
                </a:solidFill>
                <a:latin typeface="Times-Roman" charset="0"/>
              </a:rPr>
              <a:t>	may be notarized or witnessed; </a:t>
            </a:r>
          </a:p>
          <a:p>
            <a:pPr eaLnBrk="1" hangingPunct="1"/>
            <a:r>
              <a:rPr lang="en-US" smtClean="0">
                <a:solidFill>
                  <a:srgbClr val="800080"/>
                </a:solidFill>
                <a:latin typeface="Times-Roman" charset="0"/>
              </a:rPr>
              <a:t>	may be recorded or licensed</a:t>
            </a:r>
            <a:endParaRPr lang="en-US" i="1" smtClean="0">
              <a:solidFill>
                <a:srgbClr val="0000FF"/>
              </a:solidFill>
              <a:latin typeface="Times-Italic" charset="0"/>
            </a:endParaRPr>
          </a:p>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a:ln>
            <a:miter lim="800000"/>
            <a:headEnd/>
            <a:tailEnd/>
          </a:ln>
        </p:spPr>
        <p:txBody>
          <a:bodyPr/>
          <a:lstStyle/>
          <a:p>
            <a:fld id="{7BB247BB-5364-4ACB-A1B5-A6CD9E6A6209}" type="slidenum">
              <a:rPr lang="en-AU"/>
              <a:pPr/>
              <a:t>26</a:t>
            </a:fld>
            <a:endParaRPr lang="en-AU"/>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r>
              <a:rPr lang="en-US" i="1" smtClean="0">
                <a:solidFill>
                  <a:srgbClr val="0000FF"/>
                </a:solidFill>
                <a:latin typeface="Times-Italic" charset="0"/>
              </a:rPr>
              <a:t>This list includes the various "classic" security services which are traditionally discussed. </a:t>
            </a:r>
          </a:p>
          <a:p>
            <a:pPr eaLnBrk="1" hangingPunct="1"/>
            <a:r>
              <a:rPr lang="en-US" i="1" smtClean="0">
                <a:solidFill>
                  <a:srgbClr val="0000FF"/>
                </a:solidFill>
                <a:latin typeface="Times-Italic" charset="0"/>
              </a:rPr>
              <a:t>Note there is a degree of ambiguity as to the meaning of these terms, and overlap in their use.</a:t>
            </a:r>
          </a:p>
          <a:p>
            <a:pPr eaLnBrk="1" hangingPunct="1"/>
            <a:r>
              <a:rPr lang="en-US" smtClean="0"/>
              <a:t>See Stallings Table 1.2 for details of the 5 Security Service categories and the 14 specific services given in X.800.</a:t>
            </a:r>
            <a:endParaRPr lang="en-AU"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31"/>
          <p:cNvSpPr>
            <a:spLocks noGrp="1" noChangeArrowheads="1"/>
          </p:cNvSpPr>
          <p:nvPr>
            <p:ph type="sldNum" sz="quarter" idx="5"/>
          </p:nvPr>
        </p:nvSpPr>
        <p:spPr>
          <a:noFill/>
          <a:ln>
            <a:miter lim="800000"/>
            <a:headEnd/>
            <a:tailEnd/>
          </a:ln>
        </p:spPr>
        <p:txBody>
          <a:bodyPr/>
          <a:lstStyle/>
          <a:p>
            <a:fld id="{55626573-786F-4262-9E50-1B0156E40C2A}" type="slidenum">
              <a:rPr lang="en-AU"/>
              <a:pPr/>
              <a:t>27</a:t>
            </a:fld>
            <a:endParaRPr lang="en-AU"/>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r>
              <a:rPr lang="en-US" i="1" smtClean="0">
                <a:solidFill>
                  <a:srgbClr val="0000FF"/>
                </a:solidFill>
                <a:latin typeface="Times-Italic" charset="0"/>
              </a:rPr>
              <a:t>Also have a couple of definition of “security services” from relevant standards. </a:t>
            </a:r>
            <a:r>
              <a:rPr lang="en-US" smtClean="0">
                <a:latin typeface="Times-Roman" charset="0"/>
              </a:rPr>
              <a:t>X.800 defines a security service as a service provided by a protocol layer of communicating open systems, which ensures adequate security of the systems or of data transfers. Perhaps a clearer definition is found in RFC 2828, which provides the following definition: a processing or communication service that is provided by a system to give a specific kind of protection to system resources; security services implement security policies and are implemented by security mechanisms.</a:t>
            </a:r>
            <a:r>
              <a:rPr lang="en-US" smtClean="0">
                <a:latin typeface="Helvetica" charset="0"/>
              </a:rPr>
              <a:t> </a:t>
            </a:r>
            <a:endParaRPr lang="en-US" i="1" smtClean="0">
              <a:solidFill>
                <a:srgbClr val="0000FF"/>
              </a:solidFill>
              <a:latin typeface="Times-Italic" charset="0"/>
            </a:endParaRPr>
          </a:p>
          <a:p>
            <a:pPr eaLnBrk="1" hangingPunct="1"/>
            <a:endParaRPr lang="en-US" i="1" smtClean="0">
              <a:solidFill>
                <a:srgbClr val="0000FF"/>
              </a:solidFill>
              <a:latin typeface="Times-Italic"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31"/>
          <p:cNvSpPr>
            <a:spLocks noGrp="1" noChangeArrowheads="1"/>
          </p:cNvSpPr>
          <p:nvPr>
            <p:ph type="sldNum" sz="quarter" idx="5"/>
          </p:nvPr>
        </p:nvSpPr>
        <p:spPr>
          <a:noFill/>
          <a:ln>
            <a:miter lim="800000"/>
            <a:headEnd/>
            <a:tailEnd/>
          </a:ln>
        </p:spPr>
        <p:txBody>
          <a:bodyPr/>
          <a:lstStyle/>
          <a:p>
            <a:fld id="{55626573-786F-4262-9E50-1B0156E40C2A}" type="slidenum">
              <a:rPr lang="en-AU"/>
              <a:pPr/>
              <a:t>28</a:t>
            </a:fld>
            <a:endParaRPr lang="en-AU"/>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r>
              <a:rPr lang="en-US" i="1" smtClean="0">
                <a:solidFill>
                  <a:srgbClr val="0000FF"/>
                </a:solidFill>
                <a:latin typeface="Times-Italic" charset="0"/>
              </a:rPr>
              <a:t>Also have a couple of definition of “security services” from relevant standards. </a:t>
            </a:r>
            <a:r>
              <a:rPr lang="en-US" smtClean="0">
                <a:latin typeface="Times-Roman" charset="0"/>
              </a:rPr>
              <a:t>X.800 defines a security service as a service provided by a protocol layer of communicating open systems, which ensures adequate security of the systems or of data transfers. Perhaps a clearer definition is found in RFC 2828, which provides the following definition: a processing or communication service that is provided by a system to give a specific kind of protection to system resources; security services implement security policies and are implemented by security mechanisms.</a:t>
            </a:r>
            <a:r>
              <a:rPr lang="en-US" smtClean="0">
                <a:latin typeface="Helvetica" charset="0"/>
              </a:rPr>
              <a:t> </a:t>
            </a:r>
            <a:endParaRPr lang="en-US" i="1" smtClean="0">
              <a:solidFill>
                <a:srgbClr val="0000FF"/>
              </a:solidFill>
              <a:latin typeface="Times-Italic" charset="0"/>
            </a:endParaRPr>
          </a:p>
          <a:p>
            <a:pPr eaLnBrk="1" hangingPunct="1"/>
            <a:endParaRPr lang="en-US" i="1" smtClean="0">
              <a:solidFill>
                <a:srgbClr val="0000FF"/>
              </a:solidFill>
              <a:latin typeface="Times-Italic"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31"/>
          <p:cNvSpPr>
            <a:spLocks noGrp="1" noChangeArrowheads="1"/>
          </p:cNvSpPr>
          <p:nvPr>
            <p:ph type="sldNum" sz="quarter" idx="5"/>
          </p:nvPr>
        </p:nvSpPr>
        <p:spPr>
          <a:noFill/>
          <a:ln>
            <a:miter lim="800000"/>
            <a:headEnd/>
            <a:tailEnd/>
          </a:ln>
        </p:spPr>
        <p:txBody>
          <a:bodyPr/>
          <a:lstStyle/>
          <a:p>
            <a:fld id="{55626573-786F-4262-9E50-1B0156E40C2A}" type="slidenum">
              <a:rPr lang="en-AU"/>
              <a:pPr/>
              <a:t>29</a:t>
            </a:fld>
            <a:endParaRPr lang="en-AU"/>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r>
              <a:rPr lang="en-US" i="1" smtClean="0">
                <a:solidFill>
                  <a:srgbClr val="0000FF"/>
                </a:solidFill>
                <a:latin typeface="Times-Italic" charset="0"/>
              </a:rPr>
              <a:t>Also have a couple of definition of “security services” from relevant standards. </a:t>
            </a:r>
            <a:r>
              <a:rPr lang="en-US" smtClean="0">
                <a:latin typeface="Times-Roman" charset="0"/>
              </a:rPr>
              <a:t>X.800 defines a security service as a service provided by a protocol layer of communicating open systems, which ensures adequate security of the systems or of data transfers. Perhaps a clearer definition is found in RFC 2828, which provides the following definition: a processing or communication service that is provided by a system to give a specific kind of protection to system resources; security services implement security policies and are implemented by security mechanisms.</a:t>
            </a:r>
            <a:r>
              <a:rPr lang="en-US" smtClean="0">
                <a:latin typeface="Helvetica" charset="0"/>
              </a:rPr>
              <a:t> </a:t>
            </a:r>
            <a:endParaRPr lang="en-US" i="1" smtClean="0">
              <a:solidFill>
                <a:srgbClr val="0000FF"/>
              </a:solidFill>
              <a:latin typeface="Times-Italic" charset="0"/>
            </a:endParaRPr>
          </a:p>
          <a:p>
            <a:pPr eaLnBrk="1" hangingPunct="1"/>
            <a:endParaRPr lang="en-US" i="1" smtClean="0">
              <a:solidFill>
                <a:srgbClr val="0000FF"/>
              </a:solidFill>
              <a:latin typeface="Times-Italic"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31"/>
          <p:cNvSpPr>
            <a:spLocks noGrp="1" noChangeArrowheads="1"/>
          </p:cNvSpPr>
          <p:nvPr>
            <p:ph type="sldNum" sz="quarter" idx="5"/>
          </p:nvPr>
        </p:nvSpPr>
        <p:spPr>
          <a:noFill/>
          <a:ln>
            <a:miter lim="800000"/>
            <a:headEnd/>
            <a:tailEnd/>
          </a:ln>
        </p:spPr>
        <p:txBody>
          <a:bodyPr/>
          <a:lstStyle/>
          <a:p>
            <a:fld id="{20F543DA-ED93-4592-B33B-73340AACF80B}" type="slidenum">
              <a:rPr lang="en-AU"/>
              <a:pPr/>
              <a:t>30</a:t>
            </a:fld>
            <a:endParaRPr lang="en-AU"/>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r>
              <a:rPr lang="en-US" smtClean="0"/>
              <a:t>Now introduce “Security Mechanism” which are the specific means of implementing one or more security services.</a:t>
            </a:r>
          </a:p>
          <a:p>
            <a:pPr eaLnBrk="1" hangingPunct="1"/>
            <a:r>
              <a:rPr lang="en-US" smtClean="0"/>
              <a:t>Note these mechanisms span a wide range of technical components, but one aspect seen in many is the use of cryptographic techniques.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a:ln>
            <a:miter lim="800000"/>
            <a:headEnd/>
            <a:tailEnd/>
          </a:ln>
        </p:spPr>
        <p:txBody>
          <a:bodyPr/>
          <a:lstStyle/>
          <a:p>
            <a:fld id="{FA0D609D-D831-46C3-84AC-ADEBA39AB0A2}" type="slidenum">
              <a:rPr lang="en-AU"/>
              <a:pPr/>
              <a:t>31</a:t>
            </a:fld>
            <a:endParaRPr lang="en-AU"/>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r>
              <a:rPr lang="en-US" smtClean="0"/>
              <a:t>Some examples of mechanisms from X.800. Note that the “</a:t>
            </a:r>
            <a:r>
              <a:rPr lang="en-AU" smtClean="0"/>
              <a:t>specific security mechanisms” are protocol layer specific, whilst the “pervasive security mechanisms” are not. </a:t>
            </a:r>
            <a:r>
              <a:rPr lang="en-US" smtClean="0"/>
              <a:t>We will meet some of these mechanisms in much greater detail later.</a:t>
            </a:r>
          </a:p>
          <a:p>
            <a:pPr eaLnBrk="1" hangingPunct="1"/>
            <a:r>
              <a:rPr lang="en-US" smtClean="0"/>
              <a:t>See Stallings Table 1.3 for details of these mechanisms in X.800, and Table 1.4 for the relationship between services and mechanisms.</a:t>
            </a:r>
            <a:endParaRPr lang="en-AU"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31"/>
          <p:cNvSpPr>
            <a:spLocks noGrp="1" noChangeArrowheads="1"/>
          </p:cNvSpPr>
          <p:nvPr>
            <p:ph type="sldNum" sz="quarter" idx="5"/>
          </p:nvPr>
        </p:nvSpPr>
        <p:spPr>
          <a:noFill/>
          <a:ln>
            <a:miter lim="800000"/>
            <a:headEnd/>
            <a:tailEnd/>
          </a:ln>
        </p:spPr>
        <p:txBody>
          <a:bodyPr/>
          <a:lstStyle/>
          <a:p>
            <a:fld id="{FEBE5F1C-04FB-4087-8CAD-CF2D19D31C0F}" type="slidenum">
              <a:rPr lang="en-AU"/>
              <a:pPr/>
              <a:t>32</a:t>
            </a:fld>
            <a:endParaRPr lang="en-AU"/>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r>
              <a:rPr lang="en-AU" smtClean="0"/>
              <a:t>In considering the place of encryption, its useful to use the following two models from Stallings section 1.6.</a:t>
            </a:r>
          </a:p>
          <a:p>
            <a:pPr eaLnBrk="1" hangingPunct="1"/>
            <a:r>
              <a:rPr lang="en-AU" smtClean="0"/>
              <a:t>The first, illustrated in Figure 1.5, models information flowing over an insecure communications channel, in the presence of possible opponents. Hence an appropriate </a:t>
            </a:r>
            <a:r>
              <a:rPr lang="en-AU" b="1" smtClean="0"/>
              <a:t>security transform (encryption algorithm)</a:t>
            </a:r>
            <a:r>
              <a:rPr lang="en-AU" smtClean="0"/>
              <a:t> can be used, with suitable </a:t>
            </a:r>
            <a:r>
              <a:rPr lang="en-AU" b="1" smtClean="0"/>
              <a:t>keys</a:t>
            </a:r>
            <a:r>
              <a:rPr lang="en-AU" smtClean="0"/>
              <a:t>, possibly negotiated using the presence of a </a:t>
            </a:r>
            <a:r>
              <a:rPr lang="en-AU" b="1" smtClean="0"/>
              <a:t>trusted third party</a:t>
            </a:r>
            <a:r>
              <a:rPr lang="en-AU" smtClean="0"/>
              <a: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31"/>
          <p:cNvSpPr>
            <a:spLocks noGrp="1" noChangeArrowheads="1"/>
          </p:cNvSpPr>
          <p:nvPr>
            <p:ph type="sldNum" sz="quarter" idx="5"/>
          </p:nvPr>
        </p:nvSpPr>
        <p:spPr>
          <a:noFill/>
          <a:ln>
            <a:miter lim="800000"/>
            <a:headEnd/>
            <a:tailEnd/>
          </a:ln>
        </p:spPr>
        <p:txBody>
          <a:bodyPr/>
          <a:lstStyle/>
          <a:p>
            <a:fld id="{FEBE5F1C-04FB-4087-8CAD-CF2D19D31C0F}" type="slidenum">
              <a:rPr lang="en-AU"/>
              <a:pPr/>
              <a:t>33</a:t>
            </a:fld>
            <a:endParaRPr lang="en-AU"/>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r>
              <a:rPr lang="en-AU" smtClean="0"/>
              <a:t>In considering the place of encryption, its useful to use the following two models from Stallings section 1.6.</a:t>
            </a:r>
          </a:p>
          <a:p>
            <a:pPr eaLnBrk="1" hangingPunct="1"/>
            <a:r>
              <a:rPr lang="en-AU" smtClean="0"/>
              <a:t>The first, illustrated in Figure 1.5, models information flowing over an insecure communications channel, in the presence of possible opponents. Hence an appropriate </a:t>
            </a:r>
            <a:r>
              <a:rPr lang="en-AU" b="1" smtClean="0"/>
              <a:t>security transform (encryption algorithm)</a:t>
            </a:r>
            <a:r>
              <a:rPr lang="en-AU" smtClean="0"/>
              <a:t> can be used, with suitable </a:t>
            </a:r>
            <a:r>
              <a:rPr lang="en-AU" b="1" smtClean="0"/>
              <a:t>keys</a:t>
            </a:r>
            <a:r>
              <a:rPr lang="en-AU" smtClean="0"/>
              <a:t>, possibly negotiated using the presence of a </a:t>
            </a:r>
            <a:r>
              <a:rPr lang="en-AU" b="1" smtClean="0"/>
              <a:t>trusted third party</a:t>
            </a:r>
            <a:r>
              <a:rPr lang="en-AU" smtClean="0"/>
              <a:t>.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31"/>
          <p:cNvSpPr>
            <a:spLocks noGrp="1" noChangeArrowheads="1"/>
          </p:cNvSpPr>
          <p:nvPr>
            <p:ph type="sldNum" sz="quarter" idx="5"/>
          </p:nvPr>
        </p:nvSpPr>
        <p:spPr>
          <a:noFill/>
          <a:ln>
            <a:miter lim="800000"/>
            <a:headEnd/>
            <a:tailEnd/>
          </a:ln>
        </p:spPr>
        <p:txBody>
          <a:bodyPr/>
          <a:lstStyle/>
          <a:p>
            <a:fld id="{FEBE5F1C-04FB-4087-8CAD-CF2D19D31C0F}" type="slidenum">
              <a:rPr lang="en-AU"/>
              <a:pPr/>
              <a:t>34</a:t>
            </a:fld>
            <a:endParaRPr lang="en-AU"/>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r>
              <a:rPr lang="en-AU" smtClean="0"/>
              <a:t>In considering the place of encryption, its useful to use the following two models from Stallings section 1.6.</a:t>
            </a:r>
          </a:p>
          <a:p>
            <a:pPr eaLnBrk="1" hangingPunct="1"/>
            <a:r>
              <a:rPr lang="en-AU" smtClean="0"/>
              <a:t>The first, illustrated in Figure 1.5, models information flowing over an insecure communications channel, in the presence of possible opponents. Hence an appropriate </a:t>
            </a:r>
            <a:r>
              <a:rPr lang="en-AU" b="1" smtClean="0"/>
              <a:t>security transform (encryption algorithm)</a:t>
            </a:r>
            <a:r>
              <a:rPr lang="en-AU" smtClean="0"/>
              <a:t> can be used, with suitable </a:t>
            </a:r>
            <a:r>
              <a:rPr lang="en-AU" b="1" smtClean="0"/>
              <a:t>keys</a:t>
            </a:r>
            <a:r>
              <a:rPr lang="en-AU" smtClean="0"/>
              <a:t>, possibly negotiated using the presence of a </a:t>
            </a:r>
            <a:r>
              <a:rPr lang="en-AU" b="1" smtClean="0"/>
              <a:t>trusted third party</a:t>
            </a:r>
            <a:r>
              <a:rPr lang="en-AU" smtClean="0"/>
              <a:t>.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a:ln>
            <a:miter lim="800000"/>
            <a:headEnd/>
            <a:tailEnd/>
          </a:ln>
        </p:spPr>
        <p:txBody>
          <a:bodyPr/>
          <a:lstStyle/>
          <a:p>
            <a:fld id="{E239EAB5-285F-4063-A68B-AF86C2CD8120}" type="slidenum">
              <a:rPr lang="en-AU"/>
              <a:pPr/>
              <a:t>35</a:t>
            </a:fld>
            <a:endParaRPr lang="en-AU"/>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r>
              <a:rPr lang="en-US" smtClean="0">
                <a:latin typeface="Times-Roman" charset="0"/>
              </a:rPr>
              <a:t>This general model shows that there are four basic tasks in designing a particular security service, as listed.</a:t>
            </a:r>
            <a:endParaRPr lang="en-US" smtClean="0">
              <a:latin typeface="Helvetica"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a:ln>
            <a:miter lim="800000"/>
            <a:headEnd/>
            <a:tailEnd/>
          </a:ln>
        </p:spPr>
        <p:txBody>
          <a:bodyPr/>
          <a:lstStyle/>
          <a:p>
            <a:fld id="{A726A8A9-87C7-4F70-8E17-07473B3940FF}" type="slidenum">
              <a:rPr lang="en-AU"/>
              <a:pPr/>
              <a:t>36</a:t>
            </a:fld>
            <a:endParaRPr lang="en-AU"/>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r>
              <a:rPr lang="en-AU" smtClean="0"/>
              <a:t>The second, illustrated in Figure 1.6, model is concerned with controlled access to information or resources on a computer system, in the presence of possible opponents. Here appropriate controls are needed on the access and within the system, to provide suitable security. Some cryptographic techniques are useful here also.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a:ln>
            <a:miter lim="800000"/>
            <a:headEnd/>
            <a:tailEnd/>
          </a:ln>
        </p:spPr>
        <p:txBody>
          <a:bodyPr/>
          <a:lstStyle/>
          <a:p>
            <a:fld id="{1391B758-954E-4C78-8541-29B2A391CCA6}" type="slidenum">
              <a:rPr lang="en-AU"/>
              <a:pPr/>
              <a:t>37</a:t>
            </a:fld>
            <a:endParaRPr lang="en-AU"/>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r>
              <a:rPr lang="en-US" smtClean="0"/>
              <a:t>Detail here the tasks needed to use this model.</a:t>
            </a:r>
          </a:p>
          <a:p>
            <a:pPr eaLnBrk="1" hangingPunct="1"/>
            <a:r>
              <a:rPr lang="en-US" smtClean="0"/>
              <a:t>Note that trusted computer systems (discussed in Ch 20 can be useful here).</a:t>
            </a:r>
          </a:p>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p:cNvSpPr>
            <a:spLocks noGrp="1" noChangeArrowheads="1"/>
          </p:cNvSpPr>
          <p:nvPr>
            <p:ph type="sldNum" sz="quarter" idx="5"/>
          </p:nvPr>
        </p:nvSpPr>
        <p:spPr>
          <a:noFill/>
          <a:ln>
            <a:miter lim="800000"/>
            <a:headEnd/>
            <a:tailEnd/>
          </a:ln>
        </p:spPr>
        <p:txBody>
          <a:bodyPr/>
          <a:lstStyle/>
          <a:p>
            <a:fld id="{99050AE3-3ED3-43FF-960B-478BEE15BA01}" type="slidenum">
              <a:rPr lang="en-AU"/>
              <a:pPr/>
              <a:t>38</a:t>
            </a:fld>
            <a:endParaRPr lang="en-AU"/>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p:spPr>
        <p:txBody>
          <a:bodyPr/>
          <a:lstStyle/>
          <a:p>
            <a:pPr eaLnBrk="1" hangingPunct="1"/>
            <a:r>
              <a:rPr lang="en-US" smtClean="0"/>
              <a:t>Chapter 1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A413643-09D7-43D3-B88B-1E9675459A3A}"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413643-09D7-43D3-B88B-1E9675459A3A}"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A413643-09D7-43D3-B88B-1E9675459A3A}"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A413643-09D7-43D3-B88B-1E9675459A3A}" type="datetimeFigureOut">
              <a:rPr lang="en-US" smtClean="0"/>
              <a:pPr/>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A413643-09D7-43D3-B88B-1E9675459A3A}" type="datetimeFigureOut">
              <a:rPr lang="en-US" smtClean="0"/>
              <a:pPr/>
              <a:t>7/17/2025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413643-09D7-43D3-B88B-1E9675459A3A}" type="datetimeFigureOut">
              <a:rPr lang="en-US" smtClean="0"/>
              <a:pPr/>
              <a:t>7/17/2025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413643-09D7-43D3-B88B-1E9675459A3A}" type="datetimeFigureOut">
              <a:rPr lang="en-US" smtClean="0"/>
              <a:pPr/>
              <a:t>7/17/2025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413643-09D7-43D3-B88B-1E9675459A3A}" type="datetimeFigureOut">
              <a:rPr lang="en-US" smtClean="0"/>
              <a:pPr/>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413643-09D7-43D3-B88B-1E9675459A3A}" type="datetimeFigureOut">
              <a:rPr lang="en-US" smtClean="0"/>
              <a:pPr/>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413643-09D7-43D3-B88B-1E9675459A3A}"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413643-09D7-43D3-B88B-1E9675459A3A}"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75C919-F2A2-478D-9493-20B259C6EB8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413643-09D7-43D3-B88B-1E9675459A3A}" type="datetimeFigureOut">
              <a:rPr lang="en-US" smtClean="0"/>
              <a:pPr/>
              <a:t>7/17/2025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75C919-F2A2-478D-9493-20B259C6EB8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p:cNvPicPr>
            <a:picLocks noChangeAspect="1" noChangeArrowheads="1"/>
          </p:cNvPicPr>
          <p:nvPr/>
        </p:nvPicPr>
        <p:blipFill>
          <a:blip r:embed="rId2"/>
          <a:srcRect/>
          <a:stretch>
            <a:fillRect/>
          </a:stretch>
        </p:blipFill>
        <p:spPr bwMode="auto">
          <a:xfrm>
            <a:off x="0" y="-1"/>
            <a:ext cx="9144000" cy="6858001"/>
          </a:xfrm>
          <a:prstGeom prst="rect">
            <a:avLst/>
          </a:prstGeom>
          <a:noFill/>
        </p:spPr>
      </p:pic>
      <p:sp>
        <p:nvSpPr>
          <p:cNvPr id="2" name="Title 1"/>
          <p:cNvSpPr>
            <a:spLocks noGrp="1"/>
          </p:cNvSpPr>
          <p:nvPr>
            <p:ph type="ctrTitle"/>
          </p:nvPr>
        </p:nvSpPr>
        <p:spPr>
          <a:xfrm>
            <a:off x="5410200" y="152400"/>
            <a:ext cx="3733800" cy="1523999"/>
          </a:xfrm>
        </p:spPr>
        <p:txBody>
          <a:bodyPr>
            <a:normAutofit fontScale="90000"/>
          </a:bodyPr>
          <a:lstStyle/>
          <a:p>
            <a:r>
              <a:rPr lang="en-US" dirty="0" smtClean="0"/>
              <a:t>Chapter-I</a:t>
            </a:r>
            <a:br>
              <a:rPr lang="en-US" dirty="0" smtClean="0"/>
            </a:br>
            <a:r>
              <a:rPr lang="en-US" dirty="0" smtClean="0"/>
              <a:t>INTRODUCTION</a:t>
            </a:r>
            <a:endParaRPr lang="en-US" dirty="0"/>
          </a:p>
        </p:txBody>
      </p:sp>
      <p:sp>
        <p:nvSpPr>
          <p:cNvPr id="3" name="Subtitle 2"/>
          <p:cNvSpPr>
            <a:spLocks noGrp="1"/>
          </p:cNvSpPr>
          <p:nvPr>
            <p:ph type="subTitle" idx="1"/>
          </p:nvPr>
        </p:nvSpPr>
        <p:spPr>
          <a:xfrm>
            <a:off x="5029200" y="5105400"/>
            <a:ext cx="4114800" cy="1752600"/>
          </a:xfrm>
        </p:spPr>
        <p:txBody>
          <a:bodyPr>
            <a:normAutofit/>
          </a:bodyPr>
          <a:lstStyle/>
          <a:p>
            <a:pPr algn="r"/>
            <a:endParaRPr lang="en-US" sz="2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defRPr/>
            </a:pPr>
            <a:r>
              <a:rPr lang="en-US" smtClean="0"/>
              <a:t>Chapter 1 – Introduction</a:t>
            </a:r>
            <a:endParaRPr lang="en-AU" smtClean="0"/>
          </a:p>
        </p:txBody>
      </p:sp>
      <p:sp>
        <p:nvSpPr>
          <p:cNvPr id="20483" name="Rectangle 3"/>
          <p:cNvSpPr>
            <a:spLocks noGrp="1" noChangeArrowheads="1"/>
          </p:cNvSpPr>
          <p:nvPr>
            <p:ph idx="1"/>
          </p:nvPr>
        </p:nvSpPr>
        <p:spPr>
          <a:xfrm>
            <a:off x="539750" y="2133600"/>
            <a:ext cx="8229600" cy="3989388"/>
          </a:xfrm>
        </p:spPr>
        <p:txBody>
          <a:bodyPr/>
          <a:lstStyle/>
          <a:p>
            <a:pPr algn="just" eaLnBrk="1" hangingPunct="1">
              <a:lnSpc>
                <a:spcPct val="90000"/>
              </a:lnSpc>
              <a:buFont typeface="Wingdings" pitchFamily="2" charset="2"/>
              <a:buNone/>
              <a:defRPr/>
            </a:pPr>
            <a:r>
              <a:rPr lang="en-AU" i="1" dirty="0" smtClean="0"/>
              <a:t>The art of war teaches us to rely not on the likelihood of the enemy's not coming, but on our own readiness to receive him; not on the chance of his not attacking, but rather on the fact that we have made our position unassailable. </a:t>
            </a:r>
          </a:p>
          <a:p>
            <a:pPr eaLnBrk="1" hangingPunct="1">
              <a:lnSpc>
                <a:spcPct val="90000"/>
              </a:lnSpc>
              <a:buFont typeface="Wingdings" pitchFamily="2" charset="2"/>
              <a:buNone/>
              <a:defRPr/>
            </a:pPr>
            <a:r>
              <a:rPr lang="en-AU" b="1" dirty="0" smtClean="0"/>
              <a:t>	—</a:t>
            </a:r>
            <a:r>
              <a:rPr lang="en-AU" b="1" i="1" dirty="0" smtClean="0"/>
              <a:t>The Art of War, </a:t>
            </a:r>
            <a:r>
              <a:rPr lang="en-AU" b="1" dirty="0" smtClean="0"/>
              <a:t>Sun Tzu</a:t>
            </a:r>
            <a:endParaRPr lang="en-AU" dirty="0" smtClean="0"/>
          </a:p>
          <a:p>
            <a:pPr eaLnBrk="1" hangingPunct="1">
              <a:lnSpc>
                <a:spcPct val="90000"/>
              </a:lnSpc>
              <a:defRPr/>
            </a:pPr>
            <a:endParaRPr lang="en-AU"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defRPr/>
            </a:pPr>
            <a:r>
              <a:rPr lang="en-US" smtClean="0"/>
              <a:t>Background</a:t>
            </a:r>
            <a:endParaRPr lang="en-AU" smtClean="0"/>
          </a:p>
        </p:txBody>
      </p:sp>
      <p:sp>
        <p:nvSpPr>
          <p:cNvPr id="21507" name="Rectangle 3"/>
          <p:cNvSpPr>
            <a:spLocks noGrp="1" noChangeArrowheads="1"/>
          </p:cNvSpPr>
          <p:nvPr>
            <p:ph idx="1"/>
          </p:nvPr>
        </p:nvSpPr>
        <p:spPr/>
        <p:txBody>
          <a:bodyPr/>
          <a:lstStyle/>
          <a:p>
            <a:pPr algn="just" eaLnBrk="1" hangingPunct="1">
              <a:lnSpc>
                <a:spcPct val="90000"/>
              </a:lnSpc>
              <a:defRPr/>
            </a:pPr>
            <a:r>
              <a:rPr lang="en-US" sz="2800" dirty="0" smtClean="0"/>
              <a:t>Information Security requirements have changed in recent times.</a:t>
            </a:r>
          </a:p>
          <a:p>
            <a:pPr algn="just" eaLnBrk="1" hangingPunct="1">
              <a:lnSpc>
                <a:spcPct val="90000"/>
              </a:lnSpc>
              <a:defRPr/>
            </a:pPr>
            <a:r>
              <a:rPr lang="en-US" sz="2800" dirty="0"/>
              <a:t>T</a:t>
            </a:r>
            <a:r>
              <a:rPr lang="en-US" sz="2800" dirty="0" smtClean="0"/>
              <a:t>raditionally provided by physical and administrative mechanisms.</a:t>
            </a:r>
          </a:p>
          <a:p>
            <a:pPr algn="just" eaLnBrk="1" hangingPunct="1">
              <a:lnSpc>
                <a:spcPct val="90000"/>
              </a:lnSpc>
              <a:defRPr/>
            </a:pPr>
            <a:r>
              <a:rPr lang="en-US" sz="2800" dirty="0"/>
              <a:t>C</a:t>
            </a:r>
            <a:r>
              <a:rPr lang="en-US" sz="2800" dirty="0" smtClean="0"/>
              <a:t>omputer use requires </a:t>
            </a:r>
            <a:r>
              <a:rPr lang="en-AU" sz="2800" dirty="0" smtClean="0"/>
              <a:t>automated tools to protect files and other stored information.</a:t>
            </a:r>
          </a:p>
          <a:p>
            <a:pPr algn="just" eaLnBrk="1" hangingPunct="1">
              <a:lnSpc>
                <a:spcPct val="90000"/>
              </a:lnSpc>
              <a:defRPr/>
            </a:pPr>
            <a:r>
              <a:rPr lang="en-AU" sz="2800" dirty="0"/>
              <a:t>U</a:t>
            </a:r>
            <a:r>
              <a:rPr lang="en-AU" sz="2800" dirty="0" smtClean="0"/>
              <a:t>se of networks and communications links requires measures to protect data during transmission.</a:t>
            </a:r>
          </a:p>
          <a:p>
            <a:pPr algn="just" eaLnBrk="1" hangingPunct="1">
              <a:lnSpc>
                <a:spcPct val="90000"/>
              </a:lnSpc>
              <a:buFont typeface="Wingdings" pitchFamily="2" charset="2"/>
              <a:buNone/>
              <a:defRPr/>
            </a:pPr>
            <a:endParaRPr lang="en-AU" sz="2800" dirty="0" smtClean="0"/>
          </a:p>
          <a:p>
            <a:pPr eaLnBrk="1" hangingPunct="1">
              <a:lnSpc>
                <a:spcPct val="90000"/>
              </a:lnSpc>
              <a:defRPr/>
            </a:pPr>
            <a:endParaRPr lang="en-AU" sz="2800" dirty="0" smtClean="0"/>
          </a:p>
          <a:p>
            <a:pPr eaLnBrk="1" hangingPunct="1">
              <a:lnSpc>
                <a:spcPct val="90000"/>
              </a:lnSpc>
              <a:defRPr/>
            </a:pPr>
            <a:endParaRPr lang="en-AU" sz="2800" dirty="0" smtClean="0"/>
          </a:p>
          <a:p>
            <a:pPr eaLnBrk="1" hangingPunct="1">
              <a:lnSpc>
                <a:spcPct val="90000"/>
              </a:lnSpc>
              <a:defRPr/>
            </a:pPr>
            <a:endParaRPr lang="en-AU" sz="28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defRPr/>
            </a:pPr>
            <a:r>
              <a:rPr lang="en-US" smtClean="0"/>
              <a:t>Definitions</a:t>
            </a:r>
            <a:endParaRPr lang="en-AU" smtClean="0"/>
          </a:p>
        </p:txBody>
      </p:sp>
      <p:sp>
        <p:nvSpPr>
          <p:cNvPr id="24579" name="Rectangle 3"/>
          <p:cNvSpPr>
            <a:spLocks noGrp="1" noChangeArrowheads="1"/>
          </p:cNvSpPr>
          <p:nvPr>
            <p:ph idx="1"/>
          </p:nvPr>
        </p:nvSpPr>
        <p:spPr/>
        <p:txBody>
          <a:bodyPr/>
          <a:lstStyle/>
          <a:p>
            <a:pPr algn="just" eaLnBrk="1" hangingPunct="1">
              <a:lnSpc>
                <a:spcPct val="90000"/>
              </a:lnSpc>
              <a:defRPr/>
            </a:pPr>
            <a:r>
              <a:rPr lang="en-US" sz="2800" b="1" dirty="0" smtClean="0"/>
              <a:t>Computer Security</a:t>
            </a:r>
            <a:r>
              <a:rPr lang="en-US" sz="2800" dirty="0" smtClean="0"/>
              <a:t> - </a:t>
            </a:r>
            <a:r>
              <a:rPr lang="en-AU" sz="2800" dirty="0" smtClean="0"/>
              <a:t>generic name for the collection of tools designed to protect data and to thwart hackers.</a:t>
            </a:r>
          </a:p>
          <a:p>
            <a:pPr algn="just" eaLnBrk="1" hangingPunct="1">
              <a:lnSpc>
                <a:spcPct val="90000"/>
              </a:lnSpc>
              <a:defRPr/>
            </a:pPr>
            <a:r>
              <a:rPr lang="en-US" sz="2800" b="1" dirty="0" smtClean="0"/>
              <a:t>Network Security</a:t>
            </a:r>
            <a:r>
              <a:rPr lang="en-US" sz="2800" dirty="0" smtClean="0"/>
              <a:t> - </a:t>
            </a:r>
            <a:r>
              <a:rPr lang="en-AU" sz="2800" dirty="0" smtClean="0"/>
              <a:t>measures to protect data during their transmission.</a:t>
            </a:r>
          </a:p>
          <a:p>
            <a:pPr algn="just" eaLnBrk="1" hangingPunct="1">
              <a:lnSpc>
                <a:spcPct val="90000"/>
              </a:lnSpc>
              <a:defRPr/>
            </a:pPr>
            <a:r>
              <a:rPr lang="en-US" sz="2800" b="1" dirty="0" smtClean="0"/>
              <a:t>Internet Security</a:t>
            </a:r>
            <a:r>
              <a:rPr lang="en-US" sz="2800" dirty="0" smtClean="0"/>
              <a:t> - </a:t>
            </a:r>
            <a:r>
              <a:rPr lang="en-AU" sz="2800" dirty="0" smtClean="0"/>
              <a:t>measures to protect data during their transmission over a collection of interconnected networks.</a:t>
            </a:r>
          </a:p>
          <a:p>
            <a:pPr eaLnBrk="1" hangingPunct="1">
              <a:lnSpc>
                <a:spcPct val="90000"/>
              </a:lnSpc>
              <a:defRPr/>
            </a:pPr>
            <a:endParaRPr lang="en-AU" sz="2800" dirty="0" smtClean="0"/>
          </a:p>
          <a:p>
            <a:pPr eaLnBrk="1" hangingPunct="1">
              <a:lnSpc>
                <a:spcPct val="90000"/>
              </a:lnSpc>
              <a:defRPr/>
            </a:pPr>
            <a:endParaRPr lang="en-AU" sz="28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en-US" smtClean="0"/>
              <a:t>Aim of Course</a:t>
            </a:r>
            <a:endParaRPr lang="en-AU" smtClean="0"/>
          </a:p>
        </p:txBody>
      </p:sp>
      <p:sp>
        <p:nvSpPr>
          <p:cNvPr id="25603" name="Rectangle 3"/>
          <p:cNvSpPr>
            <a:spLocks noGrp="1" noChangeArrowheads="1"/>
          </p:cNvSpPr>
          <p:nvPr>
            <p:ph idx="1"/>
          </p:nvPr>
        </p:nvSpPr>
        <p:spPr/>
        <p:txBody>
          <a:bodyPr/>
          <a:lstStyle/>
          <a:p>
            <a:pPr eaLnBrk="1" hangingPunct="1">
              <a:defRPr/>
            </a:pPr>
            <a:r>
              <a:rPr lang="en-AU" dirty="0" smtClean="0"/>
              <a:t>our focus is on </a:t>
            </a:r>
            <a:r>
              <a:rPr lang="en-AU" b="1" dirty="0" smtClean="0"/>
              <a:t>Internet Security</a:t>
            </a:r>
            <a:endParaRPr lang="en-AU" dirty="0" smtClean="0"/>
          </a:p>
          <a:p>
            <a:pPr algn="just" eaLnBrk="1" hangingPunct="1">
              <a:defRPr/>
            </a:pPr>
            <a:r>
              <a:rPr lang="en-AU" dirty="0" smtClean="0"/>
              <a:t>which consists of measures to deter, prevent, detect, and correct security violations that involve the transmission &amp; storage of information</a:t>
            </a:r>
          </a:p>
          <a:p>
            <a:pPr eaLnBrk="1" hangingPunct="1">
              <a:defRPr/>
            </a:pPr>
            <a:endParaRPr lang="en-AU" dirty="0" smtClean="0"/>
          </a:p>
        </p:txBody>
      </p:sp>
      <p:pic>
        <p:nvPicPr>
          <p:cNvPr id="13316" name="Picture 4" descr="logo.gif                                                       0013725BMacintosh HD                   B83AE914:"/>
          <p:cNvPicPr>
            <a:picLocks noChangeAspect="1" noChangeArrowheads="1"/>
          </p:cNvPicPr>
          <p:nvPr/>
        </p:nvPicPr>
        <p:blipFill>
          <a:blip r:embed="rId3"/>
          <a:srcRect/>
          <a:stretch>
            <a:fillRect/>
          </a:stretch>
        </p:blipFill>
        <p:spPr bwMode="auto">
          <a:xfrm>
            <a:off x="3505200" y="4267200"/>
            <a:ext cx="2239963" cy="20240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defRPr/>
            </a:pPr>
            <a:r>
              <a:rPr lang="en-US" dirty="0" smtClean="0"/>
              <a:t>Security?</a:t>
            </a:r>
            <a:endParaRPr lang="en-AU" dirty="0" smtClean="0"/>
          </a:p>
        </p:txBody>
      </p:sp>
      <p:sp>
        <p:nvSpPr>
          <p:cNvPr id="25603" name="Rectangle 3"/>
          <p:cNvSpPr>
            <a:spLocks noGrp="1" noChangeArrowheads="1"/>
          </p:cNvSpPr>
          <p:nvPr>
            <p:ph idx="1"/>
          </p:nvPr>
        </p:nvSpPr>
        <p:spPr/>
        <p:txBody>
          <a:bodyPr>
            <a:normAutofit fontScale="85000" lnSpcReduction="20000"/>
          </a:bodyPr>
          <a:lstStyle/>
          <a:p>
            <a:pPr>
              <a:buNone/>
              <a:defRPr/>
            </a:pPr>
            <a:r>
              <a:rPr lang="en-US" dirty="0" smtClean="0"/>
              <a:t>What does it refer to? </a:t>
            </a:r>
          </a:p>
          <a:p>
            <a:pPr>
              <a:defRPr/>
            </a:pPr>
            <a:r>
              <a:rPr lang="en-US" dirty="0" smtClean="0"/>
              <a:t>Three Fundamentals – </a:t>
            </a:r>
          </a:p>
          <a:p>
            <a:pPr>
              <a:defRPr/>
            </a:pPr>
            <a:r>
              <a:rPr lang="en-US" dirty="0" smtClean="0"/>
              <a:t>Confidentiality (Data confidentiality, Privacy)</a:t>
            </a:r>
          </a:p>
          <a:p>
            <a:pPr lvl="1">
              <a:defRPr/>
            </a:pPr>
            <a:r>
              <a:rPr lang="en-US" dirty="0" smtClean="0"/>
              <a:t>Authorized users get entry </a:t>
            </a:r>
          </a:p>
          <a:p>
            <a:pPr lvl="1">
              <a:defRPr/>
            </a:pPr>
            <a:r>
              <a:rPr lang="en-US" dirty="0" smtClean="0"/>
              <a:t>Inspection of information, printing of information and knowledge of resource existence </a:t>
            </a:r>
          </a:p>
          <a:p>
            <a:pPr>
              <a:defRPr/>
            </a:pPr>
            <a:r>
              <a:rPr lang="en-US" dirty="0" smtClean="0"/>
              <a:t>Availability </a:t>
            </a:r>
          </a:p>
          <a:p>
            <a:pPr lvl="1">
              <a:defRPr/>
            </a:pPr>
            <a:r>
              <a:rPr lang="en-US" dirty="0" smtClean="0"/>
              <a:t>Legitimate user be able to access resources and service should be provided at anytime  </a:t>
            </a:r>
          </a:p>
          <a:p>
            <a:pPr>
              <a:defRPr/>
            </a:pPr>
            <a:r>
              <a:rPr lang="en-US" dirty="0" smtClean="0"/>
              <a:t>Integrity (Data integrity &amp; System integrity) </a:t>
            </a:r>
          </a:p>
          <a:p>
            <a:pPr lvl="1">
              <a:defRPr/>
            </a:pPr>
            <a:r>
              <a:rPr lang="en-US" dirty="0" smtClean="0"/>
              <a:t>Changed in adequate way </a:t>
            </a:r>
          </a:p>
          <a:p>
            <a:pPr lvl="1">
              <a:defRPr/>
            </a:pPr>
            <a:r>
              <a:rPr lang="en-US" dirty="0" smtClean="0"/>
              <a:t>Modification done by authorized people</a:t>
            </a:r>
            <a:endParaRPr lang="en-AU"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600200" y="1828800"/>
            <a:ext cx="5943600" cy="37338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500" b="1" dirty="0" smtClean="0"/>
              <a:t>Authenticity:</a:t>
            </a:r>
          </a:p>
          <a:p>
            <a:pPr>
              <a:buNone/>
            </a:pPr>
            <a:r>
              <a:rPr lang="en-US" sz="2500" dirty="0" smtClean="0"/>
              <a:t>     The property of being genuine and being able to be verified and    trusted; confidence in the validity of a transmission, a message, or message originator.    This means verifying that users are who they say they are and that  each input arriving at the system came from a trusted source.</a:t>
            </a:r>
          </a:p>
          <a:p>
            <a:r>
              <a:rPr lang="en-US" sz="2500" b="1" dirty="0" smtClean="0"/>
              <a:t>Accountability: </a:t>
            </a:r>
            <a:r>
              <a:rPr lang="en-US" sz="2500" dirty="0" smtClean="0"/>
              <a:t>The security goal that generates the requirement for actions of an entity to be traced uniquely to that entity. This supports </a:t>
            </a:r>
            <a:r>
              <a:rPr lang="en-US" sz="2500" dirty="0" err="1" smtClean="0"/>
              <a:t>nonrepudiation</a:t>
            </a:r>
            <a:r>
              <a:rPr lang="en-US" sz="2500" dirty="0" smtClean="0"/>
              <a:t>, deterrence, fault isolation, intrusion detection and prevention, and </a:t>
            </a:r>
            <a:r>
              <a:rPr lang="en-US" sz="2500" dirty="0" err="1" smtClean="0"/>
              <a:t>afteraction</a:t>
            </a:r>
            <a:r>
              <a:rPr lang="en-US" sz="2500" dirty="0" smtClean="0"/>
              <a:t> recovery and legal action.</a:t>
            </a:r>
            <a:endParaRPr lang="en-US"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defRPr/>
            </a:pPr>
            <a:r>
              <a:rPr lang="en-US" dirty="0" smtClean="0"/>
              <a:t>Security?</a:t>
            </a:r>
            <a:endParaRPr lang="en-AU" dirty="0" smtClean="0"/>
          </a:p>
        </p:txBody>
      </p:sp>
      <p:sp>
        <p:nvSpPr>
          <p:cNvPr id="25603" name="Rectangle 3"/>
          <p:cNvSpPr>
            <a:spLocks noGrp="1" noChangeArrowheads="1"/>
          </p:cNvSpPr>
          <p:nvPr>
            <p:ph idx="1"/>
          </p:nvPr>
        </p:nvSpPr>
        <p:spPr/>
        <p:txBody>
          <a:bodyPr>
            <a:normAutofit fontScale="77500" lnSpcReduction="20000"/>
          </a:bodyPr>
          <a:lstStyle/>
          <a:p>
            <a:pPr algn="just">
              <a:buNone/>
            </a:pPr>
            <a:r>
              <a:rPr lang="en-IN" sz="2800" dirty="0" smtClean="0">
                <a:latin typeface="Calibri" pitchFamily="34" charset="0"/>
                <a:cs typeface="Calibri" pitchFamily="34" charset="0"/>
              </a:rPr>
              <a:t>Basic information security concepts:</a:t>
            </a:r>
          </a:p>
          <a:p>
            <a:pPr lvl="1" algn="just">
              <a:buFont typeface="Arial" pitchFamily="34" charset="0"/>
              <a:buChar char="•"/>
            </a:pPr>
            <a:r>
              <a:rPr lang="en-IN" dirty="0" smtClean="0">
                <a:latin typeface="Calibri" pitchFamily="34" charset="0"/>
                <a:cs typeface="Calibri" pitchFamily="34" charset="0"/>
              </a:rPr>
              <a:t> </a:t>
            </a:r>
            <a:r>
              <a:rPr lang="en-IN" b="1" dirty="0" smtClean="0">
                <a:latin typeface="Calibri" pitchFamily="34" charset="0"/>
                <a:cs typeface="Calibri" pitchFamily="34" charset="0"/>
              </a:rPr>
              <a:t>Confidentiality</a:t>
            </a:r>
          </a:p>
          <a:p>
            <a:pPr lvl="1" algn="just">
              <a:buFont typeface="Arial" pitchFamily="34" charset="0"/>
              <a:buChar char="•"/>
            </a:pPr>
            <a:r>
              <a:rPr lang="en-IN" dirty="0" smtClean="0">
                <a:latin typeface="Calibri" pitchFamily="34" charset="0"/>
                <a:cs typeface="Calibri" pitchFamily="34" charset="0"/>
              </a:rPr>
              <a:t> </a:t>
            </a:r>
            <a:r>
              <a:rPr lang="en-IN" b="1" dirty="0" smtClean="0">
                <a:latin typeface="Calibri" pitchFamily="34" charset="0"/>
                <a:cs typeface="Calibri" pitchFamily="34" charset="0"/>
              </a:rPr>
              <a:t>Integrity</a:t>
            </a:r>
          </a:p>
          <a:p>
            <a:pPr lvl="1" algn="just">
              <a:buFont typeface="Arial" pitchFamily="34" charset="0"/>
              <a:buChar char="•"/>
            </a:pPr>
            <a:r>
              <a:rPr lang="en-IN" dirty="0" smtClean="0">
                <a:latin typeface="Calibri" pitchFamily="34" charset="0"/>
                <a:cs typeface="Calibri" pitchFamily="34" charset="0"/>
              </a:rPr>
              <a:t> </a:t>
            </a:r>
            <a:r>
              <a:rPr lang="en-IN" b="1" dirty="0" smtClean="0">
                <a:latin typeface="Calibri" pitchFamily="34" charset="0"/>
                <a:cs typeface="Calibri" pitchFamily="34" charset="0"/>
              </a:rPr>
              <a:t>Availability </a:t>
            </a:r>
          </a:p>
          <a:p>
            <a:pPr lvl="1" algn="just">
              <a:buFont typeface="Arial" pitchFamily="34" charset="0"/>
              <a:buChar char="•"/>
            </a:pPr>
            <a:r>
              <a:rPr lang="en-IN" dirty="0" smtClean="0">
                <a:latin typeface="Calibri" pitchFamily="34" charset="0"/>
                <a:cs typeface="Calibri" pitchFamily="34" charset="0"/>
              </a:rPr>
              <a:t> </a:t>
            </a:r>
            <a:r>
              <a:rPr lang="en-IN" b="1" dirty="0" smtClean="0">
                <a:latin typeface="Calibri" pitchFamily="34" charset="0"/>
                <a:cs typeface="Calibri" pitchFamily="34" charset="0"/>
              </a:rPr>
              <a:t>Authentication</a:t>
            </a:r>
            <a:r>
              <a:rPr lang="en-IN" dirty="0" smtClean="0">
                <a:latin typeface="Calibri" pitchFamily="34" charset="0"/>
                <a:cs typeface="Calibri" pitchFamily="34" charset="0"/>
              </a:rPr>
              <a:t> - </a:t>
            </a:r>
            <a:r>
              <a:rPr lang="en-US" dirty="0" smtClean="0"/>
              <a:t>the process or action of verifying the identity  of a user or process. </a:t>
            </a:r>
          </a:p>
          <a:p>
            <a:pPr lvl="1" algn="just">
              <a:buFont typeface="Arial" pitchFamily="34" charset="0"/>
              <a:buChar char="•"/>
            </a:pPr>
            <a:r>
              <a:rPr lang="en-IN" dirty="0" smtClean="0">
                <a:latin typeface="Calibri" pitchFamily="34" charset="0"/>
                <a:cs typeface="Calibri" pitchFamily="34" charset="0"/>
              </a:rPr>
              <a:t> </a:t>
            </a:r>
            <a:r>
              <a:rPr lang="en-IN" b="1" dirty="0" smtClean="0">
                <a:latin typeface="Calibri" pitchFamily="34" charset="0"/>
                <a:cs typeface="Calibri" pitchFamily="34" charset="0"/>
              </a:rPr>
              <a:t>Authorization</a:t>
            </a:r>
            <a:r>
              <a:rPr lang="en-IN" dirty="0" smtClean="0">
                <a:latin typeface="Calibri" pitchFamily="34" charset="0"/>
                <a:cs typeface="Calibri" pitchFamily="34" charset="0"/>
              </a:rPr>
              <a:t> -</a:t>
            </a:r>
            <a:r>
              <a:rPr lang="en-US" dirty="0" smtClean="0"/>
              <a:t>Authorization is a security mechanism to determine access levels or user/client privileges related to system resources including files, services, computer programs, data and application features. </a:t>
            </a:r>
            <a:endParaRPr lang="en-IN" dirty="0" smtClean="0">
              <a:latin typeface="Calibri" pitchFamily="34" charset="0"/>
              <a:cs typeface="Calibri" pitchFamily="34" charset="0"/>
            </a:endParaRPr>
          </a:p>
          <a:p>
            <a:pPr lvl="1" algn="just">
              <a:buNone/>
            </a:pPr>
            <a:r>
              <a:rPr lang="en-IN" dirty="0" smtClean="0">
                <a:latin typeface="Calibri" pitchFamily="34" charset="0"/>
                <a:cs typeface="Calibri" pitchFamily="34" charset="0"/>
              </a:rPr>
              <a:t>• </a:t>
            </a:r>
            <a:r>
              <a:rPr lang="en-IN" b="1" dirty="0" smtClean="0">
                <a:latin typeface="Calibri" pitchFamily="34" charset="0"/>
                <a:cs typeface="Calibri" pitchFamily="34" charset="0"/>
              </a:rPr>
              <a:t>Non-repudiation</a:t>
            </a:r>
            <a:r>
              <a:rPr lang="en-IN" dirty="0" smtClean="0">
                <a:latin typeface="Calibri" pitchFamily="34" charset="0"/>
                <a:cs typeface="Calibri" pitchFamily="34" charset="0"/>
              </a:rPr>
              <a:t>- </a:t>
            </a:r>
            <a:r>
              <a:rPr lang="en-US" dirty="0" smtClean="0"/>
              <a:t>assurance that the sender of information is provided with proof of delivery, and the recipient is provided with proof of the sender's identity, so neither can later deny having process the information.</a:t>
            </a:r>
            <a:endParaRPr lang="en-IN" dirty="0" smtClean="0">
              <a:latin typeface="Calibri" pitchFamily="34" charset="0"/>
              <a:cs typeface="Calibri" pitchFamily="34" charset="0"/>
            </a:endParaRPr>
          </a:p>
          <a:p>
            <a:pPr lvl="1">
              <a:defRPr/>
            </a:pPr>
            <a:endParaRPr lang="en-AU"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sz="2800" dirty="0" smtClean="0"/>
              <a:t>The mechanisms used to meet security requirements can be quite complex, and understanding them may involve rather subtle reasoning.</a:t>
            </a:r>
          </a:p>
          <a:p>
            <a:pPr algn="just"/>
            <a:r>
              <a:rPr lang="en-US" sz="2800" dirty="0" smtClean="0"/>
              <a:t>In developing a particular security mechanism or algorithm, one must always consider potential attacks on those security features.</a:t>
            </a:r>
          </a:p>
          <a:p>
            <a:pPr algn="just"/>
            <a:r>
              <a:rPr lang="en-US" sz="2800" dirty="0" smtClean="0"/>
              <a:t>The procedures used to provide particular services are often counterintuitive.</a:t>
            </a:r>
          </a:p>
          <a:p>
            <a:pPr algn="just"/>
            <a:r>
              <a:rPr lang="en-US" sz="2800" dirty="0" smtClean="0"/>
              <a:t>Having designed various security mechanisms, it is necessary to decide where to use them.</a:t>
            </a:r>
          </a:p>
          <a:p>
            <a:pPr algn="just">
              <a:buNone/>
            </a:pPr>
            <a:r>
              <a:rPr lang="en-US" sz="2800" dirty="0" smtClean="0"/>
              <a:t>     Ex: Physical </a:t>
            </a:r>
            <a:r>
              <a:rPr lang="en-US" sz="2800" dirty="0" err="1" smtClean="0"/>
              <a:t>Place,Logical</a:t>
            </a:r>
            <a:r>
              <a:rPr lang="en-US" sz="2800" dirty="0" smtClean="0"/>
              <a:t> Sense.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normAutofit/>
          </a:bodyPr>
          <a:lstStyle/>
          <a:p>
            <a:pPr algn="just"/>
            <a:r>
              <a:rPr lang="en-US" sz="2800" dirty="0" smtClean="0"/>
              <a:t>Security mechanisms typically involve more than a particular algorithm or protocol.</a:t>
            </a:r>
          </a:p>
          <a:p>
            <a:pPr algn="just"/>
            <a:r>
              <a:rPr lang="en-US" sz="2800" dirty="0" smtClean="0"/>
              <a:t>Computer and network security is essentially a battle of wits between a perpetrator who tries to find holes and the designer or administrator who tries to close them.</a:t>
            </a:r>
          </a:p>
          <a:p>
            <a:pPr algn="just"/>
            <a:r>
              <a:rPr lang="en-US" sz="2800" dirty="0" smtClean="0"/>
              <a:t>There is a natural tendency on the part of users and system managers to perceive little benefit from security investment until a security failure occurs.</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pPr algn="just"/>
            <a:r>
              <a:rPr lang="en-US" sz="2800" dirty="0" smtClean="0"/>
              <a:t>Security requires regular, even constant, monitoring, and this is difficult in today’s short-term, overloaded environment.</a:t>
            </a:r>
          </a:p>
          <a:p>
            <a:pPr algn="just"/>
            <a:r>
              <a:rPr lang="en-US" sz="2800" dirty="0" smtClean="0"/>
              <a:t>Security is still too often an afterthought to be incorporated into a system after the design is complete.</a:t>
            </a:r>
          </a:p>
          <a:p>
            <a:pPr algn="just"/>
            <a:r>
              <a:rPr lang="en-US" sz="2800" dirty="0" smtClean="0"/>
              <a:t>Many users and even security administrators view strong security as an impediment to efficient and user-friendly operation of an information system or use of information.</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p:cNvSpPr>
            <a:spLocks noGrp="1" noChangeArrowheads="1"/>
          </p:cNvSpPr>
          <p:nvPr>
            <p:ph type="title"/>
          </p:nvPr>
        </p:nvSpPr>
        <p:spPr/>
        <p:txBody>
          <a:bodyPr/>
          <a:lstStyle/>
          <a:p>
            <a:pPr eaLnBrk="1" hangingPunct="1">
              <a:defRPr/>
            </a:pPr>
            <a:r>
              <a:rPr lang="en-US" smtClean="0"/>
              <a:t>OSI Security Architecture</a:t>
            </a:r>
            <a:endParaRPr lang="en-AU" smtClean="0"/>
          </a:p>
        </p:txBody>
      </p:sp>
      <p:sp>
        <p:nvSpPr>
          <p:cNvPr id="32771" name="Rectangle 1027"/>
          <p:cNvSpPr>
            <a:spLocks noGrp="1" noChangeArrowheads="1"/>
          </p:cNvSpPr>
          <p:nvPr>
            <p:ph idx="1"/>
          </p:nvPr>
        </p:nvSpPr>
        <p:spPr>
          <a:xfrm>
            <a:off x="457200" y="1676400"/>
            <a:ext cx="8382000" cy="4454525"/>
          </a:xfrm>
        </p:spPr>
        <p:txBody>
          <a:bodyPr/>
          <a:lstStyle/>
          <a:p>
            <a:pPr algn="just" eaLnBrk="1" hangingPunct="1">
              <a:defRPr/>
            </a:pPr>
            <a:r>
              <a:rPr lang="en-US" dirty="0" smtClean="0"/>
              <a:t>ITU-T X.800 “Security Architecture for OSI”</a:t>
            </a:r>
          </a:p>
          <a:p>
            <a:pPr algn="just" eaLnBrk="1" hangingPunct="1">
              <a:defRPr/>
            </a:pPr>
            <a:r>
              <a:rPr lang="en-US" dirty="0" smtClean="0"/>
              <a:t>defines a systematic way of defining and providing security requirements</a:t>
            </a:r>
          </a:p>
          <a:p>
            <a:pPr algn="just" eaLnBrk="1" hangingPunct="1">
              <a:defRPr/>
            </a:pPr>
            <a:r>
              <a:rPr lang="en-US" dirty="0" smtClean="0"/>
              <a:t>for us it provides a useful, if abstract, overview of concepts we will study</a:t>
            </a:r>
            <a:endParaRPr lang="en-AU" dirty="0" smtClean="0"/>
          </a:p>
        </p:txBody>
      </p:sp>
      <p:pic>
        <p:nvPicPr>
          <p:cNvPr id="15364" name="Picture 1030"/>
          <p:cNvPicPr>
            <a:picLocks noChangeAspect="1" noChangeArrowheads="1"/>
          </p:cNvPicPr>
          <p:nvPr/>
        </p:nvPicPr>
        <p:blipFill>
          <a:blip r:embed="rId3"/>
          <a:srcRect/>
          <a:stretch>
            <a:fillRect/>
          </a:stretch>
        </p:blipFill>
        <p:spPr bwMode="auto">
          <a:xfrm>
            <a:off x="2743200" y="4648200"/>
            <a:ext cx="3446463" cy="1927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defRPr/>
            </a:pPr>
            <a:r>
              <a:rPr lang="en-AU" smtClean="0"/>
              <a:t>Aspects of Security</a:t>
            </a:r>
          </a:p>
        </p:txBody>
      </p:sp>
      <p:sp>
        <p:nvSpPr>
          <p:cNvPr id="26627" name="Rectangle 3"/>
          <p:cNvSpPr>
            <a:spLocks noGrp="1" noChangeArrowheads="1"/>
          </p:cNvSpPr>
          <p:nvPr>
            <p:ph idx="1"/>
          </p:nvPr>
        </p:nvSpPr>
        <p:spPr/>
        <p:txBody>
          <a:bodyPr/>
          <a:lstStyle/>
          <a:p>
            <a:pPr eaLnBrk="1" hangingPunct="1">
              <a:defRPr/>
            </a:pPr>
            <a:r>
              <a:rPr lang="en-US" smtClean="0"/>
              <a:t>consider 3 aspects of information security:</a:t>
            </a:r>
          </a:p>
          <a:p>
            <a:pPr lvl="1" eaLnBrk="1" hangingPunct="1">
              <a:defRPr/>
            </a:pPr>
            <a:r>
              <a:rPr lang="en-US" b="1" smtClean="0"/>
              <a:t>security attack</a:t>
            </a:r>
          </a:p>
          <a:p>
            <a:pPr lvl="1" eaLnBrk="1" hangingPunct="1">
              <a:defRPr/>
            </a:pPr>
            <a:r>
              <a:rPr lang="en-US" b="1" smtClean="0"/>
              <a:t>security mechanism</a:t>
            </a:r>
          </a:p>
          <a:p>
            <a:pPr lvl="1" eaLnBrk="1" hangingPunct="1">
              <a:defRPr/>
            </a:pPr>
            <a:r>
              <a:rPr lang="en-US" b="1" smtClean="0"/>
              <a:t>security service</a:t>
            </a:r>
          </a:p>
          <a:p>
            <a:pPr eaLnBrk="1" hangingPunct="1">
              <a:defRPr/>
            </a:pPr>
            <a:endParaRPr lang="en-AU"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en-AU" smtClean="0"/>
              <a:t>Security Attack</a:t>
            </a:r>
          </a:p>
        </p:txBody>
      </p:sp>
      <p:sp>
        <p:nvSpPr>
          <p:cNvPr id="27651" name="Rectangle 3"/>
          <p:cNvSpPr>
            <a:spLocks noGrp="1" noChangeArrowheads="1"/>
          </p:cNvSpPr>
          <p:nvPr>
            <p:ph idx="1"/>
          </p:nvPr>
        </p:nvSpPr>
        <p:spPr>
          <a:xfrm>
            <a:off x="457200" y="1524000"/>
            <a:ext cx="8472518" cy="4876800"/>
          </a:xfrm>
        </p:spPr>
        <p:txBody>
          <a:bodyPr>
            <a:normAutofit lnSpcReduction="10000"/>
          </a:bodyPr>
          <a:lstStyle/>
          <a:p>
            <a:pPr algn="just" eaLnBrk="1" hangingPunct="1">
              <a:defRPr/>
            </a:pPr>
            <a:r>
              <a:rPr lang="en-AU" sz="2800" b="1" dirty="0" smtClean="0"/>
              <a:t>any action that compromises the security of information owned by an organization</a:t>
            </a:r>
          </a:p>
          <a:p>
            <a:pPr algn="just" eaLnBrk="1" hangingPunct="1">
              <a:defRPr/>
            </a:pPr>
            <a:r>
              <a:rPr lang="en-AU" sz="2800" dirty="0" smtClean="0"/>
              <a:t>information security is about how to prevent attacks, or failing that, to detect attacks on information-based systems</a:t>
            </a:r>
          </a:p>
          <a:p>
            <a:pPr algn="just" eaLnBrk="1" hangingPunct="1">
              <a:defRPr/>
            </a:pPr>
            <a:r>
              <a:rPr lang="en-US" sz="2800" dirty="0" smtClean="0"/>
              <a:t>often </a:t>
            </a:r>
            <a:r>
              <a:rPr lang="en-US" sz="2800" b="1" i="1" dirty="0" smtClean="0"/>
              <a:t>threat</a:t>
            </a:r>
            <a:r>
              <a:rPr lang="en-US" sz="2800" b="1" dirty="0" smtClean="0"/>
              <a:t> &amp; </a:t>
            </a:r>
            <a:r>
              <a:rPr lang="en-US" sz="2800" b="1" i="1" dirty="0" smtClean="0"/>
              <a:t>attack</a:t>
            </a:r>
            <a:r>
              <a:rPr lang="en-US" sz="2800" b="1" dirty="0" smtClean="0"/>
              <a:t> </a:t>
            </a:r>
            <a:r>
              <a:rPr lang="en-US" sz="2800" dirty="0" smtClean="0"/>
              <a:t>used to mean same thing</a:t>
            </a:r>
          </a:p>
          <a:p>
            <a:pPr algn="just"/>
            <a:r>
              <a:rPr lang="en-US" sz="2800" b="1" dirty="0" smtClean="0"/>
              <a:t>Threat</a:t>
            </a:r>
            <a:r>
              <a:rPr lang="en-US" sz="2800" dirty="0" smtClean="0"/>
              <a:t>-A potential for violation of security, which exists when there is a circumstance, capability, action, or event that could breach security and cause harm. That is, a threat is a possible danger that might exploit a vulnerability.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en-AU" smtClean="0"/>
              <a:t>Security Attack</a:t>
            </a:r>
          </a:p>
        </p:txBody>
      </p:sp>
      <p:sp>
        <p:nvSpPr>
          <p:cNvPr id="27651" name="Rectangle 3"/>
          <p:cNvSpPr>
            <a:spLocks noGrp="1" noChangeArrowheads="1"/>
          </p:cNvSpPr>
          <p:nvPr>
            <p:ph idx="1"/>
          </p:nvPr>
        </p:nvSpPr>
        <p:spPr>
          <a:xfrm>
            <a:off x="457200" y="1524000"/>
            <a:ext cx="8229600" cy="4876800"/>
          </a:xfrm>
        </p:spPr>
        <p:txBody>
          <a:bodyPr/>
          <a:lstStyle/>
          <a:p>
            <a:pPr algn="just"/>
            <a:r>
              <a:rPr lang="en-US" sz="2800" b="1" dirty="0" smtClean="0"/>
              <a:t>Attack</a:t>
            </a:r>
            <a:r>
              <a:rPr lang="en-US" sz="2800" dirty="0" smtClean="0"/>
              <a:t>-An </a:t>
            </a:r>
            <a:r>
              <a:rPr lang="en-US" sz="2800" dirty="0"/>
              <a:t>assault on system security that derives from an intelligent threat; that is, an intelligent act that </a:t>
            </a:r>
            <a:r>
              <a:rPr lang="en-US" sz="2800" dirty="0" smtClean="0"/>
              <a:t>is a </a:t>
            </a:r>
            <a:r>
              <a:rPr lang="en-US" sz="2800" dirty="0"/>
              <a:t>deliberate attempt (especially in the sense of a method or technique) to evade security services </a:t>
            </a:r>
            <a:r>
              <a:rPr lang="en-US" sz="2800" dirty="0" smtClean="0"/>
              <a:t>and violate </a:t>
            </a:r>
            <a:r>
              <a:rPr lang="en-US" sz="2800" dirty="0"/>
              <a:t>the security policy of a system.</a:t>
            </a:r>
            <a:endParaRPr lang="en-US" sz="2800" dirty="0" smtClean="0"/>
          </a:p>
          <a:p>
            <a:pPr algn="just" eaLnBrk="1" hangingPunct="1">
              <a:defRPr/>
            </a:pPr>
            <a:r>
              <a:rPr lang="en-US" sz="2800" dirty="0" smtClean="0"/>
              <a:t>Two generic types of attacks</a:t>
            </a:r>
          </a:p>
          <a:p>
            <a:pPr lvl="1" algn="just" eaLnBrk="1" hangingPunct="1">
              <a:defRPr/>
            </a:pPr>
            <a:r>
              <a:rPr lang="en-US" sz="2400" dirty="0" smtClean="0"/>
              <a:t>passive</a:t>
            </a:r>
          </a:p>
          <a:p>
            <a:pPr lvl="1" algn="just" eaLnBrk="1" hangingPunct="1">
              <a:defRPr/>
            </a:pPr>
            <a:r>
              <a:rPr lang="en-US" sz="2400" dirty="0" smtClean="0"/>
              <a:t>active</a:t>
            </a:r>
            <a:endParaRPr lang="en-AU" sz="24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en-AU" smtClean="0"/>
              <a:t>Security Attack</a:t>
            </a:r>
          </a:p>
        </p:txBody>
      </p:sp>
      <p:sp>
        <p:nvSpPr>
          <p:cNvPr id="27651" name="Rectangle 3"/>
          <p:cNvSpPr>
            <a:spLocks noGrp="1" noChangeArrowheads="1"/>
          </p:cNvSpPr>
          <p:nvPr>
            <p:ph idx="1"/>
          </p:nvPr>
        </p:nvSpPr>
        <p:spPr>
          <a:xfrm>
            <a:off x="457200" y="1524000"/>
            <a:ext cx="8229600" cy="4876800"/>
          </a:xfrm>
        </p:spPr>
        <p:txBody>
          <a:bodyPr/>
          <a:lstStyle/>
          <a:p>
            <a:pPr algn="just"/>
            <a:r>
              <a:rPr lang="en-US" sz="2800" dirty="0"/>
              <a:t>Passive attacks are in the nature of eavesdropping on, or monitoring of, transmissions. </a:t>
            </a:r>
            <a:endParaRPr lang="en-US" sz="2800" dirty="0" smtClean="0"/>
          </a:p>
          <a:p>
            <a:pPr algn="just"/>
            <a:r>
              <a:rPr lang="en-US" sz="2800" dirty="0" smtClean="0"/>
              <a:t>The </a:t>
            </a:r>
            <a:r>
              <a:rPr lang="en-US" sz="2800" dirty="0"/>
              <a:t>goal of </a:t>
            </a:r>
            <a:r>
              <a:rPr lang="en-US" sz="2800" dirty="0" smtClean="0"/>
              <a:t>the opponent </a:t>
            </a:r>
            <a:r>
              <a:rPr lang="en-US" sz="2800" dirty="0"/>
              <a:t>is to obtain information that is being transmitted. </a:t>
            </a:r>
            <a:endParaRPr lang="en-US" sz="2800" dirty="0" smtClean="0"/>
          </a:p>
          <a:p>
            <a:r>
              <a:rPr lang="en-US" sz="2800" dirty="0" smtClean="0"/>
              <a:t>Two </a:t>
            </a:r>
            <a:r>
              <a:rPr lang="en-US" sz="2800" dirty="0"/>
              <a:t>types of passive attacks are </a:t>
            </a:r>
            <a:endParaRPr lang="en-US" sz="2800" dirty="0" smtClean="0"/>
          </a:p>
          <a:p>
            <a:pPr lvl="1"/>
            <a:r>
              <a:rPr lang="en-US" sz="2400" b="1" dirty="0" smtClean="0"/>
              <a:t>release of message </a:t>
            </a:r>
            <a:r>
              <a:rPr lang="en-US" sz="2400" b="1" dirty="0"/>
              <a:t>contents and </a:t>
            </a:r>
            <a:endParaRPr lang="en-US" sz="2400" b="1" dirty="0" smtClean="0"/>
          </a:p>
          <a:p>
            <a:pPr lvl="1"/>
            <a:r>
              <a:rPr lang="en-US" sz="2400" b="1" dirty="0" smtClean="0"/>
              <a:t>traffic </a:t>
            </a:r>
            <a:r>
              <a:rPr lang="en-US" sz="2400" b="1" dirty="0"/>
              <a:t>analysis.</a:t>
            </a:r>
            <a:endParaRPr lang="en-AU" sz="2000" b="1"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p:cNvSpPr>
            <a:spLocks noGrp="1" noChangeArrowheads="1"/>
          </p:cNvSpPr>
          <p:nvPr>
            <p:ph type="title"/>
          </p:nvPr>
        </p:nvSpPr>
        <p:spPr/>
        <p:txBody>
          <a:bodyPr>
            <a:normAutofit fontScale="90000"/>
          </a:bodyPr>
          <a:lstStyle/>
          <a:p>
            <a:pPr eaLnBrk="1" hangingPunct="1">
              <a:defRPr/>
            </a:pPr>
            <a:r>
              <a:rPr lang="en-AU" dirty="0" smtClean="0"/>
              <a:t>Passive Attacks – Release of message contents</a:t>
            </a:r>
          </a:p>
        </p:txBody>
      </p:sp>
      <p:pic>
        <p:nvPicPr>
          <p:cNvPr id="5122" name="Picture 2"/>
          <p:cNvPicPr>
            <a:picLocks noChangeAspect="1" noChangeArrowheads="1"/>
          </p:cNvPicPr>
          <p:nvPr/>
        </p:nvPicPr>
        <p:blipFill>
          <a:blip r:embed="rId3"/>
          <a:srcRect/>
          <a:stretch>
            <a:fillRect/>
          </a:stretch>
        </p:blipFill>
        <p:spPr bwMode="auto">
          <a:xfrm>
            <a:off x="914400" y="2076450"/>
            <a:ext cx="7391400" cy="37909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p:cNvSpPr>
            <a:spLocks noGrp="1" noChangeArrowheads="1"/>
          </p:cNvSpPr>
          <p:nvPr>
            <p:ph type="title"/>
          </p:nvPr>
        </p:nvSpPr>
        <p:spPr/>
        <p:txBody>
          <a:bodyPr>
            <a:normAutofit/>
          </a:bodyPr>
          <a:lstStyle/>
          <a:p>
            <a:pPr eaLnBrk="1" hangingPunct="1">
              <a:defRPr/>
            </a:pPr>
            <a:r>
              <a:rPr lang="en-AU" dirty="0" smtClean="0"/>
              <a:t>Passive Attacks – Traffic analysis</a:t>
            </a:r>
          </a:p>
        </p:txBody>
      </p:sp>
      <p:pic>
        <p:nvPicPr>
          <p:cNvPr id="4098" name="Picture 2"/>
          <p:cNvPicPr>
            <a:picLocks noChangeAspect="1" noChangeArrowheads="1"/>
          </p:cNvPicPr>
          <p:nvPr/>
        </p:nvPicPr>
        <p:blipFill>
          <a:blip r:embed="rId3"/>
          <a:srcRect/>
          <a:stretch>
            <a:fillRect/>
          </a:stretch>
        </p:blipFill>
        <p:spPr bwMode="auto">
          <a:xfrm>
            <a:off x="685800" y="2090738"/>
            <a:ext cx="7848600" cy="4233862"/>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6"/>
          <p:cNvSpPr>
            <a:spLocks noGrp="1" noChangeArrowheads="1"/>
          </p:cNvSpPr>
          <p:nvPr>
            <p:ph type="title"/>
          </p:nvPr>
        </p:nvSpPr>
        <p:spPr/>
        <p:txBody>
          <a:bodyPr/>
          <a:lstStyle/>
          <a:p>
            <a:pPr eaLnBrk="1" hangingPunct="1">
              <a:defRPr/>
            </a:pPr>
            <a:r>
              <a:rPr lang="en-AU" smtClean="0"/>
              <a:t>Active Attacks</a:t>
            </a:r>
          </a:p>
        </p:txBody>
      </p:sp>
      <p:sp>
        <p:nvSpPr>
          <p:cNvPr id="4" name="Rectangle 3"/>
          <p:cNvSpPr>
            <a:spLocks noGrp="1" noChangeArrowheads="1"/>
          </p:cNvSpPr>
          <p:nvPr>
            <p:ph idx="1"/>
          </p:nvPr>
        </p:nvSpPr>
        <p:spPr>
          <a:xfrm>
            <a:off x="457200" y="1524000"/>
            <a:ext cx="8472518" cy="4876800"/>
          </a:xfrm>
        </p:spPr>
        <p:txBody>
          <a:bodyPr>
            <a:normAutofit/>
          </a:bodyPr>
          <a:lstStyle/>
          <a:p>
            <a:pPr algn="just">
              <a:lnSpc>
                <a:spcPct val="90000"/>
              </a:lnSpc>
            </a:pPr>
            <a:r>
              <a:rPr lang="en-AU" sz="2800" b="1" dirty="0" smtClean="0"/>
              <a:t>“active attacks”</a:t>
            </a:r>
            <a:r>
              <a:rPr lang="en-AU" sz="2800" dirty="0" smtClean="0"/>
              <a:t> </a:t>
            </a:r>
            <a:r>
              <a:rPr lang="en-US" sz="2800" dirty="0" smtClean="0"/>
              <a:t>attempt to alter system resources or affect their operation.</a:t>
            </a:r>
          </a:p>
          <a:p>
            <a:pPr>
              <a:lnSpc>
                <a:spcPct val="90000"/>
              </a:lnSpc>
            </a:pPr>
            <a:r>
              <a:rPr lang="en-US" sz="2800" dirty="0" smtClean="0"/>
              <a:t>By </a:t>
            </a:r>
            <a:r>
              <a:rPr lang="en-AU" sz="2800" dirty="0" smtClean="0"/>
              <a:t>modification of data stream to:</a:t>
            </a:r>
          </a:p>
          <a:p>
            <a:pPr lvl="1">
              <a:lnSpc>
                <a:spcPct val="90000"/>
              </a:lnSpc>
            </a:pPr>
            <a:r>
              <a:rPr lang="en-US" dirty="0" smtClean="0"/>
              <a:t>masquerade of one entity as some other</a:t>
            </a:r>
            <a:endParaRPr lang="en-AU" dirty="0" smtClean="0"/>
          </a:p>
          <a:p>
            <a:pPr lvl="1">
              <a:lnSpc>
                <a:spcPct val="90000"/>
              </a:lnSpc>
            </a:pPr>
            <a:r>
              <a:rPr lang="en-US" dirty="0" smtClean="0"/>
              <a:t>replay previous messages</a:t>
            </a:r>
          </a:p>
          <a:p>
            <a:pPr lvl="1">
              <a:lnSpc>
                <a:spcPct val="90000"/>
              </a:lnSpc>
            </a:pPr>
            <a:r>
              <a:rPr lang="en-US" dirty="0" smtClean="0"/>
              <a:t>modify messages in transit</a:t>
            </a:r>
          </a:p>
          <a:p>
            <a:pPr lvl="1">
              <a:lnSpc>
                <a:spcPct val="90000"/>
              </a:lnSpc>
            </a:pPr>
            <a:r>
              <a:rPr lang="en-US" dirty="0" smtClean="0"/>
              <a:t>denial of service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6"/>
          <p:cNvSpPr>
            <a:spLocks noGrp="1" noChangeArrowheads="1"/>
          </p:cNvSpPr>
          <p:nvPr>
            <p:ph type="title"/>
          </p:nvPr>
        </p:nvSpPr>
        <p:spPr/>
        <p:txBody>
          <a:bodyPr/>
          <a:lstStyle/>
          <a:p>
            <a:pPr eaLnBrk="1" hangingPunct="1">
              <a:defRPr/>
            </a:pPr>
            <a:r>
              <a:rPr lang="en-AU" smtClean="0"/>
              <a:t>Active Attacks</a:t>
            </a:r>
          </a:p>
        </p:txBody>
      </p:sp>
      <p:pic>
        <p:nvPicPr>
          <p:cNvPr id="6146" name="Picture 2"/>
          <p:cNvPicPr>
            <a:picLocks noChangeAspect="1" noChangeArrowheads="1"/>
          </p:cNvPicPr>
          <p:nvPr/>
        </p:nvPicPr>
        <p:blipFill>
          <a:blip r:embed="rId3"/>
          <a:srcRect/>
          <a:stretch>
            <a:fillRect/>
          </a:stretch>
        </p:blipFill>
        <p:spPr bwMode="auto">
          <a:xfrm>
            <a:off x="533400" y="2062163"/>
            <a:ext cx="8001000" cy="4186237"/>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6"/>
          <p:cNvSpPr>
            <a:spLocks noGrp="1" noChangeArrowheads="1"/>
          </p:cNvSpPr>
          <p:nvPr>
            <p:ph type="title"/>
          </p:nvPr>
        </p:nvSpPr>
        <p:spPr/>
        <p:txBody>
          <a:bodyPr/>
          <a:lstStyle/>
          <a:p>
            <a:pPr eaLnBrk="1" hangingPunct="1">
              <a:defRPr/>
            </a:pPr>
            <a:r>
              <a:rPr lang="en-AU" smtClean="0"/>
              <a:t>Active Attacks</a:t>
            </a:r>
          </a:p>
        </p:txBody>
      </p:sp>
      <p:pic>
        <p:nvPicPr>
          <p:cNvPr id="7172" name="Picture 4"/>
          <p:cNvPicPr>
            <a:picLocks noChangeAspect="1" noChangeArrowheads="1"/>
          </p:cNvPicPr>
          <p:nvPr/>
        </p:nvPicPr>
        <p:blipFill>
          <a:blip r:embed="rId3"/>
          <a:srcRect/>
          <a:stretch>
            <a:fillRect/>
          </a:stretch>
        </p:blipFill>
        <p:spPr bwMode="auto">
          <a:xfrm>
            <a:off x="1676400" y="1676400"/>
            <a:ext cx="6019799" cy="43434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6"/>
          <p:cNvSpPr>
            <a:spLocks noGrp="1" noChangeArrowheads="1"/>
          </p:cNvSpPr>
          <p:nvPr>
            <p:ph type="title"/>
          </p:nvPr>
        </p:nvSpPr>
        <p:spPr/>
        <p:txBody>
          <a:bodyPr/>
          <a:lstStyle/>
          <a:p>
            <a:pPr eaLnBrk="1" hangingPunct="1">
              <a:defRPr/>
            </a:pPr>
            <a:r>
              <a:rPr lang="en-AU" smtClean="0"/>
              <a:t>Active Attacks</a:t>
            </a:r>
          </a:p>
        </p:txBody>
      </p:sp>
      <p:pic>
        <p:nvPicPr>
          <p:cNvPr id="8194" name="Picture 2"/>
          <p:cNvPicPr>
            <a:picLocks noChangeAspect="1" noChangeArrowheads="1"/>
          </p:cNvPicPr>
          <p:nvPr/>
        </p:nvPicPr>
        <p:blipFill>
          <a:blip r:embed="rId3"/>
          <a:srcRect/>
          <a:stretch>
            <a:fillRect/>
          </a:stretch>
        </p:blipFill>
        <p:spPr bwMode="auto">
          <a:xfrm>
            <a:off x="1447800" y="2100263"/>
            <a:ext cx="6781800" cy="3843337"/>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6"/>
          <p:cNvSpPr>
            <a:spLocks noGrp="1" noChangeArrowheads="1"/>
          </p:cNvSpPr>
          <p:nvPr>
            <p:ph type="title"/>
          </p:nvPr>
        </p:nvSpPr>
        <p:spPr/>
        <p:txBody>
          <a:bodyPr/>
          <a:lstStyle/>
          <a:p>
            <a:pPr eaLnBrk="1" hangingPunct="1">
              <a:defRPr/>
            </a:pPr>
            <a:r>
              <a:rPr lang="en-AU" smtClean="0"/>
              <a:t>Active Attacks</a:t>
            </a:r>
          </a:p>
        </p:txBody>
      </p:sp>
      <p:pic>
        <p:nvPicPr>
          <p:cNvPr id="9218" name="Picture 2"/>
          <p:cNvPicPr>
            <a:picLocks noChangeAspect="1" noChangeArrowheads="1"/>
          </p:cNvPicPr>
          <p:nvPr/>
        </p:nvPicPr>
        <p:blipFill>
          <a:blip r:embed="rId3"/>
          <a:srcRect/>
          <a:stretch>
            <a:fillRect/>
          </a:stretch>
        </p:blipFill>
        <p:spPr bwMode="auto">
          <a:xfrm>
            <a:off x="1371600" y="1371600"/>
            <a:ext cx="6629400" cy="4724399"/>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defRPr/>
            </a:pPr>
            <a:r>
              <a:rPr lang="en-US" smtClean="0"/>
              <a:t>Security Service</a:t>
            </a:r>
            <a:endParaRPr lang="en-AU" smtClean="0"/>
          </a:p>
        </p:txBody>
      </p:sp>
      <p:sp>
        <p:nvSpPr>
          <p:cNvPr id="29699" name="Rectangle 3"/>
          <p:cNvSpPr>
            <a:spLocks noGrp="1" noChangeArrowheads="1"/>
          </p:cNvSpPr>
          <p:nvPr>
            <p:ph idx="1"/>
          </p:nvPr>
        </p:nvSpPr>
        <p:spPr>
          <a:xfrm>
            <a:off x="457200" y="1676400"/>
            <a:ext cx="8229600" cy="4953000"/>
          </a:xfrm>
        </p:spPr>
        <p:txBody>
          <a:bodyPr>
            <a:normAutofit fontScale="92500" lnSpcReduction="10000"/>
          </a:bodyPr>
          <a:lstStyle/>
          <a:p>
            <a:pPr lvl="1" algn="just" eaLnBrk="1" hangingPunct="1">
              <a:defRPr/>
            </a:pPr>
            <a:r>
              <a:rPr lang="en-US" dirty="0" smtClean="0"/>
              <a:t>enhance security of data processing systems and information transfers of an organization</a:t>
            </a:r>
          </a:p>
          <a:p>
            <a:pPr lvl="1" algn="just" eaLnBrk="1" hangingPunct="1">
              <a:defRPr/>
            </a:pPr>
            <a:r>
              <a:rPr lang="en-US" dirty="0" smtClean="0"/>
              <a:t>intended to counter security attacks</a:t>
            </a:r>
          </a:p>
          <a:p>
            <a:pPr lvl="1" algn="just" eaLnBrk="1" hangingPunct="1">
              <a:defRPr/>
            </a:pPr>
            <a:r>
              <a:rPr lang="en-US" dirty="0" smtClean="0"/>
              <a:t>using one or more security mechanisms </a:t>
            </a:r>
          </a:p>
          <a:p>
            <a:pPr>
              <a:lnSpc>
                <a:spcPct val="90000"/>
              </a:lnSpc>
              <a:defRPr/>
            </a:pPr>
            <a:r>
              <a:rPr lang="en-AU" dirty="0"/>
              <a:t>X.800:</a:t>
            </a:r>
          </a:p>
          <a:p>
            <a:pPr lvl="1" algn="just">
              <a:lnSpc>
                <a:spcPct val="90000"/>
              </a:lnSpc>
              <a:buNone/>
              <a:defRPr/>
            </a:pPr>
            <a:r>
              <a:rPr lang="en-AU" dirty="0"/>
              <a:t>“a service provided by a protocol layer of </a:t>
            </a:r>
            <a:r>
              <a:rPr lang="en-AU" dirty="0" smtClean="0"/>
              <a:t>communicating </a:t>
            </a:r>
            <a:r>
              <a:rPr lang="en-AU" dirty="0"/>
              <a:t>open systems, which ensures adequate security of the systems or of data transfers”</a:t>
            </a:r>
          </a:p>
          <a:p>
            <a:pPr>
              <a:lnSpc>
                <a:spcPct val="90000"/>
              </a:lnSpc>
              <a:defRPr/>
            </a:pPr>
            <a:r>
              <a:rPr lang="en-AU" dirty="0" smtClean="0"/>
              <a:t>RFC </a:t>
            </a:r>
            <a:r>
              <a:rPr lang="en-AU" dirty="0"/>
              <a:t>2828:</a:t>
            </a:r>
          </a:p>
          <a:p>
            <a:pPr lvl="1" algn="just">
              <a:lnSpc>
                <a:spcPct val="90000"/>
              </a:lnSpc>
              <a:buNone/>
              <a:defRPr/>
            </a:pPr>
            <a:r>
              <a:rPr lang="en-AU" dirty="0"/>
              <a:t>“a processing or communication service provided by a system to give a specific kind of protection to system resources”</a:t>
            </a:r>
          </a:p>
          <a:p>
            <a:pPr lvl="1" algn="just" eaLnBrk="1" hangingPunct="1">
              <a:defRPr/>
            </a:pPr>
            <a:endParaRPr lang="en-US"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defRPr/>
            </a:pPr>
            <a:r>
              <a:rPr lang="en-US" smtClean="0"/>
              <a:t>Security Services (X.800)</a:t>
            </a:r>
            <a:endParaRPr lang="en-AU" smtClean="0"/>
          </a:p>
        </p:txBody>
      </p:sp>
      <p:sp>
        <p:nvSpPr>
          <p:cNvPr id="33795" name="Rectangle 3"/>
          <p:cNvSpPr>
            <a:spLocks noGrp="1" noChangeArrowheads="1"/>
          </p:cNvSpPr>
          <p:nvPr>
            <p:ph idx="1"/>
          </p:nvPr>
        </p:nvSpPr>
        <p:spPr/>
        <p:txBody>
          <a:bodyPr/>
          <a:lstStyle/>
          <a:p>
            <a:pPr algn="just" eaLnBrk="1" hangingPunct="1">
              <a:lnSpc>
                <a:spcPct val="90000"/>
              </a:lnSpc>
              <a:defRPr/>
            </a:pPr>
            <a:r>
              <a:rPr lang="en-US" sz="2800" b="1" dirty="0" smtClean="0"/>
              <a:t>Authentication</a:t>
            </a:r>
            <a:r>
              <a:rPr lang="en-US" sz="2800" dirty="0" smtClean="0"/>
              <a:t> - </a:t>
            </a:r>
            <a:r>
              <a:rPr lang="en-AU" sz="2800" dirty="0" smtClean="0"/>
              <a:t>assurance that the communicating entity is the one claimed</a:t>
            </a:r>
          </a:p>
          <a:p>
            <a:pPr algn="just" eaLnBrk="1" hangingPunct="1">
              <a:lnSpc>
                <a:spcPct val="90000"/>
              </a:lnSpc>
              <a:defRPr/>
            </a:pPr>
            <a:r>
              <a:rPr lang="en-US" sz="2800" b="1" dirty="0" smtClean="0"/>
              <a:t>Access Control</a:t>
            </a:r>
            <a:r>
              <a:rPr lang="en-US" sz="2800" dirty="0" smtClean="0"/>
              <a:t> - </a:t>
            </a:r>
            <a:r>
              <a:rPr lang="en-AU" sz="2800" dirty="0" smtClean="0"/>
              <a:t>prevention of the unauthorized use of a resource</a:t>
            </a:r>
          </a:p>
          <a:p>
            <a:pPr algn="just" eaLnBrk="1" hangingPunct="1">
              <a:lnSpc>
                <a:spcPct val="90000"/>
              </a:lnSpc>
              <a:defRPr/>
            </a:pPr>
            <a:r>
              <a:rPr lang="en-US" sz="2800" b="1" dirty="0" smtClean="0"/>
              <a:t>Data Confidentiality</a:t>
            </a:r>
            <a:r>
              <a:rPr lang="en-US" sz="2800" dirty="0" smtClean="0"/>
              <a:t> –</a:t>
            </a:r>
            <a:r>
              <a:rPr lang="en-AU" sz="2800" dirty="0" smtClean="0"/>
              <a:t>protection of data from unauthorized disclosure</a:t>
            </a:r>
          </a:p>
          <a:p>
            <a:pPr algn="just" eaLnBrk="1" hangingPunct="1">
              <a:lnSpc>
                <a:spcPct val="90000"/>
              </a:lnSpc>
              <a:defRPr/>
            </a:pPr>
            <a:r>
              <a:rPr lang="en-US" sz="2800" b="1" dirty="0" smtClean="0"/>
              <a:t>Data Integrity</a:t>
            </a:r>
            <a:r>
              <a:rPr lang="en-US" sz="2800" dirty="0" smtClean="0"/>
              <a:t> - </a:t>
            </a:r>
            <a:r>
              <a:rPr lang="en-AU" sz="2800" dirty="0" smtClean="0"/>
              <a:t>assurance that data received is as sent by an authorized entity</a:t>
            </a:r>
          </a:p>
          <a:p>
            <a:pPr algn="just" eaLnBrk="1" hangingPunct="1">
              <a:lnSpc>
                <a:spcPct val="90000"/>
              </a:lnSpc>
              <a:defRPr/>
            </a:pPr>
            <a:r>
              <a:rPr lang="en-US" sz="2800" b="1" dirty="0" smtClean="0"/>
              <a:t>Non-Repudiation</a:t>
            </a:r>
            <a:r>
              <a:rPr lang="en-US" sz="2800" dirty="0" smtClean="0"/>
              <a:t> - </a:t>
            </a:r>
            <a:r>
              <a:rPr lang="en-AU" sz="2800" dirty="0" smtClean="0"/>
              <a:t>protection against denial by one of the parties in a communication</a:t>
            </a:r>
          </a:p>
          <a:p>
            <a:pPr eaLnBrk="1" hangingPunct="1">
              <a:lnSpc>
                <a:spcPct val="90000"/>
              </a:lnSpc>
              <a:defRPr/>
            </a:pPr>
            <a:endParaRPr lang="en-AU" sz="2800" dirty="0" smtClean="0"/>
          </a:p>
          <a:p>
            <a:pPr eaLnBrk="1" hangingPunct="1">
              <a:lnSpc>
                <a:spcPct val="90000"/>
              </a:lnSpc>
              <a:defRPr/>
            </a:pPr>
            <a:endParaRPr lang="en-AU" sz="2800" dirty="0" smtClean="0"/>
          </a:p>
          <a:p>
            <a:pPr eaLnBrk="1" hangingPunct="1">
              <a:lnSpc>
                <a:spcPct val="90000"/>
              </a:lnSpc>
              <a:defRPr/>
            </a:pPr>
            <a:endParaRPr lang="en-AU" sz="2800" dirty="0" smtClean="0"/>
          </a:p>
          <a:p>
            <a:pPr eaLnBrk="1" hangingPunct="1">
              <a:lnSpc>
                <a:spcPct val="90000"/>
              </a:lnSpc>
              <a:defRPr/>
            </a:pPr>
            <a:endParaRPr lang="en-AU" sz="2800"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p:cNvSpPr>
            <a:spLocks noGrp="1" noChangeArrowheads="1"/>
          </p:cNvSpPr>
          <p:nvPr>
            <p:ph type="title"/>
          </p:nvPr>
        </p:nvSpPr>
        <p:spPr/>
        <p:txBody>
          <a:bodyPr/>
          <a:lstStyle/>
          <a:p>
            <a:pPr eaLnBrk="1" hangingPunct="1">
              <a:defRPr/>
            </a:pPr>
            <a:r>
              <a:rPr lang="en-US" smtClean="0"/>
              <a:t>Security Services</a:t>
            </a:r>
            <a:endParaRPr lang="en-AU" smtClean="0"/>
          </a:p>
        </p:txBody>
      </p:sp>
      <p:pic>
        <p:nvPicPr>
          <p:cNvPr id="10242" name="Picture 2"/>
          <p:cNvPicPr>
            <a:picLocks noGrp="1" noChangeAspect="1" noChangeArrowheads="1"/>
          </p:cNvPicPr>
          <p:nvPr>
            <p:ph idx="1"/>
          </p:nvPr>
        </p:nvPicPr>
        <p:blipFill>
          <a:blip r:embed="rId3"/>
          <a:srcRect/>
          <a:stretch>
            <a:fillRect/>
          </a:stretch>
        </p:blipFill>
        <p:spPr bwMode="auto">
          <a:xfrm>
            <a:off x="457200" y="1371600"/>
            <a:ext cx="8229600" cy="4993129"/>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p:cNvSpPr>
            <a:spLocks noGrp="1" noChangeArrowheads="1"/>
          </p:cNvSpPr>
          <p:nvPr>
            <p:ph type="title"/>
          </p:nvPr>
        </p:nvSpPr>
        <p:spPr/>
        <p:txBody>
          <a:bodyPr/>
          <a:lstStyle/>
          <a:p>
            <a:pPr eaLnBrk="1" hangingPunct="1">
              <a:defRPr/>
            </a:pPr>
            <a:r>
              <a:rPr lang="en-US" smtClean="0"/>
              <a:t>Security Services</a:t>
            </a:r>
            <a:endParaRPr lang="en-AU" smtClean="0"/>
          </a:p>
        </p:txBody>
      </p:sp>
      <p:pic>
        <p:nvPicPr>
          <p:cNvPr id="11269" name="Picture 5"/>
          <p:cNvPicPr>
            <a:picLocks noChangeAspect="1" noChangeArrowheads="1"/>
          </p:cNvPicPr>
          <p:nvPr/>
        </p:nvPicPr>
        <p:blipFill>
          <a:blip r:embed="rId3"/>
          <a:srcRect/>
          <a:stretch>
            <a:fillRect/>
          </a:stretch>
        </p:blipFill>
        <p:spPr bwMode="auto">
          <a:xfrm>
            <a:off x="838200" y="1143000"/>
            <a:ext cx="7467599" cy="48006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p:cNvSpPr>
            <a:spLocks noGrp="1" noChangeArrowheads="1"/>
          </p:cNvSpPr>
          <p:nvPr>
            <p:ph type="title"/>
          </p:nvPr>
        </p:nvSpPr>
        <p:spPr/>
        <p:txBody>
          <a:bodyPr/>
          <a:lstStyle/>
          <a:p>
            <a:pPr eaLnBrk="1" hangingPunct="1">
              <a:defRPr/>
            </a:pPr>
            <a:r>
              <a:rPr lang="en-US" smtClean="0"/>
              <a:t>Security Services</a:t>
            </a:r>
            <a:endParaRPr lang="en-AU" smtClean="0"/>
          </a:p>
        </p:txBody>
      </p:sp>
      <p:pic>
        <p:nvPicPr>
          <p:cNvPr id="12291" name="Picture 3"/>
          <p:cNvPicPr>
            <a:picLocks noChangeAspect="1" noChangeArrowheads="1"/>
          </p:cNvPicPr>
          <p:nvPr/>
        </p:nvPicPr>
        <p:blipFill>
          <a:blip r:embed="rId3"/>
          <a:srcRect/>
          <a:stretch>
            <a:fillRect/>
          </a:stretch>
        </p:blipFill>
        <p:spPr bwMode="auto">
          <a:xfrm>
            <a:off x="838200" y="1524001"/>
            <a:ext cx="7391400" cy="37338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defRPr/>
            </a:pPr>
            <a:r>
              <a:rPr lang="en-US" smtClean="0"/>
              <a:t>Security Mechanism</a:t>
            </a:r>
            <a:endParaRPr lang="en-AU" smtClean="0"/>
          </a:p>
        </p:txBody>
      </p:sp>
      <p:sp>
        <p:nvSpPr>
          <p:cNvPr id="28675" name="Rectangle 3"/>
          <p:cNvSpPr>
            <a:spLocks noGrp="1" noChangeArrowheads="1"/>
          </p:cNvSpPr>
          <p:nvPr>
            <p:ph idx="1"/>
          </p:nvPr>
        </p:nvSpPr>
        <p:spPr/>
        <p:txBody>
          <a:bodyPr/>
          <a:lstStyle/>
          <a:p>
            <a:pPr algn="just" eaLnBrk="1" hangingPunct="1">
              <a:lnSpc>
                <a:spcPct val="90000"/>
              </a:lnSpc>
              <a:defRPr/>
            </a:pPr>
            <a:r>
              <a:rPr lang="en-US" dirty="0" smtClean="0"/>
              <a:t>feature designed to detect, prevent, or recover from a security attack</a:t>
            </a:r>
            <a:endParaRPr lang="en-AU" dirty="0" smtClean="0"/>
          </a:p>
          <a:p>
            <a:pPr algn="just" eaLnBrk="1" hangingPunct="1">
              <a:lnSpc>
                <a:spcPct val="90000"/>
              </a:lnSpc>
              <a:defRPr/>
            </a:pPr>
            <a:r>
              <a:rPr lang="en-AU" dirty="0" smtClean="0"/>
              <a:t>no single mechanism that will support all services required</a:t>
            </a:r>
          </a:p>
          <a:p>
            <a:pPr algn="just" eaLnBrk="1" hangingPunct="1">
              <a:lnSpc>
                <a:spcPct val="90000"/>
              </a:lnSpc>
              <a:defRPr/>
            </a:pPr>
            <a:r>
              <a:rPr lang="en-US" dirty="0" smtClean="0"/>
              <a:t>however </a:t>
            </a:r>
            <a:r>
              <a:rPr lang="en-AU" dirty="0" smtClean="0"/>
              <a:t>one particular element underlies many of the security mechanisms in use:</a:t>
            </a:r>
          </a:p>
          <a:p>
            <a:pPr lvl="1" algn="just" eaLnBrk="1" hangingPunct="1">
              <a:lnSpc>
                <a:spcPct val="90000"/>
              </a:lnSpc>
              <a:defRPr/>
            </a:pPr>
            <a:r>
              <a:rPr lang="en-AU" b="1" dirty="0" smtClean="0"/>
              <a:t>cryptographic techniques</a:t>
            </a:r>
            <a:endParaRPr lang="en-AU" dirty="0" smtClean="0"/>
          </a:p>
          <a:p>
            <a:pPr algn="just" eaLnBrk="1" hangingPunct="1">
              <a:lnSpc>
                <a:spcPct val="90000"/>
              </a:lnSpc>
              <a:defRPr/>
            </a:pPr>
            <a:r>
              <a:rPr lang="en-US" dirty="0" smtClean="0"/>
              <a:t>hence our focus on this topic</a:t>
            </a:r>
            <a:endParaRPr lang="en-AU" dirty="0" smtClean="0"/>
          </a:p>
          <a:p>
            <a:pPr eaLnBrk="1" hangingPunct="1">
              <a:lnSpc>
                <a:spcPct val="90000"/>
              </a:lnSpc>
              <a:defRPr/>
            </a:pPr>
            <a:endParaRPr lang="en-AU"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defRPr/>
            </a:pPr>
            <a:r>
              <a:rPr lang="en-US" dirty="0" smtClean="0"/>
              <a:t>Security Mechanisms (X.800)</a:t>
            </a:r>
            <a:endParaRPr lang="en-AU" dirty="0" smtClean="0"/>
          </a:p>
        </p:txBody>
      </p:sp>
      <p:sp>
        <p:nvSpPr>
          <p:cNvPr id="35843" name="Rectangle 3"/>
          <p:cNvSpPr>
            <a:spLocks noGrp="1" noChangeArrowheads="1"/>
          </p:cNvSpPr>
          <p:nvPr>
            <p:ph idx="1"/>
          </p:nvPr>
        </p:nvSpPr>
        <p:spPr>
          <a:xfrm>
            <a:off x="457200" y="1676400"/>
            <a:ext cx="8229600" cy="4876800"/>
          </a:xfrm>
        </p:spPr>
        <p:txBody>
          <a:bodyPr/>
          <a:lstStyle/>
          <a:p>
            <a:pPr eaLnBrk="1" hangingPunct="1">
              <a:lnSpc>
                <a:spcPct val="90000"/>
              </a:lnSpc>
              <a:defRPr/>
            </a:pPr>
            <a:r>
              <a:rPr lang="en-AU" sz="3600" smtClean="0"/>
              <a:t>specific security mechanisms:</a:t>
            </a:r>
          </a:p>
          <a:p>
            <a:pPr lvl="1" eaLnBrk="1" hangingPunct="1">
              <a:lnSpc>
                <a:spcPct val="90000"/>
              </a:lnSpc>
              <a:defRPr/>
            </a:pPr>
            <a:r>
              <a:rPr lang="en-US" smtClean="0"/>
              <a:t>encipherment, digital signatures, access controls, data integrity, authentication exchange, traffic padding, routing control, notarization</a:t>
            </a:r>
            <a:endParaRPr lang="en-AU" smtClean="0"/>
          </a:p>
          <a:p>
            <a:pPr eaLnBrk="1" hangingPunct="1">
              <a:lnSpc>
                <a:spcPct val="90000"/>
              </a:lnSpc>
              <a:defRPr/>
            </a:pPr>
            <a:r>
              <a:rPr lang="en-AU" sz="3600" smtClean="0"/>
              <a:t>pervasive security mechanisms:</a:t>
            </a:r>
          </a:p>
          <a:p>
            <a:pPr lvl="1" eaLnBrk="1" hangingPunct="1">
              <a:lnSpc>
                <a:spcPct val="90000"/>
              </a:lnSpc>
              <a:defRPr/>
            </a:pPr>
            <a:r>
              <a:rPr lang="en-US" smtClean="0"/>
              <a:t>trusted functionality, security labels, event detection, security audit trails, security recovery</a:t>
            </a:r>
            <a:endParaRPr lang="en-AU" smtClean="0"/>
          </a:p>
          <a:p>
            <a:pPr eaLnBrk="1" hangingPunct="1">
              <a:lnSpc>
                <a:spcPct val="90000"/>
              </a:lnSpc>
              <a:buFont typeface="Wingdings" pitchFamily="2" charset="2"/>
              <a:buNone/>
              <a:defRPr/>
            </a:pPr>
            <a:endParaRPr lang="en-AU"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lang="en-US" dirty="0"/>
              <a:t>Security Mechanisms (X.800)</a:t>
            </a:r>
            <a:endParaRPr lang="en-AU" dirty="0" smtClean="0"/>
          </a:p>
        </p:txBody>
      </p:sp>
      <p:pic>
        <p:nvPicPr>
          <p:cNvPr id="13314" name="Picture 2"/>
          <p:cNvPicPr>
            <a:picLocks noChangeAspect="1" noChangeArrowheads="1"/>
          </p:cNvPicPr>
          <p:nvPr/>
        </p:nvPicPr>
        <p:blipFill>
          <a:blip r:embed="rId3"/>
          <a:srcRect/>
          <a:stretch>
            <a:fillRect/>
          </a:stretch>
        </p:blipFill>
        <p:spPr bwMode="auto">
          <a:xfrm>
            <a:off x="762000" y="1447800"/>
            <a:ext cx="7696200" cy="503872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lang="en-US" dirty="0"/>
              <a:t>Security Mechanisms (X.800)</a:t>
            </a:r>
            <a:endParaRPr lang="en-AU" dirty="0" smtClean="0"/>
          </a:p>
        </p:txBody>
      </p:sp>
      <p:pic>
        <p:nvPicPr>
          <p:cNvPr id="14338" name="Picture 2"/>
          <p:cNvPicPr>
            <a:picLocks noChangeAspect="1" noChangeArrowheads="1"/>
          </p:cNvPicPr>
          <p:nvPr/>
        </p:nvPicPr>
        <p:blipFill>
          <a:blip r:embed="rId3"/>
          <a:srcRect/>
          <a:stretch>
            <a:fillRect/>
          </a:stretch>
        </p:blipFill>
        <p:spPr bwMode="auto">
          <a:xfrm>
            <a:off x="1295400" y="1371600"/>
            <a:ext cx="6410325" cy="2085975"/>
          </a:xfrm>
          <a:prstGeom prst="rect">
            <a:avLst/>
          </a:prstGeom>
          <a:noFill/>
          <a:ln w="9525">
            <a:noFill/>
            <a:miter lim="800000"/>
            <a:headEnd/>
            <a:tailEnd/>
          </a:ln>
          <a:effectLst/>
        </p:spPr>
      </p:pic>
      <p:pic>
        <p:nvPicPr>
          <p:cNvPr id="14339" name="Picture 3"/>
          <p:cNvPicPr>
            <a:picLocks noChangeAspect="1" noChangeArrowheads="1"/>
          </p:cNvPicPr>
          <p:nvPr/>
        </p:nvPicPr>
        <p:blipFill>
          <a:blip r:embed="rId4"/>
          <a:srcRect/>
          <a:stretch>
            <a:fillRect/>
          </a:stretch>
        </p:blipFill>
        <p:spPr bwMode="auto">
          <a:xfrm>
            <a:off x="1343025" y="3352800"/>
            <a:ext cx="6353175" cy="32004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defRPr/>
            </a:pPr>
            <a:r>
              <a:rPr lang="en-US" smtClean="0"/>
              <a:t>Model for Network Security</a:t>
            </a:r>
            <a:endParaRPr lang="en-AU" smtClean="0"/>
          </a:p>
        </p:txBody>
      </p:sp>
      <p:pic>
        <p:nvPicPr>
          <p:cNvPr id="35843" name="Picture 3"/>
          <p:cNvPicPr>
            <a:picLocks noGrp="1" noChangeAspect="1" noChangeArrowheads="1"/>
          </p:cNvPicPr>
          <p:nvPr>
            <p:ph idx="1"/>
          </p:nvPr>
        </p:nvPicPr>
        <p:blipFill>
          <a:blip r:embed="rId3"/>
          <a:stretch>
            <a:fillRect/>
          </a:stretch>
        </p:blipFill>
        <p:spPr>
          <a:xfrm>
            <a:off x="1352100" y="2076994"/>
            <a:ext cx="6439799" cy="3572374"/>
          </a:xfr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defRPr/>
            </a:pPr>
            <a:r>
              <a:rPr lang="en-US" smtClean="0"/>
              <a:t>Model for Network Security</a:t>
            </a:r>
            <a:endParaRPr lang="en-AU" smtClean="0"/>
          </a:p>
        </p:txBody>
      </p:sp>
      <p:sp>
        <p:nvSpPr>
          <p:cNvPr id="40963" name="Rectangle 3"/>
          <p:cNvSpPr>
            <a:spLocks noGrp="1" noChangeArrowheads="1"/>
          </p:cNvSpPr>
          <p:nvPr>
            <p:ph idx="1"/>
          </p:nvPr>
        </p:nvSpPr>
        <p:spPr/>
        <p:txBody>
          <a:bodyPr/>
          <a:lstStyle/>
          <a:p>
            <a:pPr marL="609600" indent="-609600" eaLnBrk="1" hangingPunct="1">
              <a:lnSpc>
                <a:spcPct val="90000"/>
              </a:lnSpc>
              <a:defRPr/>
            </a:pPr>
            <a:r>
              <a:rPr lang="en-AU" dirty="0" smtClean="0"/>
              <a:t>using this model requires us to: </a:t>
            </a:r>
          </a:p>
          <a:p>
            <a:pPr marL="990600" lvl="1" indent="-533400" algn="just" eaLnBrk="1" hangingPunct="1">
              <a:lnSpc>
                <a:spcPct val="90000"/>
              </a:lnSpc>
              <a:buFont typeface="Times" panose="02020603050405020304" pitchFamily="18" charset="0"/>
              <a:buAutoNum type="arabicPeriod"/>
              <a:defRPr/>
            </a:pPr>
            <a:r>
              <a:rPr lang="en-AU" dirty="0" smtClean="0"/>
              <a:t>design a suitable algorithm for the security transformation </a:t>
            </a:r>
          </a:p>
          <a:p>
            <a:pPr marL="990600" lvl="1" indent="-533400" algn="just" eaLnBrk="1" hangingPunct="1">
              <a:lnSpc>
                <a:spcPct val="90000"/>
              </a:lnSpc>
              <a:buFont typeface="Times" panose="02020603050405020304" pitchFamily="18" charset="0"/>
              <a:buAutoNum type="arabicPeriod"/>
              <a:defRPr/>
            </a:pPr>
            <a:r>
              <a:rPr lang="en-AU" dirty="0" smtClean="0"/>
              <a:t>generate the secret information (keys) used by the algorithm </a:t>
            </a:r>
          </a:p>
          <a:p>
            <a:pPr marL="990600" lvl="1" indent="-533400" algn="just" eaLnBrk="1" hangingPunct="1">
              <a:lnSpc>
                <a:spcPct val="90000"/>
              </a:lnSpc>
              <a:buFont typeface="Times" panose="02020603050405020304" pitchFamily="18" charset="0"/>
              <a:buAutoNum type="arabicPeriod"/>
              <a:defRPr/>
            </a:pPr>
            <a:r>
              <a:rPr lang="en-AU" dirty="0" smtClean="0"/>
              <a:t>develop methods to distribute and share the secret information </a:t>
            </a:r>
          </a:p>
          <a:p>
            <a:pPr marL="990600" lvl="1" indent="-533400" algn="just" eaLnBrk="1" hangingPunct="1">
              <a:lnSpc>
                <a:spcPct val="90000"/>
              </a:lnSpc>
              <a:buFont typeface="Times" panose="02020603050405020304" pitchFamily="18" charset="0"/>
              <a:buAutoNum type="arabicPeriod"/>
              <a:defRPr/>
            </a:pPr>
            <a:r>
              <a:rPr lang="en-AU" dirty="0" smtClean="0"/>
              <a:t>specify a protocol enabling the principals to use the transformation and secret information for a security service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defRPr/>
            </a:pPr>
            <a:r>
              <a:rPr lang="en-US" sz="4000" smtClean="0"/>
              <a:t>Model for Network Access Security</a:t>
            </a:r>
            <a:endParaRPr lang="en-AU" sz="4000" smtClean="0"/>
          </a:p>
        </p:txBody>
      </p:sp>
      <p:pic>
        <p:nvPicPr>
          <p:cNvPr id="39939" name="Picture 3"/>
          <p:cNvPicPr>
            <a:picLocks noGrp="1" noChangeAspect="1" noChangeArrowheads="1"/>
          </p:cNvPicPr>
          <p:nvPr>
            <p:ph idx="1"/>
          </p:nvPr>
        </p:nvPicPr>
        <p:blipFill>
          <a:blip r:embed="rId3"/>
          <a:stretch>
            <a:fillRect/>
          </a:stretch>
        </p:blipFill>
        <p:spPr>
          <a:xfrm>
            <a:off x="1437837" y="2658419"/>
            <a:ext cx="6268325" cy="2409524"/>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sz="4000" smtClean="0"/>
              <a:t>Model for Network Access Security</a:t>
            </a:r>
            <a:endParaRPr lang="en-AU" sz="4000" smtClean="0"/>
          </a:p>
        </p:txBody>
      </p:sp>
      <p:sp>
        <p:nvSpPr>
          <p:cNvPr id="44035" name="Rectangle 3"/>
          <p:cNvSpPr>
            <a:spLocks noGrp="1" noChangeArrowheads="1"/>
          </p:cNvSpPr>
          <p:nvPr>
            <p:ph idx="1"/>
          </p:nvPr>
        </p:nvSpPr>
        <p:spPr/>
        <p:txBody>
          <a:bodyPr/>
          <a:lstStyle/>
          <a:p>
            <a:pPr marL="609600" indent="-609600" eaLnBrk="1" hangingPunct="1">
              <a:lnSpc>
                <a:spcPct val="90000"/>
              </a:lnSpc>
              <a:defRPr/>
            </a:pPr>
            <a:r>
              <a:rPr lang="en-AU" dirty="0" smtClean="0"/>
              <a:t>using this model requires us to: </a:t>
            </a:r>
          </a:p>
          <a:p>
            <a:pPr marL="990600" lvl="1" indent="-533400" algn="just" eaLnBrk="1" hangingPunct="1">
              <a:lnSpc>
                <a:spcPct val="90000"/>
              </a:lnSpc>
              <a:buFont typeface="Times" panose="02020603050405020304" pitchFamily="18" charset="0"/>
              <a:buAutoNum type="arabicPeriod"/>
              <a:defRPr/>
            </a:pPr>
            <a:r>
              <a:rPr lang="en-AU" dirty="0" smtClean="0"/>
              <a:t>select appropriate gatekeeper functions to identify users </a:t>
            </a:r>
          </a:p>
          <a:p>
            <a:pPr marL="990600" lvl="1" indent="-533400" algn="just" eaLnBrk="1" hangingPunct="1">
              <a:lnSpc>
                <a:spcPct val="90000"/>
              </a:lnSpc>
              <a:buFont typeface="Times" panose="02020603050405020304" pitchFamily="18" charset="0"/>
              <a:buAutoNum type="arabicPeriod"/>
              <a:defRPr/>
            </a:pPr>
            <a:r>
              <a:rPr lang="en-AU" dirty="0" smtClean="0"/>
              <a:t>implement security controls to ensure only authorised users access designated information or resources </a:t>
            </a:r>
          </a:p>
          <a:p>
            <a:pPr marL="609600" indent="-609600" algn="just" eaLnBrk="1" hangingPunct="1">
              <a:lnSpc>
                <a:spcPct val="90000"/>
              </a:lnSpc>
              <a:defRPr/>
            </a:pPr>
            <a:r>
              <a:rPr lang="en-AU" dirty="0" smtClean="0"/>
              <a:t>trusted computer systems may be useful to help implement this model </a:t>
            </a:r>
          </a:p>
          <a:p>
            <a:pPr marL="609600" indent="-609600" eaLnBrk="1" hangingPunct="1">
              <a:lnSpc>
                <a:spcPct val="90000"/>
              </a:lnSpc>
              <a:buFont typeface="Wingdings" pitchFamily="2" charset="2"/>
              <a:buNone/>
              <a:defRPr/>
            </a:pPr>
            <a:endParaRPr lang="en-AU"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defRPr/>
            </a:pPr>
            <a:r>
              <a:rPr lang="en-US" smtClean="0"/>
              <a:t>Summary</a:t>
            </a:r>
            <a:endParaRPr lang="en-AU" smtClean="0"/>
          </a:p>
        </p:txBody>
      </p:sp>
      <p:sp>
        <p:nvSpPr>
          <p:cNvPr id="45059" name="Rectangle 3"/>
          <p:cNvSpPr>
            <a:spLocks noGrp="1" noChangeArrowheads="1"/>
          </p:cNvSpPr>
          <p:nvPr>
            <p:ph idx="1"/>
          </p:nvPr>
        </p:nvSpPr>
        <p:spPr/>
        <p:txBody>
          <a:bodyPr/>
          <a:lstStyle/>
          <a:p>
            <a:pPr eaLnBrk="1" hangingPunct="1">
              <a:defRPr/>
            </a:pPr>
            <a:r>
              <a:rPr lang="en-US" smtClean="0"/>
              <a:t>have considered:</a:t>
            </a:r>
          </a:p>
          <a:p>
            <a:pPr lvl="1" eaLnBrk="1" hangingPunct="1">
              <a:defRPr/>
            </a:pPr>
            <a:r>
              <a:rPr lang="en-US" smtClean="0"/>
              <a:t>definitions for: </a:t>
            </a:r>
          </a:p>
          <a:p>
            <a:pPr lvl="2" eaLnBrk="1" hangingPunct="1">
              <a:defRPr/>
            </a:pPr>
            <a:r>
              <a:rPr lang="en-US" smtClean="0"/>
              <a:t>computer, network, internet security</a:t>
            </a:r>
          </a:p>
          <a:p>
            <a:pPr eaLnBrk="1" hangingPunct="1">
              <a:defRPr/>
            </a:pPr>
            <a:r>
              <a:rPr lang="en-US" smtClean="0"/>
              <a:t>X.800 standard</a:t>
            </a:r>
          </a:p>
          <a:p>
            <a:pPr eaLnBrk="1" hangingPunct="1">
              <a:defRPr/>
            </a:pPr>
            <a:r>
              <a:rPr lang="en-US" smtClean="0"/>
              <a:t>security attacks, services, mechanisms</a:t>
            </a:r>
          </a:p>
          <a:p>
            <a:pPr eaLnBrk="1" hangingPunct="1">
              <a:defRPr/>
            </a:pPr>
            <a:r>
              <a:rPr lang="en-US" smtClean="0"/>
              <a:t>models for network (access) security</a:t>
            </a:r>
            <a:endParaRPr lang="en-AU"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TotalTime>
  <Words>3362</Words>
  <Application>Microsoft Office PowerPoint</Application>
  <PresentationFormat>On-screen Show (4:3)</PresentationFormat>
  <Paragraphs>241</Paragraphs>
  <Slides>38</Slides>
  <Notes>32</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Chapter-I INTRODUCTION</vt:lpstr>
      <vt:lpstr>Chapter 1 – Introduction</vt:lpstr>
      <vt:lpstr>Background</vt:lpstr>
      <vt:lpstr>Definitions</vt:lpstr>
      <vt:lpstr>Aim of Course</vt:lpstr>
      <vt:lpstr>Security?</vt:lpstr>
      <vt:lpstr>Contd..</vt:lpstr>
      <vt:lpstr>Slide 8</vt:lpstr>
      <vt:lpstr>Security?</vt:lpstr>
      <vt:lpstr>CHALLENGES</vt:lpstr>
      <vt:lpstr>Contd..</vt:lpstr>
      <vt:lpstr>Contd…</vt:lpstr>
      <vt:lpstr>OSI Security Architecture</vt:lpstr>
      <vt:lpstr>Aspects of Security</vt:lpstr>
      <vt:lpstr>Security Attack</vt:lpstr>
      <vt:lpstr>Security Attack</vt:lpstr>
      <vt:lpstr>Security Attack</vt:lpstr>
      <vt:lpstr>Passive Attacks – Release of message contents</vt:lpstr>
      <vt:lpstr>Passive Attacks – Traffic analysis</vt:lpstr>
      <vt:lpstr>Active Attacks</vt:lpstr>
      <vt:lpstr>Active Attacks</vt:lpstr>
      <vt:lpstr>Active Attacks</vt:lpstr>
      <vt:lpstr>Active Attacks</vt:lpstr>
      <vt:lpstr>Active Attacks</vt:lpstr>
      <vt:lpstr>Security Service</vt:lpstr>
      <vt:lpstr>Security Services (X.800)</vt:lpstr>
      <vt:lpstr>Security Services</vt:lpstr>
      <vt:lpstr>Security Services</vt:lpstr>
      <vt:lpstr>Security Services</vt:lpstr>
      <vt:lpstr>Security Mechanism</vt:lpstr>
      <vt:lpstr>Security Mechanisms (X.800)</vt:lpstr>
      <vt:lpstr>Security Mechanisms (X.800)</vt:lpstr>
      <vt:lpstr>Security Mechanisms (X.800)</vt:lpstr>
      <vt:lpstr>Model for Network Security</vt:lpstr>
      <vt:lpstr>Model for Network Security</vt:lpstr>
      <vt:lpstr>Model for Network Access Security</vt:lpstr>
      <vt:lpstr>Model for Network Access Security</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Chapter-I INTRODUCTION</dc:title>
  <dc:creator>exam1</dc:creator>
  <cp:lastModifiedBy>ashok</cp:lastModifiedBy>
  <cp:revision>31</cp:revision>
  <dcterms:created xsi:type="dcterms:W3CDTF">2021-01-18T06:11:00Z</dcterms:created>
  <dcterms:modified xsi:type="dcterms:W3CDTF">2025-07-17T03:18:22Z</dcterms:modified>
</cp:coreProperties>
</file>